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513" r:id="rId2"/>
    <p:sldId id="515" r:id="rId3"/>
    <p:sldId id="518" r:id="rId4"/>
    <p:sldId id="517" r:id="rId5"/>
    <p:sldId id="257" r:id="rId6"/>
    <p:sldId id="258" r:id="rId7"/>
    <p:sldId id="259" r:id="rId8"/>
    <p:sldId id="260" r:id="rId9"/>
    <p:sldId id="261" r:id="rId10"/>
    <p:sldId id="262" r:id="rId11"/>
    <p:sldId id="263" r:id="rId12"/>
    <p:sldId id="264" r:id="rId13"/>
    <p:sldId id="265" r:id="rId14"/>
    <p:sldId id="266" r:id="rId15"/>
    <p:sldId id="267" r:id="rId16"/>
    <p:sldId id="483" r:id="rId17"/>
    <p:sldId id="484" r:id="rId18"/>
    <p:sldId id="268" r:id="rId19"/>
    <p:sldId id="269" r:id="rId20"/>
    <p:sldId id="272" r:id="rId21"/>
    <p:sldId id="273" r:id="rId22"/>
    <p:sldId id="274" r:id="rId23"/>
    <p:sldId id="275" r:id="rId24"/>
    <p:sldId id="276" r:id="rId25"/>
    <p:sldId id="277" r:id="rId26"/>
    <p:sldId id="278" r:id="rId27"/>
    <p:sldId id="279" r:id="rId28"/>
    <p:sldId id="280" r:id="rId29"/>
    <p:sldId id="283" r:id="rId30"/>
    <p:sldId id="284" r:id="rId31"/>
    <p:sldId id="285" r:id="rId32"/>
    <p:sldId id="287" r:id="rId33"/>
    <p:sldId id="290" r:id="rId34"/>
    <p:sldId id="291" r:id="rId35"/>
    <p:sldId id="292" r:id="rId36"/>
    <p:sldId id="294" r:id="rId37"/>
    <p:sldId id="296" r:id="rId38"/>
    <p:sldId id="297" r:id="rId39"/>
    <p:sldId id="298" r:id="rId40"/>
    <p:sldId id="299" r:id="rId41"/>
    <p:sldId id="301" r:id="rId42"/>
    <p:sldId id="303" r:id="rId43"/>
    <p:sldId id="305" r:id="rId44"/>
    <p:sldId id="307" r:id="rId45"/>
    <p:sldId id="308" r:id="rId46"/>
    <p:sldId id="309" r:id="rId47"/>
    <p:sldId id="311" r:id="rId48"/>
    <p:sldId id="313" r:id="rId49"/>
    <p:sldId id="315" r:id="rId50"/>
    <p:sldId id="316" r:id="rId51"/>
    <p:sldId id="318" r:id="rId52"/>
    <p:sldId id="320" r:id="rId53"/>
    <p:sldId id="322" r:id="rId54"/>
    <p:sldId id="324" r:id="rId55"/>
    <p:sldId id="326" r:id="rId56"/>
    <p:sldId id="328" r:id="rId57"/>
    <p:sldId id="333" r:id="rId58"/>
    <p:sldId id="334" r:id="rId59"/>
    <p:sldId id="336" r:id="rId60"/>
    <p:sldId id="337" r:id="rId61"/>
    <p:sldId id="338" r:id="rId62"/>
    <p:sldId id="340" r:id="rId63"/>
    <p:sldId id="342" r:id="rId64"/>
    <p:sldId id="343" r:id="rId65"/>
    <p:sldId id="345" r:id="rId66"/>
    <p:sldId id="346" r:id="rId67"/>
    <p:sldId id="348" r:id="rId68"/>
    <p:sldId id="350" r:id="rId69"/>
    <p:sldId id="351" r:id="rId70"/>
    <p:sldId id="352" r:id="rId71"/>
    <p:sldId id="353" r:id="rId72"/>
    <p:sldId id="354" r:id="rId73"/>
    <p:sldId id="356" r:id="rId74"/>
    <p:sldId id="359" r:id="rId75"/>
    <p:sldId id="361" r:id="rId76"/>
    <p:sldId id="363" r:id="rId77"/>
    <p:sldId id="365" r:id="rId78"/>
    <p:sldId id="366" r:id="rId79"/>
    <p:sldId id="368" r:id="rId80"/>
    <p:sldId id="369" r:id="rId81"/>
    <p:sldId id="371" r:id="rId82"/>
    <p:sldId id="373" r:id="rId83"/>
    <p:sldId id="378" r:id="rId84"/>
    <p:sldId id="380" r:id="rId85"/>
    <p:sldId id="382" r:id="rId86"/>
    <p:sldId id="385" r:id="rId87"/>
    <p:sldId id="386" r:id="rId88"/>
    <p:sldId id="388" r:id="rId89"/>
    <p:sldId id="390" r:id="rId90"/>
    <p:sldId id="392" r:id="rId91"/>
    <p:sldId id="397" r:id="rId92"/>
    <p:sldId id="399" r:id="rId93"/>
    <p:sldId id="402" r:id="rId94"/>
    <p:sldId id="406" r:id="rId95"/>
    <p:sldId id="407" r:id="rId96"/>
    <p:sldId id="408" r:id="rId97"/>
    <p:sldId id="485" r:id="rId98"/>
    <p:sldId id="486" r:id="rId99"/>
    <p:sldId id="415" r:id="rId100"/>
    <p:sldId id="487" r:id="rId101"/>
    <p:sldId id="416" r:id="rId102"/>
    <p:sldId id="417" r:id="rId103"/>
    <p:sldId id="488" r:id="rId104"/>
    <p:sldId id="489" r:id="rId105"/>
    <p:sldId id="418" r:id="rId106"/>
    <p:sldId id="419" r:id="rId107"/>
    <p:sldId id="490" r:id="rId108"/>
    <p:sldId id="420" r:id="rId109"/>
    <p:sldId id="491" r:id="rId110"/>
    <p:sldId id="421" r:id="rId111"/>
    <p:sldId id="492" r:id="rId112"/>
    <p:sldId id="422" r:id="rId113"/>
    <p:sldId id="493" r:id="rId114"/>
    <p:sldId id="423" r:id="rId115"/>
    <p:sldId id="494" r:id="rId116"/>
    <p:sldId id="424" r:id="rId117"/>
    <p:sldId id="495" r:id="rId118"/>
    <p:sldId id="425" r:id="rId119"/>
    <p:sldId id="496" r:id="rId120"/>
    <p:sldId id="426" r:id="rId121"/>
    <p:sldId id="497" r:id="rId122"/>
    <p:sldId id="427" r:id="rId123"/>
    <p:sldId id="498" r:id="rId124"/>
    <p:sldId id="428" r:id="rId125"/>
    <p:sldId id="499" r:id="rId126"/>
    <p:sldId id="429" r:id="rId127"/>
    <p:sldId id="500" r:id="rId128"/>
    <p:sldId id="430" r:id="rId129"/>
    <p:sldId id="501" r:id="rId130"/>
    <p:sldId id="431" r:id="rId131"/>
    <p:sldId id="502" r:id="rId132"/>
    <p:sldId id="432" r:id="rId133"/>
    <p:sldId id="503" r:id="rId134"/>
    <p:sldId id="433" r:id="rId135"/>
    <p:sldId id="504" r:id="rId136"/>
    <p:sldId id="434" r:id="rId137"/>
    <p:sldId id="505" r:id="rId138"/>
    <p:sldId id="435" r:id="rId139"/>
    <p:sldId id="436" r:id="rId140"/>
    <p:sldId id="506" r:id="rId141"/>
    <p:sldId id="437" r:id="rId142"/>
    <p:sldId id="507" r:id="rId143"/>
    <p:sldId id="438" r:id="rId144"/>
    <p:sldId id="440" r:id="rId145"/>
    <p:sldId id="443" r:id="rId146"/>
    <p:sldId id="444" r:id="rId147"/>
    <p:sldId id="445" r:id="rId148"/>
    <p:sldId id="450" r:id="rId149"/>
    <p:sldId id="454" r:id="rId150"/>
    <p:sldId id="458" r:id="rId151"/>
    <p:sldId id="460" r:id="rId152"/>
    <p:sldId id="461" r:id="rId153"/>
    <p:sldId id="462" r:id="rId154"/>
    <p:sldId id="463" r:id="rId155"/>
    <p:sldId id="464" r:id="rId156"/>
    <p:sldId id="465" r:id="rId157"/>
    <p:sldId id="467" r:id="rId158"/>
    <p:sldId id="468" r:id="rId159"/>
    <p:sldId id="469" r:id="rId160"/>
    <p:sldId id="470" r:id="rId161"/>
    <p:sldId id="471" r:id="rId162"/>
    <p:sldId id="508" r:id="rId163"/>
    <p:sldId id="509" r:id="rId164"/>
    <p:sldId id="510" r:id="rId165"/>
    <p:sldId id="511" r:id="rId166"/>
    <p:sldId id="512" r:id="rId167"/>
    <p:sldId id="474" r:id="rId168"/>
    <p:sldId id="475" r:id="rId169"/>
    <p:sldId id="477" r:id="rId17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11" d="100"/>
          <a:sy n="111" d="100"/>
        </p:scale>
        <p:origin x="1614" y="1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presProps" Target="presProps.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2" Type="http://schemas.openxmlformats.org/officeDocument/2006/relationships/viewProps" Target="view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tableStyles" Target="tableStyle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127.0.0.1:5000/" TargetMode="Externa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5" Type="http://schemas.openxmlformats.org/officeDocument/2006/relationships/image" Target="../media/image34.emf"/><Relationship Id="rId4" Type="http://schemas.openxmlformats.org/officeDocument/2006/relationships/oleObject" Target="../embeddings/oleObject1.bin"/></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312C9-9080-ADD8-E727-E1F9CFF40760}"/>
              </a:ext>
            </a:extLst>
          </p:cNvPr>
          <p:cNvSpPr>
            <a:spLocks noGrp="1"/>
          </p:cNvSpPr>
          <p:nvPr>
            <p:ph type="title"/>
          </p:nvPr>
        </p:nvSpPr>
        <p:spPr>
          <a:xfrm>
            <a:off x="457200" y="274638"/>
            <a:ext cx="8229600" cy="6583362"/>
          </a:xfrm>
        </p:spPr>
        <p:txBody>
          <a:bodyPr/>
          <a:lstStyle/>
          <a:p>
            <a:r>
              <a:rPr lang="en-IN" b="1" dirty="0"/>
              <a:t>Cloud Security Posture Management (CSPM) with Endpoint Detection &amp; Response (EDR)</a:t>
            </a:r>
            <a:br>
              <a:rPr lang="en-IN" b="1" dirty="0"/>
            </a:br>
            <a:endParaRPr lang="en-IN" dirty="0"/>
          </a:p>
        </p:txBody>
      </p:sp>
    </p:spTree>
    <p:extLst>
      <p:ext uri="{BB962C8B-B14F-4D97-AF65-F5344CB8AC3E}">
        <p14:creationId xmlns:p14="http://schemas.microsoft.com/office/powerpoint/2010/main" val="37660287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B8973C8-55AC-D973-E3E1-EA4190D2C6E0}"/>
              </a:ext>
            </a:extLst>
          </p:cNvPr>
          <p:cNvSpPr txBox="1"/>
          <p:nvPr/>
        </p:nvSpPr>
        <p:spPr>
          <a:xfrm>
            <a:off x="776097" y="1748760"/>
            <a:ext cx="7591806" cy="507831"/>
          </a:xfrm>
          <a:prstGeom prst="rect">
            <a:avLst/>
          </a:prstGeom>
          <a:noFill/>
        </p:spPr>
        <p:txBody>
          <a:bodyPr wrap="square" rtlCol="0">
            <a:spAutoFit/>
          </a:bodyPr>
          <a:lstStyle/>
          <a:p>
            <a:pPr algn="ctr"/>
            <a:r>
              <a:rPr lang="en-GB" sz="1350" b="1" dirty="0">
                <a:latin typeface="Times New Roman" panose="02020603050405020304" pitchFamily="18" charset="0"/>
                <a:cs typeface="Times New Roman" panose="02020603050405020304" pitchFamily="18" charset="0"/>
              </a:rPr>
              <a:t>PROJECT PRESENTATION ON:</a:t>
            </a:r>
            <a:br>
              <a:rPr lang="en-GB" sz="1350" b="1" dirty="0">
                <a:latin typeface="Times New Roman" panose="02020603050405020304" pitchFamily="18" charset="0"/>
                <a:cs typeface="Times New Roman" panose="02020603050405020304" pitchFamily="18" charset="0"/>
              </a:rPr>
            </a:br>
            <a:r>
              <a:rPr lang="en-IN" sz="1350" b="1" dirty="0"/>
              <a:t>Web Application Vulnerability Scanner </a:t>
            </a:r>
            <a:r>
              <a:rPr lang="en-GB" sz="1350" b="1" dirty="0">
                <a:latin typeface="Times New Roman" panose="02020603050405020304" pitchFamily="18" charset="0"/>
                <a:cs typeface="Times New Roman" panose="02020603050405020304" pitchFamily="18" charset="0"/>
              </a:rPr>
              <a:t> </a:t>
            </a:r>
          </a:p>
        </p:txBody>
      </p:sp>
      <p:sp>
        <p:nvSpPr>
          <p:cNvPr id="5" name="TextBox 4">
            <a:extLst>
              <a:ext uri="{FF2B5EF4-FFF2-40B4-BE49-F238E27FC236}">
                <a16:creationId xmlns:a16="http://schemas.microsoft.com/office/drawing/2014/main" id="{711CADCA-DB67-5FB4-61A3-CAE65D254B19}"/>
              </a:ext>
            </a:extLst>
          </p:cNvPr>
          <p:cNvSpPr txBox="1"/>
          <p:nvPr/>
        </p:nvSpPr>
        <p:spPr>
          <a:xfrm>
            <a:off x="1907667" y="3684754"/>
            <a:ext cx="5456682" cy="715581"/>
          </a:xfrm>
          <a:prstGeom prst="rect">
            <a:avLst/>
          </a:prstGeom>
          <a:noFill/>
        </p:spPr>
        <p:txBody>
          <a:bodyPr wrap="square" rtlCol="0">
            <a:spAutoFit/>
          </a:bodyPr>
          <a:lstStyle/>
          <a:p>
            <a:pPr algn="ctr">
              <a:spcBef>
                <a:spcPct val="0"/>
              </a:spcBef>
              <a:spcAft>
                <a:spcPct val="0"/>
              </a:spcAft>
            </a:pPr>
            <a:r>
              <a:rPr lang="en-IN" sz="1350" b="1" dirty="0">
                <a:latin typeface="Times New Roman" panose="02020603050405020304" pitchFamily="18" charset="0"/>
                <a:ea typeface="Georgia"/>
                <a:cs typeface="Times New Roman" panose="02020603050405020304" pitchFamily="18" charset="0"/>
                <a:sym typeface="Georgia"/>
              </a:rPr>
              <a:t>SUBMITTED BY:</a:t>
            </a:r>
          </a:p>
          <a:p>
            <a:pPr algn="ctr">
              <a:spcBef>
                <a:spcPct val="0"/>
              </a:spcBef>
              <a:spcAft>
                <a:spcPct val="0"/>
              </a:spcAft>
            </a:pPr>
            <a:r>
              <a:rPr lang="en-IN" sz="1350" b="1" dirty="0">
                <a:latin typeface="Times New Roman" panose="02020603050405020304" pitchFamily="18" charset="0"/>
                <a:ea typeface="Georgia"/>
                <a:cs typeface="Times New Roman" panose="02020603050405020304" pitchFamily="18" charset="0"/>
                <a:sym typeface="Georgia"/>
              </a:rPr>
              <a:t>DEV PANCHAL(23082291066)</a:t>
            </a:r>
          </a:p>
          <a:p>
            <a:pPr algn="ctr">
              <a:spcBef>
                <a:spcPct val="0"/>
              </a:spcBef>
              <a:spcAft>
                <a:spcPct val="0"/>
              </a:spcAft>
            </a:pPr>
            <a:r>
              <a:rPr lang="en-IN" sz="1350" b="1" dirty="0">
                <a:latin typeface="Times New Roman" panose="02020603050405020304" pitchFamily="18" charset="0"/>
                <a:cs typeface="Times New Roman" panose="02020603050405020304" pitchFamily="18" charset="0"/>
              </a:rPr>
              <a:t>BRIJESH PARMAR(23082291071)</a:t>
            </a:r>
          </a:p>
        </p:txBody>
      </p:sp>
      <p:cxnSp>
        <p:nvCxnSpPr>
          <p:cNvPr id="6" name="Straight Connector 5">
            <a:extLst>
              <a:ext uri="{FF2B5EF4-FFF2-40B4-BE49-F238E27FC236}">
                <a16:creationId xmlns:a16="http://schemas.microsoft.com/office/drawing/2014/main" id="{57B99B7B-F53A-FBBB-EA17-5D65DFAA8B37}"/>
              </a:ext>
            </a:extLst>
          </p:cNvPr>
          <p:cNvCxnSpPr/>
          <p:nvPr/>
        </p:nvCxnSpPr>
        <p:spPr>
          <a:xfrm>
            <a:off x="870966" y="4732020"/>
            <a:ext cx="7530084" cy="0"/>
          </a:xfrm>
          <a:prstGeom prst="line">
            <a:avLst/>
          </a:prstGeom>
          <a:ln w="38100"/>
        </p:spPr>
        <p:style>
          <a:lnRef idx="3">
            <a:schemeClr val="dk1"/>
          </a:lnRef>
          <a:fillRef idx="0">
            <a:schemeClr val="dk1"/>
          </a:fillRef>
          <a:effectRef idx="2">
            <a:schemeClr val="dk1"/>
          </a:effectRef>
          <a:fontRef idx="minor">
            <a:schemeClr val="tx1"/>
          </a:fontRef>
        </p:style>
      </p:cxnSp>
      <p:sp>
        <p:nvSpPr>
          <p:cNvPr id="7" name="TextBox 6">
            <a:extLst>
              <a:ext uri="{FF2B5EF4-FFF2-40B4-BE49-F238E27FC236}">
                <a16:creationId xmlns:a16="http://schemas.microsoft.com/office/drawing/2014/main" id="{884983EB-D017-68B5-AE58-F00E5974314C}"/>
              </a:ext>
            </a:extLst>
          </p:cNvPr>
          <p:cNvSpPr txBox="1"/>
          <p:nvPr/>
        </p:nvSpPr>
        <p:spPr>
          <a:xfrm>
            <a:off x="1340633" y="4937760"/>
            <a:ext cx="2708910" cy="715581"/>
          </a:xfrm>
          <a:prstGeom prst="rect">
            <a:avLst/>
          </a:prstGeom>
          <a:noFill/>
        </p:spPr>
        <p:txBody>
          <a:bodyPr wrap="square" rtlCol="0">
            <a:spAutoFit/>
          </a:bodyPr>
          <a:lstStyle/>
          <a:p>
            <a:pPr algn="ctr">
              <a:spcBef>
                <a:spcPct val="0"/>
              </a:spcBef>
              <a:spcAft>
                <a:spcPct val="0"/>
              </a:spcAft>
            </a:pPr>
            <a:r>
              <a:rPr lang="en-IN" sz="1350" b="1" dirty="0">
                <a:solidFill>
                  <a:schemeClr val="tx1">
                    <a:lumMod val="95000"/>
                    <a:lumOff val="5000"/>
                  </a:schemeClr>
                </a:solidFill>
                <a:latin typeface="Times New Roman" panose="02020603050405020304" pitchFamily="18" charset="0"/>
                <a:cs typeface="Times New Roman" panose="02020603050405020304" pitchFamily="18" charset="0"/>
              </a:rPr>
              <a:t>PROJECT GUIDE:</a:t>
            </a:r>
          </a:p>
          <a:p>
            <a:pPr algn="ctr">
              <a:spcBef>
                <a:spcPct val="0"/>
              </a:spcBef>
              <a:spcAft>
                <a:spcPct val="0"/>
              </a:spcAft>
            </a:pPr>
            <a:r>
              <a:rPr lang="en-IN" sz="1350" b="1" dirty="0">
                <a:solidFill>
                  <a:schemeClr val="tx1">
                    <a:lumMod val="95000"/>
                    <a:lumOff val="5000"/>
                  </a:schemeClr>
                </a:solidFill>
                <a:latin typeface="Times New Roman" panose="02020603050405020304" pitchFamily="18" charset="0"/>
                <a:cs typeface="Times New Roman" panose="02020603050405020304" pitchFamily="18" charset="0"/>
              </a:rPr>
              <a:t>DR. KASHYAP PATEL </a:t>
            </a:r>
            <a:endParaRPr lang="en-IN" sz="1350" dirty="0">
              <a:solidFill>
                <a:schemeClr val="tx1">
                  <a:lumMod val="95000"/>
                  <a:lumOff val="5000"/>
                </a:schemeClr>
              </a:solidFill>
              <a:latin typeface="Times New Roman" panose="02020603050405020304" pitchFamily="18" charset="0"/>
              <a:cs typeface="Times New Roman" panose="02020603050405020304" pitchFamily="18" charset="0"/>
            </a:endParaRPr>
          </a:p>
          <a:p>
            <a:endParaRPr lang="en-IN" sz="1350" dirty="0"/>
          </a:p>
        </p:txBody>
      </p:sp>
      <p:sp>
        <p:nvSpPr>
          <p:cNvPr id="8" name="TextBox 7">
            <a:extLst>
              <a:ext uri="{FF2B5EF4-FFF2-40B4-BE49-F238E27FC236}">
                <a16:creationId xmlns:a16="http://schemas.microsoft.com/office/drawing/2014/main" id="{1AEB354D-53A7-6863-C5CE-B0B9683E408A}"/>
              </a:ext>
            </a:extLst>
          </p:cNvPr>
          <p:cNvSpPr txBox="1"/>
          <p:nvPr/>
        </p:nvSpPr>
        <p:spPr>
          <a:xfrm>
            <a:off x="4540693" y="4833885"/>
            <a:ext cx="4570857" cy="923330"/>
          </a:xfrm>
          <a:prstGeom prst="rect">
            <a:avLst/>
          </a:prstGeom>
          <a:noFill/>
        </p:spPr>
        <p:txBody>
          <a:bodyPr wrap="square">
            <a:spAutoFit/>
          </a:bodyPr>
          <a:lstStyle/>
          <a:p>
            <a:pPr algn="ctr">
              <a:spcBef>
                <a:spcPct val="0"/>
              </a:spcBef>
              <a:spcAft>
                <a:spcPct val="0"/>
              </a:spcAft>
              <a:buClr>
                <a:schemeClr val="dk1"/>
              </a:buClr>
            </a:pPr>
            <a:r>
              <a:rPr lang="en-GB" sz="1350" b="1" dirty="0">
                <a:solidFill>
                  <a:schemeClr val="tx1">
                    <a:lumMod val="95000"/>
                    <a:lumOff val="5000"/>
                  </a:schemeClr>
                </a:solidFill>
                <a:latin typeface="Times New Roman" panose="02020603050405020304" pitchFamily="18" charset="0"/>
                <a:ea typeface="Georgia"/>
                <a:cs typeface="Times New Roman" panose="02020603050405020304" pitchFamily="18" charset="0"/>
                <a:sym typeface="Georgia"/>
              </a:rPr>
              <a:t>SUBMITTED TO:</a:t>
            </a:r>
            <a:endParaRPr lang="en-GB" sz="1050" b="1" dirty="0">
              <a:solidFill>
                <a:schemeClr val="tx1">
                  <a:lumMod val="95000"/>
                  <a:lumOff val="5000"/>
                </a:schemeClr>
              </a:solidFill>
              <a:latin typeface="Times New Roman" panose="02020603050405020304" pitchFamily="18" charset="0"/>
              <a:ea typeface="Georgia"/>
              <a:cs typeface="Times New Roman" panose="02020603050405020304" pitchFamily="18" charset="0"/>
              <a:sym typeface="Georgia"/>
            </a:endParaRPr>
          </a:p>
          <a:p>
            <a:pPr algn="ctr">
              <a:spcBef>
                <a:spcPct val="0"/>
              </a:spcBef>
              <a:spcAft>
                <a:spcPct val="0"/>
              </a:spcAft>
            </a:pPr>
            <a:r>
              <a:rPr lang="en-GB" sz="1350" b="1" dirty="0">
                <a:solidFill>
                  <a:schemeClr val="tx1">
                    <a:lumMod val="95000"/>
                    <a:lumOff val="5000"/>
                  </a:schemeClr>
                </a:solidFill>
                <a:latin typeface="Times New Roman" panose="02020603050405020304" pitchFamily="18" charset="0"/>
                <a:ea typeface="Times New Roman"/>
                <a:cs typeface="Times New Roman" panose="02020603050405020304" pitchFamily="18" charset="0"/>
                <a:sym typeface="Times New Roman"/>
              </a:rPr>
              <a:t>Department of Computer Science</a:t>
            </a:r>
            <a:endParaRPr lang="en-GB" sz="1350" b="1" dirty="0">
              <a:solidFill>
                <a:schemeClr val="tx1">
                  <a:lumMod val="95000"/>
                  <a:lumOff val="5000"/>
                </a:schemeClr>
              </a:solidFill>
              <a:latin typeface="Times New Roman" panose="02020603050405020304" pitchFamily="18" charset="0"/>
              <a:cs typeface="Times New Roman" panose="02020603050405020304" pitchFamily="18" charset="0"/>
            </a:endParaRPr>
          </a:p>
          <a:p>
            <a:pPr algn="ctr">
              <a:spcBef>
                <a:spcPct val="0"/>
              </a:spcBef>
              <a:spcAft>
                <a:spcPct val="0"/>
              </a:spcAft>
            </a:pPr>
            <a:r>
              <a:rPr lang="en-GB" sz="1350" b="1" dirty="0">
                <a:solidFill>
                  <a:schemeClr val="tx1">
                    <a:lumMod val="95000"/>
                    <a:lumOff val="5000"/>
                  </a:schemeClr>
                </a:solidFill>
                <a:latin typeface="Times New Roman" panose="02020603050405020304" pitchFamily="18" charset="0"/>
                <a:ea typeface="Times New Roman"/>
                <a:cs typeface="Times New Roman" panose="02020603050405020304" pitchFamily="18" charset="0"/>
                <a:sym typeface="Times New Roman"/>
              </a:rPr>
              <a:t>GANPAT UNIVERSITY</a:t>
            </a:r>
            <a:endParaRPr lang="en-GB" sz="1350" b="1" dirty="0">
              <a:solidFill>
                <a:schemeClr val="tx1">
                  <a:lumMod val="95000"/>
                  <a:lumOff val="5000"/>
                </a:schemeClr>
              </a:solidFill>
              <a:latin typeface="Times New Roman" panose="02020603050405020304" pitchFamily="18" charset="0"/>
              <a:cs typeface="Times New Roman" panose="02020603050405020304" pitchFamily="18" charset="0"/>
              <a:sym typeface="Times New Roman"/>
            </a:endParaRPr>
          </a:p>
          <a:p>
            <a:pPr algn="ctr">
              <a:spcBef>
                <a:spcPct val="0"/>
              </a:spcBef>
              <a:spcAft>
                <a:spcPct val="0"/>
              </a:spcAft>
            </a:pPr>
            <a:r>
              <a:rPr lang="en-GB" sz="1350" b="1" dirty="0">
                <a:solidFill>
                  <a:schemeClr val="tx1">
                    <a:lumMod val="95000"/>
                    <a:lumOff val="5000"/>
                  </a:schemeClr>
                </a:solidFill>
                <a:latin typeface="Times New Roman" panose="02020603050405020304" pitchFamily="18" charset="0"/>
                <a:ea typeface="Times New Roman"/>
                <a:cs typeface="Times New Roman" panose="02020603050405020304" pitchFamily="18" charset="0"/>
                <a:sym typeface="Times New Roman"/>
              </a:rPr>
              <a:t>2025-26</a:t>
            </a:r>
            <a:endParaRPr lang="en-GB" sz="1350" b="1" dirty="0">
              <a:solidFill>
                <a:schemeClr val="tx1">
                  <a:lumMod val="95000"/>
                  <a:lumOff val="5000"/>
                </a:schemeClr>
              </a:solidFill>
              <a:latin typeface="Times New Roman" panose="02020603050405020304" pitchFamily="18" charset="0"/>
              <a:ea typeface="Century Gothic"/>
              <a:cs typeface="Times New Roman" panose="02020603050405020304" pitchFamily="18" charset="0"/>
              <a:sym typeface="Century Gothic"/>
            </a:endParaRPr>
          </a:p>
        </p:txBody>
      </p:sp>
      <p:pic>
        <p:nvPicPr>
          <p:cNvPr id="4" name="Picture 3">
            <a:extLst>
              <a:ext uri="{FF2B5EF4-FFF2-40B4-BE49-F238E27FC236}">
                <a16:creationId xmlns:a16="http://schemas.microsoft.com/office/drawing/2014/main" id="{C3C52A96-21C7-358D-925D-86CF0098A0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12581" y="2335372"/>
            <a:ext cx="6280334" cy="1187376"/>
          </a:xfrm>
          <a:prstGeom prst="rect">
            <a:avLst/>
          </a:prstGeom>
        </p:spPr>
      </p:pic>
    </p:spTree>
    <p:extLst>
      <p:ext uri="{BB962C8B-B14F-4D97-AF65-F5344CB8AC3E}">
        <p14:creationId xmlns:p14="http://schemas.microsoft.com/office/powerpoint/2010/main" val="32699306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50BD09D-43D1-3200-4CAA-0A7B957761B2}"/>
              </a:ext>
            </a:extLst>
          </p:cNvPr>
          <p:cNvSpPr>
            <a:spLocks noGrp="1"/>
          </p:cNvSpPr>
          <p:nvPr>
            <p:ph type="title"/>
          </p:nvPr>
        </p:nvSpPr>
        <p:spPr>
          <a:xfrm>
            <a:off x="628650" y="0"/>
            <a:ext cx="7886700" cy="987552"/>
          </a:xfrm>
        </p:spPr>
        <p:txBody>
          <a:bodyPr/>
          <a:lstStyle/>
          <a:p>
            <a:pPr algn="ctr"/>
            <a:r>
              <a:rPr lang="en-IN" b="1" dirty="0">
                <a:latin typeface="Times New Roman" panose="02020603050405020304" pitchFamily="18" charset="0"/>
                <a:cs typeface="Times New Roman" panose="02020603050405020304" pitchFamily="18" charset="0"/>
              </a:rPr>
              <a:t>PROJECT PROFILE</a:t>
            </a:r>
          </a:p>
        </p:txBody>
      </p:sp>
      <p:graphicFrame>
        <p:nvGraphicFramePr>
          <p:cNvPr id="8" name="Content Placeholder 3">
            <a:extLst>
              <a:ext uri="{FF2B5EF4-FFF2-40B4-BE49-F238E27FC236}">
                <a16:creationId xmlns:a16="http://schemas.microsoft.com/office/drawing/2014/main" id="{7A07B626-B718-C0D2-1055-D95471B3F5DE}"/>
              </a:ext>
            </a:extLst>
          </p:cNvPr>
          <p:cNvGraphicFramePr>
            <a:graphicFrameLocks/>
          </p:cNvGraphicFramePr>
          <p:nvPr>
            <p:extLst>
              <p:ext uri="{D42A27DB-BD31-4B8C-83A1-F6EECF244321}">
                <p14:modId xmlns:p14="http://schemas.microsoft.com/office/powerpoint/2010/main" val="2208867364"/>
              </p:ext>
            </p:extLst>
          </p:nvPr>
        </p:nvGraphicFramePr>
        <p:xfrm>
          <a:off x="628650" y="987552"/>
          <a:ext cx="7886700" cy="5859414"/>
        </p:xfrm>
        <a:graphic>
          <a:graphicData uri="http://schemas.openxmlformats.org/drawingml/2006/table">
            <a:tbl>
              <a:tblPr firstRow="1" bandRow="1">
                <a:tableStyleId>{5940675A-B579-460E-94D1-54222C63F5DA}</a:tableStyleId>
              </a:tblPr>
              <a:tblGrid>
                <a:gridCol w="1565910">
                  <a:extLst>
                    <a:ext uri="{9D8B030D-6E8A-4147-A177-3AD203B41FA5}">
                      <a16:colId xmlns:a16="http://schemas.microsoft.com/office/drawing/2014/main" val="2667112314"/>
                    </a:ext>
                  </a:extLst>
                </a:gridCol>
                <a:gridCol w="6320790">
                  <a:extLst>
                    <a:ext uri="{9D8B030D-6E8A-4147-A177-3AD203B41FA5}">
                      <a16:colId xmlns:a16="http://schemas.microsoft.com/office/drawing/2014/main" val="810601725"/>
                    </a:ext>
                  </a:extLst>
                </a:gridCol>
              </a:tblGrid>
              <a:tr h="633984">
                <a:tc>
                  <a:txBody>
                    <a:bodyPr/>
                    <a:lstStyle/>
                    <a:p>
                      <a:r>
                        <a:rPr lang="en-IN" sz="1400" b="1" dirty="0">
                          <a:latin typeface="Times New Roman" panose="02020603050405020304" pitchFamily="18" charset="0"/>
                          <a:cs typeface="Times New Roman" panose="02020603050405020304" pitchFamily="18" charset="0"/>
                        </a:rPr>
                        <a:t>PROJECT TITLE:</a:t>
                      </a:r>
                    </a:p>
                  </a:txBody>
                  <a:tcPr marL="68580" marR="68580" marT="34290" marB="34290"/>
                </a:tc>
                <a:tc>
                  <a:txBody>
                    <a:bodyPr/>
                    <a:lstStyle/>
                    <a:p>
                      <a:r>
                        <a:rPr lang="en-IN" sz="1800" b="1" kern="1200" dirty="0">
                          <a:solidFill>
                            <a:schemeClr val="tx1"/>
                          </a:solidFill>
                          <a:effectLst/>
                          <a:latin typeface="+mn-lt"/>
                          <a:ea typeface="+mn-ea"/>
                          <a:cs typeface="+mn-cs"/>
                        </a:rPr>
                        <a:t>Cloud Security Posture Management (CSPM) with Endpoint Detection &amp; Response (EDR)</a:t>
                      </a:r>
                      <a:endParaRPr lang="en-US" sz="1200" b="0" dirty="0">
                        <a:latin typeface="Times New Roman" panose="02020603050405020304" pitchFamily="18" charset="0"/>
                        <a:cs typeface="Times New Roman" panose="02020603050405020304" pitchFamily="18" charset="0"/>
                      </a:endParaRPr>
                    </a:p>
                  </a:txBody>
                  <a:tcPr marL="68580" marR="68580" marT="34290" marB="34290"/>
                </a:tc>
                <a:extLst>
                  <a:ext uri="{0D108BD9-81ED-4DB2-BD59-A6C34878D82A}">
                    <a16:rowId xmlns:a16="http://schemas.microsoft.com/office/drawing/2014/main" val="537288857"/>
                  </a:ext>
                </a:extLst>
              </a:tr>
              <a:tr h="1932374">
                <a:tc>
                  <a:txBody>
                    <a:bodyPr/>
                    <a:lstStyle/>
                    <a:p>
                      <a:r>
                        <a:rPr lang="en-IN" sz="1400" b="1" dirty="0">
                          <a:latin typeface="Times New Roman" panose="02020603050405020304" pitchFamily="18" charset="0"/>
                          <a:cs typeface="Times New Roman" panose="02020603050405020304" pitchFamily="18" charset="0"/>
                        </a:rPr>
                        <a:t>OBJECTIVE:</a:t>
                      </a:r>
                    </a:p>
                  </a:txBody>
                  <a:tcPr marL="68580" marR="68580" marT="34290" marB="34290"/>
                </a:tc>
                <a:tc>
                  <a:txBody>
                    <a:bodyPr/>
                    <a:lstStyle/>
                    <a:p>
                      <a:r>
                        <a:rPr lang="en-IN" sz="1600" kern="1200" dirty="0">
                          <a:solidFill>
                            <a:schemeClr val="tx1"/>
                          </a:solidFill>
                          <a:effectLst/>
                          <a:latin typeface="+mn-lt"/>
                          <a:ea typeface="+mn-ea"/>
                          <a:cs typeface="+mn-cs"/>
                        </a:rPr>
                        <a:t>The main objective of this project is to develop a centralized security platform that monitors and protects cloud infrastructure and endpoint devices from potential cyber threats. The system aims to automatically identify cloud misconfigurations, security vulnerabilities, and exposed resources that may lead to data breaches. </a:t>
                      </a:r>
                    </a:p>
                    <a:p>
                      <a:r>
                        <a:rPr lang="en-IN" sz="1600" kern="1200" dirty="0">
                          <a:solidFill>
                            <a:schemeClr val="tx1"/>
                          </a:solidFill>
                          <a:effectLst/>
                          <a:latin typeface="+mn-lt"/>
                          <a:ea typeface="+mn-ea"/>
                          <a:cs typeface="+mn-cs"/>
                        </a:rPr>
                        <a:t>It also provides real-time monitoring of endpoints to detect malware, suspicious activities, and unauthorized access. Another objective is to ensure compliance with industry security standards such as CIS, NIST, and ISO frameworks.</a:t>
                      </a:r>
                      <a:endParaRPr lang="en-IN" sz="1600" dirty="0"/>
                    </a:p>
                  </a:txBody>
                  <a:tcPr marL="68580" marR="68580" marT="34290" marB="34290"/>
                </a:tc>
                <a:extLst>
                  <a:ext uri="{0D108BD9-81ED-4DB2-BD59-A6C34878D82A}">
                    <a16:rowId xmlns:a16="http://schemas.microsoft.com/office/drawing/2014/main" val="1247643644"/>
                  </a:ext>
                </a:extLst>
              </a:tr>
              <a:tr h="460124">
                <a:tc>
                  <a:txBody>
                    <a:bodyPr/>
                    <a:lstStyle/>
                    <a:p>
                      <a:r>
                        <a:rPr lang="en-IN" sz="1400" b="1" dirty="0">
                          <a:latin typeface="Times New Roman" panose="02020603050405020304" pitchFamily="18" charset="0"/>
                          <a:cs typeface="Times New Roman" panose="02020603050405020304" pitchFamily="18" charset="0"/>
                        </a:rPr>
                        <a:t>SUPPORT TOOLS:</a:t>
                      </a:r>
                    </a:p>
                  </a:txBody>
                  <a:tcPr marL="68580" marR="68580" marT="34290" marB="34290"/>
                </a:tc>
                <a:tc>
                  <a:txBody>
                    <a:bodyPr/>
                    <a:lstStyle/>
                    <a:p>
                      <a:pPr>
                        <a:lnSpc>
                          <a:spcPct val="107000"/>
                        </a:lnSpc>
                        <a:spcAft>
                          <a:spcPts val="800"/>
                        </a:spcAft>
                        <a:buNone/>
                      </a:pPr>
                      <a:r>
                        <a:rPr lang="en-IN"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Python,</a:t>
                      </a:r>
                      <a:r>
                        <a:rPr lang="en-IN" sz="1600" dirty="0">
                          <a:effectLst/>
                          <a:latin typeface="Calibri" panose="020F0502020204030204" pitchFamily="34" charset="0"/>
                          <a:ea typeface="Calibri" panose="020F0502020204030204" pitchFamily="34" charset="0"/>
                        </a:rPr>
                        <a:t> </a:t>
                      </a:r>
                      <a:r>
                        <a:rPr lang="en-IN"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Flask Framework,</a:t>
                      </a:r>
                      <a:r>
                        <a:rPr lang="en-IN" sz="1600" dirty="0">
                          <a:effectLst/>
                          <a:latin typeface="Calibri" panose="020F0502020204030204" pitchFamily="34" charset="0"/>
                          <a:ea typeface="Calibri" panose="020F0502020204030204" pitchFamily="34" charset="0"/>
                        </a:rPr>
                        <a:t> </a:t>
                      </a:r>
                      <a:r>
                        <a:rPr lang="en-IN"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SQLite Database,</a:t>
                      </a:r>
                      <a:r>
                        <a:rPr lang="en-IN" sz="1600" dirty="0">
                          <a:effectLst/>
                          <a:latin typeface="Calibri" panose="020F0502020204030204" pitchFamily="34" charset="0"/>
                          <a:ea typeface="Calibri" panose="020F0502020204030204" pitchFamily="34" charset="0"/>
                        </a:rPr>
                        <a:t> </a:t>
                      </a:r>
                      <a:r>
                        <a:rPr lang="en-IN"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Chart.js,</a:t>
                      </a:r>
                      <a:r>
                        <a:rPr lang="en-IN" sz="1600" dirty="0">
                          <a:effectLst/>
                          <a:latin typeface="Calibri" panose="020F0502020204030204" pitchFamily="34" charset="0"/>
                          <a:ea typeface="Calibri" panose="020F0502020204030204" pitchFamily="34" charset="0"/>
                        </a:rPr>
                        <a:t> </a:t>
                      </a:r>
                      <a:r>
                        <a:rPr lang="en-IN"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HTML, CSS, JavaScript,</a:t>
                      </a:r>
                      <a:r>
                        <a:rPr lang="en-IN" sz="1600" dirty="0">
                          <a:effectLst/>
                          <a:latin typeface="Calibri" panose="020F0502020204030204" pitchFamily="34" charset="0"/>
                          <a:ea typeface="Calibri" panose="020F0502020204030204" pitchFamily="34" charset="0"/>
                        </a:rPr>
                        <a:t> </a:t>
                      </a:r>
                      <a:r>
                        <a:rPr lang="en-IN" sz="1600" b="1" dirty="0" err="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ReportLab</a:t>
                      </a:r>
                      <a:r>
                        <a:rPr lang="en-IN"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t>
                      </a:r>
                      <a:r>
                        <a:rPr lang="en-IN" sz="1600" dirty="0">
                          <a:effectLst/>
                          <a:latin typeface="Calibri" panose="020F0502020204030204" pitchFamily="34" charset="0"/>
                          <a:ea typeface="Calibri" panose="020F0502020204030204" pitchFamily="34" charset="0"/>
                        </a:rPr>
                        <a:t> </a:t>
                      </a:r>
                      <a:r>
                        <a:rPr lang="en-IN" sz="16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Boto3 (AWS SDK for Python)</a:t>
                      </a:r>
                      <a:endParaRPr lang="en-IN" sz="1600" dirty="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2496789620"/>
                  </a:ext>
                </a:extLst>
              </a:tr>
              <a:tr h="431926">
                <a:tc>
                  <a:txBody>
                    <a:bodyPr/>
                    <a:lstStyle/>
                    <a:p>
                      <a:r>
                        <a:rPr lang="en-IN" sz="1400" b="1" dirty="0">
                          <a:latin typeface="Times New Roman" panose="02020603050405020304" pitchFamily="18" charset="0"/>
                          <a:cs typeface="Times New Roman" panose="02020603050405020304" pitchFamily="18" charset="0"/>
                        </a:rPr>
                        <a:t>OPERATING SYSTEM:</a:t>
                      </a:r>
                    </a:p>
                  </a:txBody>
                  <a:tcPr marL="68580" marR="68580" marT="34290" marB="34290"/>
                </a:tc>
                <a:tc>
                  <a:txBody>
                    <a:bodyPr/>
                    <a:lstStyle/>
                    <a:p>
                      <a:r>
                        <a:rPr lang="en-IN" sz="1600" dirty="0">
                          <a:latin typeface="Times New Roman" panose="02020603050405020304" pitchFamily="18" charset="0"/>
                          <a:cs typeface="Times New Roman" panose="02020603050405020304" pitchFamily="18" charset="0"/>
                        </a:rPr>
                        <a:t>WINDOWS</a:t>
                      </a:r>
                    </a:p>
                  </a:txBody>
                  <a:tcPr marL="68580" marR="68580" marT="34290" marB="34290"/>
                </a:tc>
                <a:extLst>
                  <a:ext uri="{0D108BD9-81ED-4DB2-BD59-A6C34878D82A}">
                    <a16:rowId xmlns:a16="http://schemas.microsoft.com/office/drawing/2014/main" val="1165351579"/>
                  </a:ext>
                </a:extLst>
              </a:tr>
              <a:tr h="315785">
                <a:tc>
                  <a:txBody>
                    <a:bodyPr/>
                    <a:lstStyle/>
                    <a:p>
                      <a:r>
                        <a:rPr lang="en-IN" sz="1400" b="1" dirty="0">
                          <a:latin typeface="Times New Roman" panose="02020603050405020304" pitchFamily="18" charset="0"/>
                          <a:cs typeface="Times New Roman" panose="02020603050405020304" pitchFamily="18" charset="0"/>
                        </a:rPr>
                        <a:t>GUIDE:</a:t>
                      </a:r>
                    </a:p>
                  </a:txBody>
                  <a:tcPr marL="68580" marR="68580" marT="34290" marB="3429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solidFill>
                            <a:schemeClr val="tx1">
                              <a:lumMod val="95000"/>
                              <a:lumOff val="5000"/>
                            </a:schemeClr>
                          </a:solidFill>
                          <a:latin typeface="Times New Roman" panose="02020603050405020304" pitchFamily="18" charset="0"/>
                          <a:cs typeface="Times New Roman" panose="02020603050405020304" pitchFamily="18" charset="0"/>
                        </a:rPr>
                        <a:t>DR. KASHYAP PATEL </a:t>
                      </a:r>
                      <a:endParaRPr lang="en-IN" sz="1600" cap="none" spc="0" dirty="0">
                        <a:solidFill>
                          <a:schemeClr val="tx1">
                            <a:lumMod val="95000"/>
                            <a:lumOff val="5000"/>
                          </a:schemeClr>
                        </a:solidFill>
                        <a:latin typeface="Times New Roman" panose="02020603050405020304" pitchFamily="18" charset="0"/>
                        <a:cs typeface="Times New Roman" panose="02020603050405020304" pitchFamily="18" charset="0"/>
                      </a:endParaRPr>
                    </a:p>
                  </a:txBody>
                  <a:tcPr marL="68580" marR="68580" marT="34290" marB="34290"/>
                </a:tc>
                <a:extLst>
                  <a:ext uri="{0D108BD9-81ED-4DB2-BD59-A6C34878D82A}">
                    <a16:rowId xmlns:a16="http://schemas.microsoft.com/office/drawing/2014/main" val="361817408"/>
                  </a:ext>
                </a:extLst>
              </a:tr>
              <a:tr h="414528">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400" b="1" dirty="0">
                          <a:latin typeface="Times New Roman" panose="02020603050405020304" pitchFamily="18" charset="0"/>
                          <a:cs typeface="Times New Roman" panose="02020603050405020304" pitchFamily="18" charset="0"/>
                        </a:rPr>
                        <a:t>SUBMITTED BY:</a:t>
                      </a:r>
                    </a:p>
                    <a:p>
                      <a:endParaRPr lang="en-IN" sz="1400" b="1" dirty="0">
                        <a:latin typeface="Times New Roman" panose="02020603050405020304" pitchFamily="18" charset="0"/>
                        <a:cs typeface="Times New Roman" panose="02020603050405020304" pitchFamily="18" charset="0"/>
                      </a:endParaRPr>
                    </a:p>
                  </a:txBody>
                  <a:tcPr marL="68580" marR="68580" marT="34290" marB="34290"/>
                </a:tc>
                <a:tc>
                  <a:txBody>
                    <a:bodyPr/>
                    <a:lstStyle/>
                    <a:p>
                      <a:r>
                        <a:rPr lang="en-IN" sz="1600" kern="1200" dirty="0">
                          <a:solidFill>
                            <a:schemeClr val="tx1"/>
                          </a:solidFill>
                          <a:effectLst/>
                          <a:latin typeface="+mn-lt"/>
                          <a:ea typeface="+mn-ea"/>
                          <a:cs typeface="+mn-cs"/>
                        </a:rPr>
                        <a:t>Dev Panchal</a:t>
                      </a:r>
                    </a:p>
                    <a:p>
                      <a:r>
                        <a:rPr lang="en-IN" sz="1600" kern="1200" dirty="0">
                          <a:solidFill>
                            <a:schemeClr val="tx1"/>
                          </a:solidFill>
                          <a:effectLst/>
                          <a:latin typeface="+mn-lt"/>
                          <a:ea typeface="+mn-ea"/>
                          <a:cs typeface="+mn-cs"/>
                        </a:rPr>
                        <a:t>BRIJESH PARMAR</a:t>
                      </a:r>
                      <a:endParaRPr lang="en-IN" sz="1600" dirty="0">
                        <a:latin typeface="Times New Roman" panose="02020603050405020304" pitchFamily="18" charset="0"/>
                        <a:cs typeface="Times New Roman" panose="02020603050405020304" pitchFamily="18" charset="0"/>
                      </a:endParaRPr>
                    </a:p>
                  </a:txBody>
                  <a:tcPr marL="68580" marR="68580" marT="34290" marB="34290"/>
                </a:tc>
                <a:extLst>
                  <a:ext uri="{0D108BD9-81ED-4DB2-BD59-A6C34878D82A}">
                    <a16:rowId xmlns:a16="http://schemas.microsoft.com/office/drawing/2014/main" val="3935748415"/>
                  </a:ext>
                </a:extLst>
              </a:tr>
              <a:tr h="657497">
                <a:tc>
                  <a:txBody>
                    <a:bodyPr/>
                    <a:lstStyle/>
                    <a:p>
                      <a:r>
                        <a:rPr lang="en-IN" sz="1400" b="1" dirty="0">
                          <a:latin typeface="Times New Roman" panose="02020603050405020304" pitchFamily="18" charset="0"/>
                          <a:cs typeface="Times New Roman" panose="02020603050405020304" pitchFamily="18" charset="0"/>
                        </a:rPr>
                        <a:t>SUBMITTED BY:</a:t>
                      </a:r>
                    </a:p>
                  </a:txBody>
                  <a:tcPr marL="68580" marR="68580" marT="34290" marB="34290"/>
                </a:tc>
                <a:tc>
                  <a:txBody>
                    <a:bodyPr/>
                    <a:lstStyle/>
                    <a:p>
                      <a:r>
                        <a:rPr lang="en-IN" sz="1600" kern="1200" dirty="0">
                          <a:solidFill>
                            <a:schemeClr val="tx1"/>
                          </a:solidFill>
                          <a:effectLst/>
                          <a:latin typeface="+mn-lt"/>
                          <a:ea typeface="+mn-ea"/>
                          <a:cs typeface="+mn-cs"/>
                        </a:rPr>
                        <a:t>Dev Panchal- 23082291066</a:t>
                      </a:r>
                    </a:p>
                    <a:p>
                      <a:r>
                        <a:rPr lang="en-IN" sz="1600" kern="1200" dirty="0">
                          <a:solidFill>
                            <a:schemeClr val="tx1"/>
                          </a:solidFill>
                          <a:effectLst/>
                          <a:latin typeface="+mn-lt"/>
                          <a:ea typeface="+mn-ea"/>
                          <a:cs typeface="+mn-cs"/>
                        </a:rPr>
                        <a:t>BRIJESH PARMAR- 23082291071</a:t>
                      </a:r>
                      <a:endParaRPr lang="en-IN" sz="1600" dirty="0"/>
                    </a:p>
                  </a:txBody>
                  <a:tcPr marL="68580" marR="68580" marT="34290" marB="34290"/>
                </a:tc>
                <a:extLst>
                  <a:ext uri="{0D108BD9-81ED-4DB2-BD59-A6C34878D82A}">
                    <a16:rowId xmlns:a16="http://schemas.microsoft.com/office/drawing/2014/main" val="3777462956"/>
                  </a:ext>
                </a:extLst>
              </a:tr>
              <a:tr h="427225">
                <a:tc>
                  <a:txBody>
                    <a:bodyPr/>
                    <a:lstStyle/>
                    <a:p>
                      <a:r>
                        <a:rPr lang="en-IN" sz="1400" b="1" dirty="0">
                          <a:latin typeface="Times New Roman" panose="02020603050405020304" pitchFamily="18" charset="0"/>
                          <a:cs typeface="Times New Roman" panose="02020603050405020304" pitchFamily="18" charset="0"/>
                        </a:rPr>
                        <a:t>SUBMITTED TO:</a:t>
                      </a:r>
                    </a:p>
                  </a:txBody>
                  <a:tcPr marL="68580" marR="68580" marT="34290" marB="34290"/>
                </a:tc>
                <a:tc>
                  <a:txBody>
                    <a:bodyPr/>
                    <a:lstStyle/>
                    <a:p>
                      <a:r>
                        <a:rPr lang="en-US" sz="1600" dirty="0">
                          <a:latin typeface="Times New Roman" panose="02020603050405020304" pitchFamily="18" charset="0"/>
                          <a:cs typeface="Times New Roman" panose="02020603050405020304" pitchFamily="18" charset="0"/>
                        </a:rPr>
                        <a:t>Department Of Computer Science</a:t>
                      </a:r>
                      <a:endParaRPr lang="en-IN" sz="1600" dirty="0">
                        <a:latin typeface="Times New Roman" panose="02020603050405020304" pitchFamily="18" charset="0"/>
                        <a:cs typeface="Times New Roman" panose="02020603050405020304" pitchFamily="18" charset="0"/>
                      </a:endParaRPr>
                    </a:p>
                  </a:txBody>
                  <a:tcPr marL="68580" marR="68580" marT="34290" marB="34290"/>
                </a:tc>
                <a:extLst>
                  <a:ext uri="{0D108BD9-81ED-4DB2-BD59-A6C34878D82A}">
                    <a16:rowId xmlns:a16="http://schemas.microsoft.com/office/drawing/2014/main" val="1538089673"/>
                  </a:ext>
                </a:extLst>
              </a:tr>
            </a:tbl>
          </a:graphicData>
        </a:graphic>
      </p:graphicFrame>
    </p:spTree>
    <p:extLst>
      <p:ext uri="{BB962C8B-B14F-4D97-AF65-F5344CB8AC3E}">
        <p14:creationId xmlns:p14="http://schemas.microsoft.com/office/powerpoint/2010/main" val="17683422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3C9B49-C78A-A9B8-A9C1-E8970847F0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0186AB-C7E7-9B75-C67F-0B3A0C49BAFF}"/>
              </a:ext>
            </a:extLst>
          </p:cNvPr>
          <p:cNvSpPr>
            <a:spLocks noGrp="1"/>
          </p:cNvSpPr>
          <p:nvPr>
            <p:ph type="title"/>
          </p:nvPr>
        </p:nvSpPr>
        <p:spPr/>
        <p:txBody>
          <a:bodyPr/>
          <a:lstStyle/>
          <a:p>
            <a:r>
              <a:rPr dirty="0"/>
              <a:t>Introduction</a:t>
            </a:r>
          </a:p>
        </p:txBody>
      </p:sp>
      <p:sp>
        <p:nvSpPr>
          <p:cNvPr id="3" name="Content Placeholder 2">
            <a:extLst>
              <a:ext uri="{FF2B5EF4-FFF2-40B4-BE49-F238E27FC236}">
                <a16:creationId xmlns:a16="http://schemas.microsoft.com/office/drawing/2014/main" id="{9D9B4B26-B099-4050-3297-26D00CE48D0C}"/>
              </a:ext>
            </a:extLst>
          </p:cNvPr>
          <p:cNvSpPr>
            <a:spLocks noGrp="1"/>
          </p:cNvSpPr>
          <p:nvPr>
            <p:ph idx="1"/>
          </p:nvPr>
        </p:nvSpPr>
        <p:spPr/>
        <p:txBody>
          <a:bodyPr>
            <a:normAutofit fontScale="85000" lnSpcReduction="20000"/>
          </a:bodyPr>
          <a:lstStyle/>
          <a:p>
            <a:r>
              <a:rPr dirty="0"/>
              <a:t>Cloud computing has become the backbone of modern IT infrastructure, enabling organizations to deploy applications rapidly, scale resources efficiently, and reduce operational costs. However, as organizations increasingly migrate sensitive data and workloads to cloud environments, security challenges have grown significantly. Misconfigurations, unauthorized access, insecure APIs, and endpoint attacks are among the most common causes of cloud security breaches. To address these challenges, organizations adopt advanced security solutions such as Cloud Security Posture Management (CSPM) and Endpoint Detection &amp; Response (EDR).</a:t>
            </a:r>
          </a:p>
        </p:txBody>
      </p:sp>
    </p:spTree>
    <p:extLst>
      <p:ext uri="{BB962C8B-B14F-4D97-AF65-F5344CB8AC3E}">
        <p14:creationId xmlns:p14="http://schemas.microsoft.com/office/powerpoint/2010/main" val="8100194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Cloud Security Posture Management (CSPM)</a:t>
            </a:r>
          </a:p>
        </p:txBody>
      </p:sp>
      <p:sp>
        <p:nvSpPr>
          <p:cNvPr id="3" name="Content Placeholder 2"/>
          <p:cNvSpPr>
            <a:spLocks noGrp="1"/>
          </p:cNvSpPr>
          <p:nvPr>
            <p:ph idx="1"/>
          </p:nvPr>
        </p:nvSpPr>
        <p:spPr>
          <a:xfrm>
            <a:off x="457200" y="1600200"/>
            <a:ext cx="8577072" cy="5105400"/>
          </a:xfrm>
        </p:spPr>
        <p:txBody>
          <a:bodyPr>
            <a:normAutofit/>
          </a:bodyPr>
          <a:lstStyle/>
          <a:p>
            <a:r>
              <a:rPr sz="2400" dirty="0"/>
              <a:t>Cloud Security Posture Management is a security approach designed to continuously monitor cloud environments and ensure that configurations follow security best practices and regulatory standards. CSPM solutions analyze cloud resources such as virtual machines, storage services, databases, networking components, and identity access policies across public, private, and hybrid clouds.</a:t>
            </a:r>
          </a:p>
          <a:p>
            <a:r>
              <a:rPr sz="2400" dirty="0"/>
              <a:t>One of the main objectives of CSPM is to detect misconfigurations. Examples include publicly accessible databases, unrestricted firewall rules, unused but active credentials, and lack of encryption for sensitive data. These misconfigurations are often accidental but can lead to severe data breaches if not addressed promptly</a:t>
            </a:r>
            <a:r>
              <a:rPr lang="en-IN" sz="2400" dirty="0"/>
              <a:t>. </a:t>
            </a:r>
            <a:endParaRPr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Endpoint Detection &amp; Response (EDR)</a:t>
            </a:r>
          </a:p>
        </p:txBody>
      </p:sp>
      <p:sp>
        <p:nvSpPr>
          <p:cNvPr id="3" name="Content Placeholder 2"/>
          <p:cNvSpPr>
            <a:spLocks noGrp="1"/>
          </p:cNvSpPr>
          <p:nvPr>
            <p:ph idx="1"/>
          </p:nvPr>
        </p:nvSpPr>
        <p:spPr>
          <a:xfrm>
            <a:off x="457200" y="1600200"/>
            <a:ext cx="8229600" cy="4885944"/>
          </a:xfrm>
        </p:spPr>
        <p:txBody>
          <a:bodyPr>
            <a:normAutofit lnSpcReduction="10000"/>
          </a:bodyPr>
          <a:lstStyle/>
          <a:p>
            <a:r>
              <a:rPr dirty="0"/>
              <a:t>Endpoint Detection &amp; Response is a cybersecurity solution designed to detect, investigate, and respond to threats on endpoints in real time. In cloud environments, endpoints include virtual machines, cloud servers, containers, and employee devices accessing cloud resources. Attackers often target these endpoints using malware, ransomware, phishing attacks, or credential theft techniques.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Integration of CSPM with EDR</a:t>
            </a:r>
          </a:p>
        </p:txBody>
      </p:sp>
      <p:sp>
        <p:nvSpPr>
          <p:cNvPr id="3" name="Content Placeholder 2"/>
          <p:cNvSpPr>
            <a:spLocks noGrp="1"/>
          </p:cNvSpPr>
          <p:nvPr>
            <p:ph idx="1"/>
          </p:nvPr>
        </p:nvSpPr>
        <p:spPr>
          <a:xfrm>
            <a:off x="457200" y="1600200"/>
            <a:ext cx="8229600" cy="4983162"/>
          </a:xfrm>
        </p:spPr>
        <p:txBody>
          <a:bodyPr>
            <a:noAutofit/>
          </a:bodyPr>
          <a:lstStyle/>
          <a:p>
            <a:r>
              <a:rPr sz="2400" dirty="0"/>
              <a:t>The integration of Cloud Security Posture Management with Endpoint Detection &amp; Response creates a comprehensive cloud security architecture. While CSPM focuses on identifying and fixing cloud configuration issues, EDR focuses on detecting and responding to active threats at the endpoint level. Together, they provide end-to-end security visibility.</a:t>
            </a:r>
          </a:p>
          <a:p>
            <a:r>
              <a:rPr sz="2400" dirty="0"/>
              <a:t>CSPM can identify risky configurations such as exposed virtual machines or overly permissive access controls. These findings can be correlated with EDR data to determine whether endpoints associated with those configurations are actively under attack. For example, if CSPM detects an exposed server and EDR detects suspicious activity on that server, security teams can immediately prioritize the incident.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1. What is Cloud Security?</a:t>
            </a:r>
          </a:p>
        </p:txBody>
      </p:sp>
      <p:sp>
        <p:nvSpPr>
          <p:cNvPr id="3" name="Content Placeholder 2"/>
          <p:cNvSpPr>
            <a:spLocks noGrp="1"/>
          </p:cNvSpPr>
          <p:nvPr>
            <p:ph idx="1"/>
          </p:nvPr>
        </p:nvSpPr>
        <p:spPr/>
        <p:txBody>
          <a:bodyPr>
            <a:normAutofit fontScale="85000" lnSpcReduction="10000"/>
          </a:bodyPr>
          <a:lstStyle/>
          <a:p>
            <a:r>
              <a:t>Cloud security refers to a set of technologies, policies, controls, and practices designed to protect cloud-based systems, data, and infrastructure from cyber threats. It ensures that data stored in the cloud remains confidential, secure, and available only to authorized users.</a:t>
            </a:r>
          </a:p>
          <a:p>
            <a:r>
              <a:t>➡️Example:</a:t>
            </a:r>
            <a:br/>
            <a:r>
              <a:t>If a company stores customer data on Amazon Web Services and does not configure access rules properly, attackers can access sensitive data over the internet. Cloud security tools help prevent such incidents.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a:t>2. Why is Cloud Security Important?</a:t>
            </a:r>
          </a:p>
        </p:txBody>
      </p:sp>
      <p:sp>
        <p:nvSpPr>
          <p:cNvPr id="3" name="Content Placeholder 2"/>
          <p:cNvSpPr>
            <a:spLocks noGrp="1"/>
          </p:cNvSpPr>
          <p:nvPr>
            <p:ph idx="1"/>
          </p:nvPr>
        </p:nvSpPr>
        <p:spPr>
          <a:xfrm>
            <a:off x="457200" y="1417638"/>
            <a:ext cx="8229600" cy="5440362"/>
          </a:xfrm>
        </p:spPr>
        <p:txBody>
          <a:bodyPr>
            <a:noAutofit/>
          </a:bodyPr>
          <a:lstStyle/>
          <a:p>
            <a:r>
              <a:rPr sz="2400" dirty="0"/>
              <a:t>Cloud security is important because organizations store highly sensitive information in the cloud, such as personal data, financial records, intellectual property, and business-critical applications. Any security breach can lead to financial loss, legal penalties, and damage to reputation.</a:t>
            </a:r>
          </a:p>
          <a:p>
            <a:r>
              <a:rPr sz="2400" dirty="0"/>
              <a:t>Unlike traditional on-premises systems, cloud resources are accessible from anywhere. This increases flexibility but also increases security risks. Cloud security ensures safe usage of cloud services while maintaining performance and scalability.</a:t>
            </a:r>
          </a:p>
          <a:p>
            <a:r>
              <a:rPr sz="2400" dirty="0"/>
              <a:t>➡️Example:</a:t>
            </a:r>
            <a:br>
              <a:rPr sz="2400" dirty="0"/>
            </a:br>
            <a:r>
              <a:rPr sz="2400" dirty="0"/>
              <a:t>A healthcare organization storing patient records in the cloud must follow strict security laws. Without cloud security controls, patient data could be leaked, leading to legal action and loss of trust.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3. What Are the Major Threats in Cloud Environments?</a:t>
            </a:r>
          </a:p>
        </p:txBody>
      </p:sp>
      <p:sp>
        <p:nvSpPr>
          <p:cNvPr id="3" name="Content Placeholder 2"/>
          <p:cNvSpPr>
            <a:spLocks noGrp="1"/>
          </p:cNvSpPr>
          <p:nvPr>
            <p:ph idx="1"/>
          </p:nvPr>
        </p:nvSpPr>
        <p:spPr>
          <a:xfrm>
            <a:off x="457200" y="1600200"/>
            <a:ext cx="8229600" cy="5471160"/>
          </a:xfrm>
        </p:spPr>
        <p:txBody>
          <a:bodyPr>
            <a:noAutofit/>
          </a:bodyPr>
          <a:lstStyle/>
          <a:p>
            <a:r>
              <a:rPr sz="2400" dirty="0"/>
              <a:t>Cloud environments face multiple security threats due to their open and dynamic nature. Some of the major threats include:</a:t>
            </a:r>
          </a:p>
          <a:p>
            <a:r>
              <a:rPr sz="2400" dirty="0"/>
              <a:t>Data Breaches</a:t>
            </a:r>
            <a:br>
              <a:rPr sz="2400" dirty="0"/>
            </a:br>
            <a:r>
              <a:rPr sz="2400" dirty="0"/>
              <a:t>Unauthorized access to sensitive data stored in cloud storage or databases.</a:t>
            </a:r>
          </a:p>
          <a:p>
            <a:r>
              <a:rPr sz="2400" dirty="0"/>
              <a:t>Misconfiguration</a:t>
            </a:r>
            <a:br>
              <a:rPr sz="2400" dirty="0"/>
            </a:br>
            <a:r>
              <a:rPr sz="2400" dirty="0"/>
              <a:t>Incorrect cloud settings such as open storage buckets or unrestricted network access.</a:t>
            </a:r>
          </a:p>
          <a:p>
            <a:r>
              <a:rPr sz="2400" dirty="0"/>
              <a:t>Account Hijacking</a:t>
            </a:r>
            <a:br>
              <a:rPr sz="2400" dirty="0"/>
            </a:br>
            <a:r>
              <a:rPr sz="2400" dirty="0"/>
              <a:t>Attackers steal login credentials and gain control over cloud resources.</a:t>
            </a:r>
          </a:p>
          <a:p>
            <a:r>
              <a:rPr sz="2400" dirty="0"/>
              <a:t>Malware and Ransomware</a:t>
            </a:r>
            <a:br>
              <a:rPr sz="2400" dirty="0"/>
            </a:br>
            <a:r>
              <a:rPr sz="2400" dirty="0"/>
              <a:t>Malicious software that infects cloud servers or endpoints.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3. What Are the Major Threats in Cloud Environments?</a:t>
            </a:r>
          </a:p>
        </p:txBody>
      </p:sp>
      <p:sp>
        <p:nvSpPr>
          <p:cNvPr id="3" name="Content Placeholder 2"/>
          <p:cNvSpPr>
            <a:spLocks noGrp="1"/>
          </p:cNvSpPr>
          <p:nvPr>
            <p:ph idx="1"/>
          </p:nvPr>
        </p:nvSpPr>
        <p:spPr/>
        <p:txBody>
          <a:bodyPr/>
          <a:lstStyle/>
          <a:p>
            <a:r>
              <a:t>Insider Threats</a:t>
            </a:r>
          </a:p>
          <a:p>
            <a:r>
              <a:t>Employees or users misusing access permissions intentionally or accidentally.</a:t>
            </a:r>
          </a:p>
          <a:p>
            <a:r>
              <a:t>➡️Example:</a:t>
            </a:r>
            <a:br/>
            <a:r>
              <a:t>An attacker exploits weak passwords of a cloud administrator account and deletes critical cloud data, causing service outage.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4. How Does Cloud Security Protect Data?</a:t>
            </a:r>
          </a:p>
        </p:txBody>
      </p:sp>
      <p:sp>
        <p:nvSpPr>
          <p:cNvPr id="3" name="Content Placeholder 2"/>
          <p:cNvSpPr>
            <a:spLocks noGrp="1"/>
          </p:cNvSpPr>
          <p:nvPr>
            <p:ph idx="1"/>
          </p:nvPr>
        </p:nvSpPr>
        <p:spPr/>
        <p:txBody>
          <a:bodyPr>
            <a:normAutofit lnSpcReduction="10000"/>
          </a:bodyPr>
          <a:lstStyle/>
          <a:p>
            <a:r>
              <a:rPr dirty="0"/>
              <a:t>Cloud security protects data using multiple layers of security controls. These controls ensure that data remains protected both at rest and in transit.</a:t>
            </a:r>
          </a:p>
          <a:p>
            <a:r>
              <a:rPr dirty="0"/>
              <a:t>Key data protection methods include:</a:t>
            </a:r>
          </a:p>
          <a:p>
            <a:r>
              <a:rPr dirty="0"/>
              <a:t>Encryption: Converts data into unreadable format</a:t>
            </a:r>
          </a:p>
          <a:p>
            <a:r>
              <a:rPr dirty="0"/>
              <a:t>Access Control: Limits data access to authorized users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4. How Does Cloud Security Protect Data?</a:t>
            </a:r>
          </a:p>
        </p:txBody>
      </p:sp>
      <p:sp>
        <p:nvSpPr>
          <p:cNvPr id="3" name="Content Placeholder 2"/>
          <p:cNvSpPr>
            <a:spLocks noGrp="1"/>
          </p:cNvSpPr>
          <p:nvPr>
            <p:ph idx="1"/>
          </p:nvPr>
        </p:nvSpPr>
        <p:spPr/>
        <p:txBody>
          <a:bodyPr/>
          <a:lstStyle/>
          <a:p>
            <a:r>
              <a:rPr lang="en-US" dirty="0"/>
              <a:t>Backup and Recovery: Prevents data loss</a:t>
            </a:r>
            <a:endParaRPr lang="en-IN" dirty="0"/>
          </a:p>
          <a:p>
            <a:r>
              <a:rPr dirty="0"/>
              <a:t>Monitoring and Logging: Tracks suspicious activity</a:t>
            </a:r>
          </a:p>
          <a:p>
            <a:r>
              <a:rPr dirty="0"/>
              <a:t>➡️Example:</a:t>
            </a:r>
            <a:br>
              <a:rPr dirty="0"/>
            </a:br>
            <a:r>
              <a:rPr dirty="0"/>
              <a:t>Even if attackers gain access to encrypted cloud storage, they cannot read the data without encryption keys.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21664"/>
            <a:ext cx="8229600" cy="295974"/>
          </a:xfrm>
        </p:spPr>
        <p:txBody>
          <a:bodyPr>
            <a:normAutofit fontScale="90000"/>
          </a:bodyPr>
          <a:lstStyle/>
          <a:p>
            <a:r>
              <a:rPr dirty="0"/>
              <a:t>5. Why Is Identity and Access Management (IAM) Important in Cloud Security?</a:t>
            </a:r>
            <a:br>
              <a:rPr lang="en-IN" dirty="0"/>
            </a:br>
            <a:endParaRPr dirty="0"/>
          </a:p>
        </p:txBody>
      </p:sp>
      <p:sp>
        <p:nvSpPr>
          <p:cNvPr id="3" name="Content Placeholder 2"/>
          <p:cNvSpPr>
            <a:spLocks noGrp="1"/>
          </p:cNvSpPr>
          <p:nvPr>
            <p:ph idx="1"/>
          </p:nvPr>
        </p:nvSpPr>
        <p:spPr>
          <a:xfrm>
            <a:off x="457200" y="2170176"/>
            <a:ext cx="8229600" cy="3998976"/>
          </a:xfrm>
        </p:spPr>
        <p:txBody>
          <a:bodyPr>
            <a:normAutofit lnSpcReduction="10000"/>
          </a:bodyPr>
          <a:lstStyle/>
          <a:p>
            <a:r>
              <a:rPr dirty="0"/>
              <a:t>Identity and Access Management (IAM) ensures that only authorized users can access cloud resources. IAM controls who can log in, what resources they can access, and what actions they can perform.</a:t>
            </a:r>
          </a:p>
          <a:p>
            <a:r>
              <a:rPr dirty="0"/>
              <a:t>IAM is important because cloud platforms are accessed remotely. Weak identity controls can lead to unauthorized access.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07264"/>
            <a:ext cx="8229600" cy="5918899"/>
          </a:xfrm>
        </p:spPr>
        <p:txBody>
          <a:bodyPr>
            <a:normAutofit fontScale="92500" lnSpcReduction="10000"/>
          </a:bodyPr>
          <a:lstStyle/>
          <a:p>
            <a:r>
              <a:rPr lang="en-US" dirty="0"/>
              <a:t>Key IAM features:</a:t>
            </a:r>
          </a:p>
          <a:p>
            <a:r>
              <a:rPr lang="en-IN" dirty="0"/>
              <a:t>Multi-Factor Authentication (MFA)</a:t>
            </a:r>
          </a:p>
          <a:p>
            <a:r>
              <a:rPr lang="en-US" b="1" dirty="0"/>
              <a:t>Multi-Factor Authentication (MFA)</a:t>
            </a:r>
            <a:r>
              <a:rPr lang="en-US" dirty="0"/>
              <a:t> is a security method that requires users to verify their identity using </a:t>
            </a:r>
            <a:r>
              <a:rPr lang="en-US" b="1" dirty="0"/>
              <a:t>two or more authentication factors</a:t>
            </a:r>
            <a:r>
              <a:rPr lang="en-US" dirty="0"/>
              <a:t> before accessing an account or system.</a:t>
            </a:r>
          </a:p>
          <a:p>
            <a:r>
              <a:rPr lang="en-US" dirty="0"/>
              <a:t>It usually combines </a:t>
            </a:r>
            <a:r>
              <a:rPr lang="en-US" b="1" dirty="0"/>
              <a:t>something you know (password), something you have (OTP or mobile device), or something you are (fingerprint/biometric)</a:t>
            </a:r>
            <a:r>
              <a:rPr lang="en-US" dirty="0"/>
              <a:t> to provide stronger security.</a:t>
            </a:r>
          </a:p>
          <a:p>
            <a:r>
              <a:rPr lang="en-US" dirty="0"/>
              <a:t>MFA helps protect systems from </a:t>
            </a:r>
            <a:r>
              <a:rPr lang="en-US" b="1" dirty="0"/>
              <a:t>unauthorized access even if a password is stolen</a:t>
            </a:r>
            <a:r>
              <a:rPr lang="en-US" dirty="0"/>
              <a:t>.</a:t>
            </a:r>
          </a:p>
          <a:p>
            <a:pPr marL="0" indent="0">
              <a:buNone/>
            </a:pPr>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42E9E41-7040-8EF2-3ABC-17A0BFF41954}"/>
              </a:ext>
            </a:extLst>
          </p:cNvPr>
          <p:cNvSpPr>
            <a:spLocks noGrp="1"/>
          </p:cNvSpPr>
          <p:nvPr>
            <p:ph idx="1"/>
          </p:nvPr>
        </p:nvSpPr>
        <p:spPr>
          <a:xfrm>
            <a:off x="457200" y="292608"/>
            <a:ext cx="8229600" cy="5833555"/>
          </a:xfrm>
        </p:spPr>
        <p:txBody>
          <a:bodyPr/>
          <a:lstStyle/>
          <a:p>
            <a:pPr marL="0" indent="0">
              <a:buNone/>
            </a:pPr>
            <a:r>
              <a:rPr lang="en-IN" dirty="0"/>
              <a:t>• Role-Based Access Control (RBAC)</a:t>
            </a:r>
          </a:p>
          <a:p>
            <a:pPr marL="0" indent="0">
              <a:buNone/>
            </a:pPr>
            <a:r>
              <a:rPr lang="en-US" b="1" dirty="0"/>
              <a:t>Role-Based Access Control (RBAC)</a:t>
            </a:r>
            <a:r>
              <a:rPr lang="en-US" dirty="0"/>
              <a:t> is a security method where access to systems or resources is granted based on a user’s </a:t>
            </a:r>
            <a:r>
              <a:rPr lang="en-US" b="1" dirty="0"/>
              <a:t>role within an organization</a:t>
            </a:r>
            <a:r>
              <a:rPr lang="en-US" dirty="0"/>
              <a:t>.</a:t>
            </a:r>
          </a:p>
          <a:p>
            <a:pPr marL="0" indent="0">
              <a:buNone/>
            </a:pPr>
            <a:r>
              <a:rPr lang="en-US" dirty="0"/>
              <a:t>Each role (such as admin, manager, or user) has specific </a:t>
            </a:r>
            <a:r>
              <a:rPr lang="en-US" b="1" dirty="0"/>
              <a:t>permissions and access rights</a:t>
            </a:r>
            <a:r>
              <a:rPr lang="en-US" dirty="0"/>
              <a:t>. RBAC helps improve security by ensuring users can only access the data and functions needed for their job.</a:t>
            </a:r>
          </a:p>
          <a:p>
            <a:pPr marL="0" indent="0">
              <a:buNone/>
            </a:pPr>
            <a:endParaRPr lang="en-IN" dirty="0"/>
          </a:p>
        </p:txBody>
      </p:sp>
    </p:spTree>
    <p:extLst>
      <p:ext uri="{BB962C8B-B14F-4D97-AF65-F5344CB8AC3E}">
        <p14:creationId xmlns:p14="http://schemas.microsoft.com/office/powerpoint/2010/main" val="28707565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E4CDB2C-533D-9F8F-0E52-B1583F503641}"/>
              </a:ext>
            </a:extLst>
          </p:cNvPr>
          <p:cNvSpPr>
            <a:spLocks noGrp="1"/>
          </p:cNvSpPr>
          <p:nvPr>
            <p:ph idx="1"/>
          </p:nvPr>
        </p:nvSpPr>
        <p:spPr>
          <a:xfrm>
            <a:off x="457200" y="280416"/>
            <a:ext cx="8229600" cy="6266688"/>
          </a:xfrm>
        </p:spPr>
        <p:txBody>
          <a:bodyPr>
            <a:normAutofit fontScale="92500" lnSpcReduction="10000"/>
          </a:bodyPr>
          <a:lstStyle/>
          <a:p>
            <a:r>
              <a:rPr lang="en-IN" b="1" dirty="0"/>
              <a:t>Least Privilege Access</a:t>
            </a:r>
          </a:p>
          <a:p>
            <a:pPr marL="0" indent="0">
              <a:buNone/>
            </a:pPr>
            <a:r>
              <a:rPr lang="en-US" b="1" dirty="0"/>
              <a:t>Least Privilege Access</a:t>
            </a:r>
            <a:r>
              <a:rPr lang="en-US" dirty="0"/>
              <a:t> is a security principle where users are given </a:t>
            </a:r>
            <a:r>
              <a:rPr lang="en-US" b="1" dirty="0"/>
              <a:t>only the minimum permissions</a:t>
            </a:r>
            <a:r>
              <a:rPr lang="en-US" dirty="0"/>
              <a:t> needed to perform their tasks.</a:t>
            </a:r>
          </a:p>
          <a:p>
            <a:pPr marL="0" indent="0">
              <a:buNone/>
            </a:pPr>
            <a:r>
              <a:rPr lang="en-US" dirty="0"/>
              <a:t>This helps reduce the risk of </a:t>
            </a:r>
            <a:r>
              <a:rPr lang="en-US" b="1" dirty="0"/>
              <a:t>unauthorized access, data breaches, or system misuse</a:t>
            </a:r>
            <a:r>
              <a:rPr lang="en-US" dirty="0"/>
              <a:t>. By limiting permissions, organizations can improve overall system security.</a:t>
            </a:r>
          </a:p>
          <a:p>
            <a:r>
              <a:rPr lang="en-US" b="1" dirty="0"/>
              <a:t>Example:</a:t>
            </a:r>
            <a:endParaRPr lang="en-US" dirty="0"/>
          </a:p>
          <a:p>
            <a:r>
              <a:rPr lang="en-US" dirty="0"/>
              <a:t>For example, in a company system, a </a:t>
            </a:r>
            <a:r>
              <a:rPr lang="en-US" b="1" dirty="0"/>
              <a:t>regular employee</a:t>
            </a:r>
            <a:r>
              <a:rPr lang="en-US" dirty="0"/>
              <a:t> can only </a:t>
            </a:r>
            <a:r>
              <a:rPr lang="en-US" b="1" dirty="0"/>
              <a:t>view and edit their own documents</a:t>
            </a:r>
            <a:r>
              <a:rPr lang="en-US" dirty="0"/>
              <a:t>, but they </a:t>
            </a:r>
            <a:r>
              <a:rPr lang="en-US" b="1" dirty="0"/>
              <a:t>cannot delete system files or access admin settings</a:t>
            </a:r>
            <a:r>
              <a:rPr lang="en-US" dirty="0"/>
              <a:t>.</a:t>
            </a:r>
          </a:p>
        </p:txBody>
      </p:sp>
    </p:spTree>
    <p:extLst>
      <p:ext uri="{BB962C8B-B14F-4D97-AF65-F5344CB8AC3E}">
        <p14:creationId xmlns:p14="http://schemas.microsoft.com/office/powerpoint/2010/main" val="37164905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6. How Do Misconfigurations Affect Cloud Security?</a:t>
            </a:r>
          </a:p>
        </p:txBody>
      </p:sp>
      <p:sp>
        <p:nvSpPr>
          <p:cNvPr id="3" name="Content Placeholder 2"/>
          <p:cNvSpPr>
            <a:spLocks noGrp="1"/>
          </p:cNvSpPr>
          <p:nvPr>
            <p:ph idx="1"/>
          </p:nvPr>
        </p:nvSpPr>
        <p:spPr/>
        <p:txBody>
          <a:bodyPr>
            <a:normAutofit fontScale="92500" lnSpcReduction="10000"/>
          </a:bodyPr>
          <a:lstStyle/>
          <a:p>
            <a:r>
              <a:rPr dirty="0"/>
              <a:t>Misconfigurations are one of the leading causes of cloud security breaches. They occur when cloud resources are incorrectly set up due to lack of knowledge or human error.</a:t>
            </a:r>
          </a:p>
          <a:p>
            <a:r>
              <a:rPr dirty="0"/>
              <a:t>Common misconfigurations include:</a:t>
            </a:r>
            <a:endParaRPr lang="en-IN" dirty="0"/>
          </a:p>
          <a:p>
            <a:pPr marL="0" indent="0">
              <a:buNone/>
            </a:pPr>
            <a:r>
              <a:rPr lang="en-US" dirty="0"/>
              <a:t>• Publicly accessible storage </a:t>
            </a:r>
          </a:p>
          <a:p>
            <a:pPr marL="0" indent="0">
              <a:buNone/>
            </a:pPr>
            <a:r>
              <a:rPr lang="en-US" dirty="0"/>
              <a:t>• Open firewall ports </a:t>
            </a:r>
          </a:p>
          <a:p>
            <a:pPr marL="0" indent="0">
              <a:buNone/>
            </a:pPr>
            <a:r>
              <a:rPr lang="en-US" dirty="0"/>
              <a:t>• Over-permissive access roles </a:t>
            </a:r>
          </a:p>
          <a:p>
            <a:pPr marL="0" indent="0">
              <a:buNone/>
            </a:pPr>
            <a:r>
              <a:rPr lang="en-US" dirty="0"/>
              <a:t>• Disabled logging</a:t>
            </a:r>
            <a:endParaRP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38912"/>
            <a:ext cx="8229600" cy="5925312"/>
          </a:xfrm>
        </p:spPr>
        <p:txBody>
          <a:bodyPr>
            <a:normAutofit fontScale="62500" lnSpcReduction="20000"/>
          </a:bodyPr>
          <a:lstStyle/>
          <a:p>
            <a:pPr marL="0" indent="0">
              <a:buNone/>
            </a:pPr>
            <a:r>
              <a:rPr lang="en-US" sz="3600" b="1" dirty="0"/>
              <a:t>• Publicly Accessible Storage:</a:t>
            </a:r>
            <a:br>
              <a:rPr lang="en-US" sz="3600" dirty="0"/>
            </a:br>
            <a:r>
              <a:rPr lang="en-US" sz="3600" dirty="0"/>
              <a:t>This occurs when cloud storage (like buckets or databases) is configured so that </a:t>
            </a:r>
            <a:r>
              <a:rPr lang="en-US" sz="3600" b="1" dirty="0"/>
              <a:t>anyone on the internet can access it</a:t>
            </a:r>
            <a:r>
              <a:rPr lang="en-US" sz="3600" dirty="0"/>
              <a:t>. This can expose sensitive data and lead to data breaches.</a:t>
            </a:r>
          </a:p>
          <a:p>
            <a:pPr marL="0" indent="0">
              <a:buNone/>
            </a:pPr>
            <a:endParaRPr lang="en-US" sz="3600" dirty="0"/>
          </a:p>
          <a:p>
            <a:pPr marL="0" indent="0">
              <a:buNone/>
            </a:pPr>
            <a:r>
              <a:rPr lang="en-US" sz="3600" b="1" dirty="0"/>
              <a:t>• Open Firewall Ports:</a:t>
            </a:r>
            <a:br>
              <a:rPr lang="en-US" sz="3600" dirty="0"/>
            </a:br>
            <a:r>
              <a:rPr lang="en-US" sz="3600" dirty="0"/>
              <a:t>Open ports allow network traffic to enter a system. If </a:t>
            </a:r>
            <a:r>
              <a:rPr lang="en-US" sz="3600" b="1" dirty="0"/>
              <a:t>too many ports are open or not properly secured</a:t>
            </a:r>
            <a:r>
              <a:rPr lang="en-US" sz="3600" dirty="0"/>
              <a:t>, attackers may exploit them to gain unauthorized access.</a:t>
            </a:r>
          </a:p>
          <a:p>
            <a:pPr marL="0" indent="0">
              <a:buNone/>
            </a:pPr>
            <a:endParaRPr lang="en-US" sz="3600" dirty="0"/>
          </a:p>
          <a:p>
            <a:pPr marL="0" indent="0">
              <a:buNone/>
            </a:pPr>
            <a:r>
              <a:rPr lang="en-US" sz="3600" b="1" dirty="0"/>
              <a:t>• Over-Permissive Access Roles:</a:t>
            </a:r>
            <a:br>
              <a:rPr lang="en-US" sz="3600" dirty="0"/>
            </a:br>
            <a:r>
              <a:rPr lang="en-US" sz="3600" dirty="0"/>
              <a:t>This happens when users or applications are given </a:t>
            </a:r>
            <a:r>
              <a:rPr lang="en-US" sz="3600" b="1" dirty="0"/>
              <a:t>more permissions than necessary</a:t>
            </a:r>
            <a:r>
              <a:rPr lang="en-US" sz="3600" dirty="0"/>
              <a:t>. It increases the risk of misuse or security breaches.</a:t>
            </a:r>
          </a:p>
          <a:p>
            <a:pPr marL="0" indent="0">
              <a:buNone/>
            </a:pPr>
            <a:endParaRPr lang="en-US" sz="3600" dirty="0"/>
          </a:p>
          <a:p>
            <a:pPr marL="0" indent="0">
              <a:buNone/>
            </a:pPr>
            <a:r>
              <a:rPr lang="en-US" sz="3600" b="1" dirty="0"/>
              <a:t>• Disabled Logging:</a:t>
            </a:r>
            <a:br>
              <a:rPr lang="en-US" sz="3600" dirty="0"/>
            </a:br>
            <a:r>
              <a:rPr lang="en-US" sz="3600" dirty="0"/>
              <a:t>Logging records system activities and security events. If </a:t>
            </a:r>
            <a:r>
              <a:rPr lang="en-US" sz="3600" b="1" dirty="0"/>
              <a:t>logging is disabled</a:t>
            </a:r>
            <a:r>
              <a:rPr lang="en-US" sz="3600" dirty="0"/>
              <a:t>, it becomes difficult to detect, investigate, or respond to security incidents.</a:t>
            </a:r>
          </a:p>
          <a:p>
            <a:endParaRP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000" b="1" dirty="0"/>
              <a:t>Uses of Cloud Security Posture Management (CSPM) with Endpoint Detection &amp; Response (EDR)?</a:t>
            </a:r>
            <a:endParaRPr sz="3000" b="1" dirty="0"/>
          </a:p>
        </p:txBody>
      </p:sp>
      <p:sp>
        <p:nvSpPr>
          <p:cNvPr id="3" name="Content Placeholder 2"/>
          <p:cNvSpPr>
            <a:spLocks noGrp="1"/>
          </p:cNvSpPr>
          <p:nvPr>
            <p:ph idx="1"/>
          </p:nvPr>
        </p:nvSpPr>
        <p:spPr>
          <a:xfrm>
            <a:off x="457200" y="1600200"/>
            <a:ext cx="8229600" cy="4983162"/>
          </a:xfrm>
        </p:spPr>
        <p:txBody>
          <a:bodyPr>
            <a:normAutofit fontScale="85000" lnSpcReduction="20000"/>
          </a:bodyPr>
          <a:lstStyle/>
          <a:p>
            <a:pPr marL="0" indent="0">
              <a:buNone/>
            </a:pPr>
            <a:r>
              <a:rPr lang="en-IN" dirty="0"/>
              <a:t>1.</a:t>
            </a:r>
            <a:r>
              <a:rPr lang="en-US" dirty="0"/>
              <a:t> What is the main use of CSPM with EDR in cloud environments? </a:t>
            </a:r>
            <a:endParaRPr lang="en-IN" dirty="0"/>
          </a:p>
          <a:p>
            <a:r>
              <a:rPr dirty="0"/>
              <a:t>The main use of CSPM with EDR is to provide complete security visibility and protection across cloud infrastructure and endpoints. CSPM ensures that cloud resources are securely configured, while EDR detects and responds to threats occurring on servers, virtual machines, and user devices.</a:t>
            </a:r>
          </a:p>
          <a:p>
            <a:r>
              <a:rPr dirty="0"/>
              <a:t>Example:</a:t>
            </a:r>
            <a:br>
              <a:rPr dirty="0"/>
            </a:br>
            <a:r>
              <a:rPr dirty="0"/>
              <a:t>A company hosts its application on Amazon Web Services. CSPM detects that a database is publicly accessible, while EDR monitors the server and detects suspicious login attempts.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68224"/>
            <a:ext cx="8229600" cy="6230112"/>
          </a:xfrm>
        </p:spPr>
        <p:txBody>
          <a:bodyPr>
            <a:noAutofit/>
          </a:bodyPr>
          <a:lstStyle/>
          <a:p>
            <a:pPr marL="0" indent="0">
              <a:buNone/>
            </a:pPr>
            <a:r>
              <a:rPr lang="en-US" sz="2800" dirty="0"/>
              <a:t>2. How does CSPM with EDR help in preventing cloud misconfigurations?</a:t>
            </a:r>
            <a:endParaRPr lang="en-IN" sz="2800" dirty="0"/>
          </a:p>
          <a:p>
            <a:r>
              <a:rPr sz="2800" dirty="0"/>
              <a:t>One of the most important uses of CSPM is identifying and correcting cloud misconfigurations. CSPM continuously scans cloud environments to ensure security best practices are followed. When combined with EDR, endpoints affected by misconfigurations are actively monitored for malicious activity.</a:t>
            </a:r>
          </a:p>
          <a:p>
            <a:r>
              <a:rPr sz="2800" dirty="0"/>
              <a:t>Example:</a:t>
            </a:r>
            <a:br>
              <a:rPr sz="2800" dirty="0"/>
            </a:br>
            <a:r>
              <a:rPr sz="2800" dirty="0"/>
              <a:t>A cloud storage bucket is mistakenly made public. CSPM raises an alert, and EDR monitors systems accessing the bucket. If a malicious IP attempts data download, EDR blocks the activity.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92608"/>
            <a:ext cx="8229600" cy="5833555"/>
          </a:xfrm>
        </p:spPr>
        <p:txBody>
          <a:bodyPr>
            <a:normAutofit/>
          </a:bodyPr>
          <a:lstStyle/>
          <a:p>
            <a:pPr marL="0" indent="0">
              <a:buNone/>
            </a:pPr>
            <a:r>
              <a:rPr lang="en-US" sz="2800" dirty="0"/>
              <a:t>3. How does CSPM with EDR improve threat detection and response?</a:t>
            </a:r>
            <a:endParaRPr lang="en-IN" sz="2800" dirty="0"/>
          </a:p>
          <a:p>
            <a:r>
              <a:rPr sz="2800" dirty="0"/>
              <a:t>CSPM provides environmental context, such as exposed assets and risk severity, while EDR provides behavioral analysis by monitoring endpoint activities. This combined information allows security teams to detect threats faster and respond more accurately.</a:t>
            </a:r>
          </a:p>
          <a:p>
            <a:r>
              <a:rPr sz="2800" dirty="0"/>
              <a:t>Example:</a:t>
            </a:r>
            <a:br>
              <a:rPr sz="2800" dirty="0"/>
            </a:br>
            <a:r>
              <a:rPr sz="2800" dirty="0"/>
              <a:t>CSPM identifies a cloud VM exposed to the internet. EDR detects malware execution on that VM. The system automatically isolates the VM and prevents further spread.</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02336"/>
            <a:ext cx="8229600" cy="5723827"/>
          </a:xfrm>
        </p:spPr>
        <p:txBody>
          <a:bodyPr>
            <a:normAutofit lnSpcReduction="10000"/>
          </a:bodyPr>
          <a:lstStyle/>
          <a:p>
            <a:pPr marL="0" indent="0">
              <a:buNone/>
            </a:pPr>
            <a:r>
              <a:rPr lang="en-US" dirty="0"/>
              <a:t>4. How is CSPM with EDR used for compliance management?</a:t>
            </a:r>
            <a:endParaRPr lang="en-IN" dirty="0"/>
          </a:p>
          <a:p>
            <a:r>
              <a:rPr dirty="0"/>
              <a:t>Many organizations must follow regulatory standards such as data protection laws. CSPM ensures that cloud configurations meet compliance requirements, while EDR ensures endpoints are not compromised.</a:t>
            </a:r>
          </a:p>
          <a:p>
            <a:r>
              <a:rPr dirty="0"/>
              <a:t>Example:</a:t>
            </a:r>
            <a:br>
              <a:rPr dirty="0"/>
            </a:br>
            <a:r>
              <a:rPr dirty="0"/>
              <a:t>A finance company must protect transaction data. CSPM verifies encryption and access policies, while EDR ensures no unauthorized processes access sensitive data.</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41376"/>
            <a:ext cx="8229600" cy="5784787"/>
          </a:xfrm>
        </p:spPr>
        <p:txBody>
          <a:bodyPr/>
          <a:lstStyle/>
          <a:p>
            <a:pPr marL="0" indent="0">
              <a:buNone/>
            </a:pPr>
            <a:r>
              <a:rPr lang="en-US" dirty="0"/>
              <a:t>5. How does CSPM with EDR protect cloud workloads and servers?</a:t>
            </a:r>
            <a:endParaRPr lang="en-IN" dirty="0"/>
          </a:p>
          <a:p>
            <a:r>
              <a:rPr dirty="0"/>
              <a:t>Cloud workloads such as virtual machines, containers, and databases are frequent attack targets. CSPM secures these workloads by enforcing correct configurations, and EDR protects them by monitoring runtime behavior.</a:t>
            </a:r>
            <a:endParaRPr lang="en-IN" dirty="0"/>
          </a:p>
          <a:p>
            <a:pPr marL="0" indent="0">
              <a:buNone/>
            </a:pPr>
            <a:endParaRPr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63296"/>
            <a:ext cx="8229600" cy="5662867"/>
          </a:xfrm>
        </p:spPr>
        <p:txBody>
          <a:bodyPr>
            <a:normAutofit/>
          </a:bodyPr>
          <a:lstStyle/>
          <a:p>
            <a:pPr marL="0" indent="0">
              <a:buNone/>
            </a:pPr>
            <a:r>
              <a:rPr lang="en-US" dirty="0"/>
              <a:t>6. How is CSPM with EDR used in multi-cloud environments?</a:t>
            </a:r>
            <a:endParaRPr lang="en-IN" dirty="0"/>
          </a:p>
          <a:p>
            <a:r>
              <a:rPr dirty="0"/>
              <a:t>Many organizations use multiple cloud platforms. CSPM provides centralized visibility across all cloud environments, while EDR ensures endpoint protection across different platforms.</a:t>
            </a:r>
          </a:p>
          <a:p>
            <a:r>
              <a:rPr dirty="0"/>
              <a:t>This unified approach reduces complexity and security gaps.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38912"/>
            <a:ext cx="8229600" cy="5687251"/>
          </a:xfrm>
        </p:spPr>
        <p:txBody>
          <a:bodyPr>
            <a:normAutofit/>
          </a:bodyPr>
          <a:lstStyle/>
          <a:p>
            <a:pPr marL="0" indent="0">
              <a:buNone/>
            </a:pPr>
            <a:r>
              <a:rPr lang="en-US" dirty="0"/>
              <a:t>7. How does CSPM with EDR help in ransomware prevention?</a:t>
            </a:r>
            <a:endParaRPr lang="en-IN" dirty="0"/>
          </a:p>
          <a:p>
            <a:r>
              <a:rPr dirty="0"/>
              <a:t>Ransomware attacks often start at the endpoint level and spread to cloud resources. EDR detects ransomware behavior early and stops it, while CSPM ensures cloud backups and access controls are properly configured.</a:t>
            </a:r>
          </a:p>
          <a:p>
            <a:r>
              <a:rPr dirty="0"/>
              <a:t>Together, they minimize damage and ensure fast recovery.</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Types of Web Application Vulnerability Scanner website</a:t>
            </a:r>
            <a:endParaRPr b="1" dirty="0"/>
          </a:p>
        </p:txBody>
      </p:sp>
      <p:sp>
        <p:nvSpPr>
          <p:cNvPr id="3" name="Content Placeholder 2"/>
          <p:cNvSpPr>
            <a:spLocks noGrp="1"/>
          </p:cNvSpPr>
          <p:nvPr>
            <p:ph idx="1"/>
          </p:nvPr>
        </p:nvSpPr>
        <p:spPr>
          <a:xfrm>
            <a:off x="493776" y="1600200"/>
            <a:ext cx="8229600" cy="4983162"/>
          </a:xfrm>
        </p:spPr>
        <p:txBody>
          <a:bodyPr>
            <a:normAutofit fontScale="92500" lnSpcReduction="10000"/>
          </a:bodyPr>
          <a:lstStyle/>
          <a:p>
            <a:pPr marL="0" indent="0">
              <a:buNone/>
            </a:pPr>
            <a:r>
              <a:rPr lang="en-US" dirty="0"/>
              <a:t>❖ SaaS-Based Secure Web Applications Security Description SaaS-based CSPM applications are hosted and managed by third-party cloud vendors. Organizations access the security dashboard via secure web browsers using HTTPS protocols. </a:t>
            </a:r>
          </a:p>
          <a:p>
            <a:pPr marL="0" indent="0">
              <a:buNone/>
            </a:pPr>
            <a:r>
              <a:rPr lang="en-US" dirty="0"/>
              <a:t>These platforms are designed with: </a:t>
            </a:r>
          </a:p>
          <a:p>
            <a:pPr marL="0" indent="0">
              <a:buNone/>
            </a:pPr>
            <a:r>
              <a:rPr lang="en-US" dirty="0"/>
              <a:t>• Strong encryption (SSL/TLS) </a:t>
            </a:r>
          </a:p>
          <a:p>
            <a:pPr marL="0" indent="0">
              <a:buNone/>
            </a:pPr>
            <a:r>
              <a:rPr lang="en-US" dirty="0"/>
              <a:t>• Multi-Factor Authentication (MFA) </a:t>
            </a:r>
          </a:p>
          <a:p>
            <a:pPr marL="0" indent="0">
              <a:buNone/>
            </a:pPr>
            <a:r>
              <a:rPr lang="en-US" dirty="0"/>
              <a:t>• Role-Based Access Control (RBAC) </a:t>
            </a:r>
          </a:p>
          <a:p>
            <a:pPr marL="0" indent="0">
              <a:buNone/>
            </a:pPr>
            <a:r>
              <a:rPr lang="en-US" dirty="0"/>
              <a:t>• Secure API integrations </a:t>
            </a:r>
            <a:endParaRPr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Logical Security Example</a:t>
            </a:r>
          </a:p>
        </p:txBody>
      </p:sp>
      <p:sp>
        <p:nvSpPr>
          <p:cNvPr id="3" name="Content Placeholder 2"/>
          <p:cNvSpPr>
            <a:spLocks noGrp="1"/>
          </p:cNvSpPr>
          <p:nvPr>
            <p:ph idx="1"/>
          </p:nvPr>
        </p:nvSpPr>
        <p:spPr/>
        <p:txBody>
          <a:bodyPr/>
          <a:lstStyle/>
          <a:p>
            <a:r>
              <a:t>An organization using Amazon Web Services connects its cloud account to a SaaS CSPM platform. The web application detects that an S3 storage bucket is publicly accessible.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80416"/>
            <a:ext cx="8229600" cy="5845747"/>
          </a:xfrm>
        </p:spPr>
        <p:txBody>
          <a:bodyPr>
            <a:normAutofit fontScale="92500" lnSpcReduction="20000"/>
          </a:bodyPr>
          <a:lstStyle/>
          <a:p>
            <a:pPr marL="0" indent="0">
              <a:buNone/>
            </a:pPr>
            <a:r>
              <a:rPr lang="en-IN" dirty="0"/>
              <a:t>❖ </a:t>
            </a:r>
            <a:r>
              <a:rPr lang="en-US" b="1" dirty="0"/>
              <a:t>On-Premise Secure Web Applications </a:t>
            </a:r>
          </a:p>
          <a:p>
            <a:pPr marL="0" indent="0">
              <a:buNone/>
            </a:pPr>
            <a:r>
              <a:rPr lang="en-US" dirty="0"/>
              <a:t>Security Description </a:t>
            </a:r>
          </a:p>
          <a:p>
            <a:pPr marL="0" indent="0">
              <a:buNone/>
            </a:pPr>
            <a:r>
              <a:rPr lang="en-US" dirty="0"/>
              <a:t>On-premise CSPM web applications are installed within an organization’s internal network or private cloud. These systems do not rely on external SaaS vendors. Security control remains fully under the organization. </a:t>
            </a:r>
          </a:p>
          <a:p>
            <a:pPr marL="0" indent="0">
              <a:buNone/>
            </a:pPr>
            <a:r>
              <a:rPr lang="en-US" dirty="0"/>
              <a:t>Security Features </a:t>
            </a:r>
          </a:p>
          <a:p>
            <a:pPr marL="0" indent="0">
              <a:buNone/>
            </a:pPr>
            <a:r>
              <a:rPr lang="en-US" dirty="0"/>
              <a:t>• Internal hosting behind firewall </a:t>
            </a:r>
          </a:p>
          <a:p>
            <a:pPr marL="0" indent="0">
              <a:buNone/>
            </a:pPr>
            <a:r>
              <a:rPr lang="en-US" dirty="0"/>
              <a:t>• Data encryption at rest </a:t>
            </a:r>
          </a:p>
          <a:p>
            <a:pPr marL="0" indent="0">
              <a:buNone/>
            </a:pPr>
            <a:r>
              <a:rPr lang="en-US" dirty="0"/>
              <a:t>• Custom security policy enforcement </a:t>
            </a:r>
          </a:p>
          <a:p>
            <a:pPr marL="0" indent="0">
              <a:buNone/>
            </a:pPr>
            <a:r>
              <a:rPr lang="en-US" dirty="0"/>
              <a:t>• Restricted network access </a:t>
            </a:r>
          </a:p>
          <a:p>
            <a:pPr marL="0" indent="0">
              <a:buNone/>
            </a:pPr>
            <a:r>
              <a:rPr lang="en-US" dirty="0"/>
              <a:t>• Integration with internal SIEM systems</a:t>
            </a:r>
            <a:endParaRPr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Logical Security Example</a:t>
            </a:r>
          </a:p>
        </p:txBody>
      </p:sp>
      <p:sp>
        <p:nvSpPr>
          <p:cNvPr id="3" name="Content Placeholder 2"/>
          <p:cNvSpPr>
            <a:spLocks noGrp="1"/>
          </p:cNvSpPr>
          <p:nvPr>
            <p:ph idx="1"/>
          </p:nvPr>
        </p:nvSpPr>
        <p:spPr/>
        <p:txBody>
          <a:bodyPr/>
          <a:lstStyle/>
          <a:p>
            <a:r>
              <a:t>A government organization handling classified data cannot allow external SaaS access. It deploys an internal CSPM web system.</a:t>
            </a:r>
          </a:p>
          <a:p>
            <a:r>
              <a:t>If a firewall rule exposes a sensitive server:</a:t>
            </a:r>
          </a:p>
          <a:p>
            <a:r>
              <a:t>The internal dashboard alerts the security team.</a:t>
            </a:r>
          </a:p>
          <a:p>
            <a:r>
              <a:t>Logs remain within the secure data center.</a:t>
            </a:r>
          </a:p>
          <a:p>
            <a:r>
              <a:t>No data leaves the organization.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1584" y="390144"/>
            <a:ext cx="8229600" cy="6059424"/>
          </a:xfrm>
        </p:spPr>
        <p:txBody>
          <a:bodyPr>
            <a:normAutofit lnSpcReduction="10000"/>
          </a:bodyPr>
          <a:lstStyle/>
          <a:p>
            <a:pPr marL="0" indent="0">
              <a:buNone/>
            </a:pPr>
            <a:r>
              <a:rPr lang="en-US" dirty="0"/>
              <a:t>❖ </a:t>
            </a:r>
            <a:r>
              <a:rPr lang="en-US" b="1" dirty="0"/>
              <a:t>Hybrid Security Web Applications</a:t>
            </a:r>
            <a:r>
              <a:rPr lang="en-US" dirty="0"/>
              <a:t> </a:t>
            </a:r>
          </a:p>
          <a:p>
            <a:pPr marL="0" indent="0">
              <a:buNone/>
            </a:pPr>
            <a:r>
              <a:rPr lang="en-US" dirty="0"/>
              <a:t>• Security Description • </a:t>
            </a:r>
          </a:p>
          <a:p>
            <a:pPr marL="0" indent="0">
              <a:buNone/>
            </a:pPr>
            <a:r>
              <a:rPr lang="en-US" dirty="0"/>
              <a:t>Hybrid CSPM web applications combine SaaS based and on-premise models. Sensitive data is stored internally, while non-sensitive analytics are processed in the cloud. </a:t>
            </a:r>
          </a:p>
          <a:p>
            <a:pPr marL="0" indent="0">
              <a:buNone/>
            </a:pPr>
            <a:r>
              <a:rPr lang="en-US" dirty="0"/>
              <a:t>• Security Advantages </a:t>
            </a:r>
          </a:p>
          <a:p>
            <a:pPr marL="0" indent="0">
              <a:buNone/>
            </a:pPr>
            <a:r>
              <a:rPr lang="en-US" dirty="0"/>
              <a:t>• Balanced data protection </a:t>
            </a:r>
          </a:p>
          <a:p>
            <a:pPr marL="0" indent="0">
              <a:buNone/>
            </a:pPr>
            <a:r>
              <a:rPr lang="en-US" dirty="0"/>
              <a:t>• Scalable security operations </a:t>
            </a:r>
          </a:p>
          <a:p>
            <a:pPr marL="0" indent="0">
              <a:buNone/>
            </a:pPr>
            <a:r>
              <a:rPr lang="en-US" dirty="0"/>
              <a:t>• Centralized web-based visibility </a:t>
            </a:r>
          </a:p>
          <a:p>
            <a:pPr marL="0" indent="0">
              <a:buNone/>
            </a:pPr>
            <a:r>
              <a:rPr lang="en-US" dirty="0"/>
              <a:t>• Flexible compliance management</a:t>
            </a:r>
            <a:endParaRPr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Logical Security Example</a:t>
            </a:r>
          </a:p>
        </p:txBody>
      </p:sp>
      <p:sp>
        <p:nvSpPr>
          <p:cNvPr id="3" name="Content Placeholder 2"/>
          <p:cNvSpPr>
            <a:spLocks noGrp="1"/>
          </p:cNvSpPr>
          <p:nvPr>
            <p:ph idx="1"/>
          </p:nvPr>
        </p:nvSpPr>
        <p:spPr/>
        <p:txBody>
          <a:bodyPr>
            <a:normAutofit fontScale="92500" lnSpcReduction="10000"/>
          </a:bodyPr>
          <a:lstStyle/>
          <a:p>
            <a:r>
              <a:rPr dirty="0"/>
              <a:t>A multinational company uses:</a:t>
            </a:r>
            <a:endParaRPr lang="en-IN" dirty="0"/>
          </a:p>
          <a:p>
            <a:r>
              <a:rPr lang="en-IN" dirty="0"/>
              <a:t>Microsoft Azure for applications </a:t>
            </a:r>
          </a:p>
          <a:p>
            <a:pPr marL="0" indent="0">
              <a:buNone/>
            </a:pPr>
            <a:r>
              <a:rPr lang="en-IN" dirty="0"/>
              <a:t>• Internal private cloud for confidential logs </a:t>
            </a:r>
          </a:p>
          <a:p>
            <a:pPr marL="0" indent="0">
              <a:buNone/>
            </a:pPr>
            <a:r>
              <a:rPr lang="en-IN" dirty="0"/>
              <a:t>• The hybrid CSPM dashboard correlates both environments securely. </a:t>
            </a:r>
          </a:p>
          <a:p>
            <a:pPr marL="0" indent="0">
              <a:buNone/>
            </a:pPr>
            <a:r>
              <a:rPr lang="en-IN" dirty="0"/>
              <a:t>• If an exposed virtual machine is detected: </a:t>
            </a:r>
          </a:p>
          <a:p>
            <a:pPr marL="0" indent="0">
              <a:buNone/>
            </a:pPr>
            <a:r>
              <a:rPr lang="en-IN" dirty="0"/>
              <a:t>• SaaS layer flags the misconfiguration. </a:t>
            </a:r>
          </a:p>
          <a:p>
            <a:pPr marL="0" indent="0">
              <a:buNone/>
            </a:pPr>
            <a:r>
              <a:rPr lang="en-IN" dirty="0"/>
              <a:t>• On-premise logs confirm suspicious activity. </a:t>
            </a:r>
          </a:p>
          <a:p>
            <a:pPr marL="0" indent="0">
              <a:buNone/>
            </a:pPr>
            <a:r>
              <a:rPr lang="en-IN" dirty="0"/>
              <a:t>• Immediate remediation is triggered. </a:t>
            </a:r>
            <a:endParaRPr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9392" y="329184"/>
            <a:ext cx="8229600" cy="5809171"/>
          </a:xfrm>
        </p:spPr>
        <p:txBody>
          <a:bodyPr>
            <a:normAutofit lnSpcReduction="10000"/>
          </a:bodyPr>
          <a:lstStyle/>
          <a:p>
            <a:pPr marL="0" indent="0">
              <a:buNone/>
            </a:pPr>
            <a:r>
              <a:rPr lang="en-US" dirty="0"/>
              <a:t>❖ </a:t>
            </a:r>
            <a:r>
              <a:rPr lang="en-US" b="1" dirty="0"/>
              <a:t>Role-Based Secure Web Applications </a:t>
            </a:r>
          </a:p>
          <a:p>
            <a:pPr marL="0" indent="0">
              <a:buNone/>
            </a:pPr>
            <a:r>
              <a:rPr lang="en-US" dirty="0"/>
              <a:t>Security Description </a:t>
            </a:r>
          </a:p>
          <a:p>
            <a:pPr marL="0" indent="0">
              <a:buNone/>
            </a:pPr>
            <a:r>
              <a:rPr lang="en-US" dirty="0"/>
              <a:t>Role-Based CSPM web applications restrict user permissions according to job responsibilities. This minimizes insider threats and prevents unauthorized changes. </a:t>
            </a:r>
          </a:p>
          <a:p>
            <a:pPr marL="0" indent="0">
              <a:buNone/>
            </a:pPr>
            <a:r>
              <a:rPr lang="en-US" dirty="0"/>
              <a:t>Security Features </a:t>
            </a:r>
          </a:p>
          <a:p>
            <a:pPr marL="0" indent="0">
              <a:buNone/>
            </a:pPr>
            <a:r>
              <a:rPr lang="en-US" dirty="0"/>
              <a:t>• Role-Based Access Control (RBAC) </a:t>
            </a:r>
          </a:p>
          <a:p>
            <a:pPr marL="0" indent="0">
              <a:buNone/>
            </a:pPr>
            <a:r>
              <a:rPr lang="en-US" dirty="0"/>
              <a:t>• Multi-level authentication </a:t>
            </a:r>
          </a:p>
          <a:p>
            <a:pPr marL="0" indent="0">
              <a:buNone/>
            </a:pPr>
            <a:r>
              <a:rPr lang="en-US" dirty="0"/>
              <a:t>• Audit logging </a:t>
            </a:r>
          </a:p>
          <a:p>
            <a:pPr marL="0" indent="0">
              <a:buNone/>
            </a:pPr>
            <a:r>
              <a:rPr lang="en-US" dirty="0"/>
              <a:t>• Activity tracking</a:t>
            </a:r>
            <a:endParaRPr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What is a Web Application for Cloud Security Website?</a:t>
            </a:r>
            <a:endParaRPr b="1" dirty="0"/>
          </a:p>
        </p:txBody>
      </p:sp>
      <p:sp>
        <p:nvSpPr>
          <p:cNvPr id="3" name="Content Placeholder 2"/>
          <p:cNvSpPr>
            <a:spLocks noGrp="1"/>
          </p:cNvSpPr>
          <p:nvPr>
            <p:ph idx="1"/>
          </p:nvPr>
        </p:nvSpPr>
        <p:spPr>
          <a:xfrm>
            <a:off x="457200" y="1600200"/>
            <a:ext cx="8229600" cy="4983162"/>
          </a:xfrm>
        </p:spPr>
        <p:txBody>
          <a:bodyPr>
            <a:noAutofit/>
          </a:bodyPr>
          <a:lstStyle/>
          <a:p>
            <a:pPr marL="0" indent="0">
              <a:buNone/>
            </a:pPr>
            <a:r>
              <a:rPr lang="en-IN" sz="2400" b="1" dirty="0"/>
              <a:t>Introduction</a:t>
            </a:r>
          </a:p>
          <a:p>
            <a:r>
              <a:rPr sz="2400" dirty="0"/>
              <a:t>A web application for cloud security is an online software system designed to protect cloud-based infrastructure, applications, and data from cyber threats. It operates through a web browser and provides centralized access to security tools, monitoring dashboards, compliance reports, and threat detection systems.</a:t>
            </a:r>
          </a:p>
          <a:p>
            <a:r>
              <a:rPr sz="2400" dirty="0"/>
              <a:t>As organizations increasingly use cloud platforms such as Amazon Web Services, Microsoft Azure, and Google Cloud Platform, managing cloud security has become complex. A cloud security web application helps administrators monitor risks, detect misconfigurations, manage user access, and respond to threats from a single interface.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Definition of Web Application in Cloud Security</a:t>
            </a:r>
          </a:p>
        </p:txBody>
      </p:sp>
      <p:sp>
        <p:nvSpPr>
          <p:cNvPr id="3" name="Content Placeholder 2"/>
          <p:cNvSpPr>
            <a:spLocks noGrp="1"/>
          </p:cNvSpPr>
          <p:nvPr>
            <p:ph idx="1"/>
          </p:nvPr>
        </p:nvSpPr>
        <p:spPr>
          <a:xfrm>
            <a:off x="457200" y="1600200"/>
            <a:ext cx="8229600" cy="4849368"/>
          </a:xfrm>
        </p:spPr>
        <p:txBody>
          <a:bodyPr>
            <a:normAutofit fontScale="85000" lnSpcReduction="10000"/>
          </a:bodyPr>
          <a:lstStyle/>
          <a:p>
            <a:r>
              <a:rPr dirty="0"/>
              <a:t>A web application for cloud security is a browser-based platform that provides tools and features to:</a:t>
            </a:r>
            <a:endParaRPr lang="en-IN" dirty="0"/>
          </a:p>
          <a:p>
            <a:pPr marL="0" indent="0">
              <a:buNone/>
            </a:pPr>
            <a:r>
              <a:rPr lang="en-US" dirty="0"/>
              <a:t>• Monitor cloud configurations </a:t>
            </a:r>
          </a:p>
          <a:p>
            <a:pPr marL="0" indent="0">
              <a:buNone/>
            </a:pPr>
            <a:r>
              <a:rPr lang="en-US" dirty="0"/>
              <a:t>• Detect security vulnerabilities </a:t>
            </a:r>
          </a:p>
          <a:p>
            <a:pPr marL="0" indent="0">
              <a:buNone/>
            </a:pPr>
            <a:r>
              <a:rPr lang="en-US" dirty="0"/>
              <a:t>• Enforce compliance policies </a:t>
            </a:r>
          </a:p>
          <a:p>
            <a:pPr marL="0" indent="0">
              <a:buNone/>
            </a:pPr>
            <a:r>
              <a:rPr lang="en-US" dirty="0"/>
              <a:t>• Manage identity and access </a:t>
            </a:r>
          </a:p>
          <a:p>
            <a:pPr marL="0" indent="0">
              <a:buNone/>
            </a:pPr>
            <a:r>
              <a:rPr lang="en-US" dirty="0"/>
              <a:t>• Respond to cyber threats </a:t>
            </a:r>
          </a:p>
          <a:p>
            <a:pPr marL="0" indent="0">
              <a:buNone/>
            </a:pPr>
            <a:r>
              <a:rPr lang="en-US" dirty="0"/>
              <a:t>• Generate security reports </a:t>
            </a:r>
          </a:p>
          <a:p>
            <a:pPr marL="0" indent="0">
              <a:buNone/>
            </a:pPr>
            <a:r>
              <a:rPr lang="en-US" dirty="0"/>
              <a:t>It acts as a centralized management system where security teams can view the health and posture of their cloud environment in real time.</a:t>
            </a:r>
            <a:endParaRPr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Why Web Applications Are Used for Cloud Security</a:t>
            </a:r>
          </a:p>
        </p:txBody>
      </p:sp>
      <p:sp>
        <p:nvSpPr>
          <p:cNvPr id="3" name="Content Placeholder 2"/>
          <p:cNvSpPr>
            <a:spLocks noGrp="1"/>
          </p:cNvSpPr>
          <p:nvPr>
            <p:ph idx="1"/>
          </p:nvPr>
        </p:nvSpPr>
        <p:spPr>
          <a:xfrm>
            <a:off x="457200" y="1600200"/>
            <a:ext cx="8229600" cy="5068824"/>
          </a:xfrm>
        </p:spPr>
        <p:txBody>
          <a:bodyPr>
            <a:normAutofit fontScale="85000" lnSpcReduction="20000"/>
          </a:bodyPr>
          <a:lstStyle/>
          <a:p>
            <a:r>
              <a:rPr dirty="0"/>
              <a:t>Web applications are preferred because cloud infrastructure itself is internet-based. Security administrators may work remotely, and cloud environments may span multiple regions or providers.</a:t>
            </a:r>
          </a:p>
          <a:p>
            <a:r>
              <a:rPr dirty="0"/>
              <a:t>Using a web-based system offers:</a:t>
            </a:r>
            <a:endParaRPr lang="en-IN" dirty="0"/>
          </a:p>
          <a:p>
            <a:pPr marL="0" indent="0">
              <a:buNone/>
            </a:pPr>
            <a:r>
              <a:rPr lang="en-US" dirty="0"/>
              <a:t>• Remote access from anywhere </a:t>
            </a:r>
          </a:p>
          <a:p>
            <a:pPr marL="0" indent="0">
              <a:buNone/>
            </a:pPr>
            <a:r>
              <a:rPr lang="en-US" dirty="0"/>
              <a:t>• Real-time monitoring </a:t>
            </a:r>
          </a:p>
          <a:p>
            <a:pPr marL="0" indent="0">
              <a:buNone/>
            </a:pPr>
            <a:r>
              <a:rPr lang="en-US" dirty="0"/>
              <a:t>• Multi-user access control </a:t>
            </a:r>
          </a:p>
          <a:p>
            <a:pPr marL="0" indent="0">
              <a:buNone/>
            </a:pPr>
            <a:r>
              <a:rPr lang="en-US" dirty="0"/>
              <a:t>• Centralized dashboards </a:t>
            </a:r>
          </a:p>
          <a:p>
            <a:pPr marL="0" indent="0">
              <a:buNone/>
            </a:pPr>
            <a:r>
              <a:rPr lang="en-US" dirty="0"/>
              <a:t>• Easy scalability </a:t>
            </a:r>
          </a:p>
          <a:p>
            <a:pPr marL="0" indent="0">
              <a:buNone/>
            </a:pPr>
            <a:r>
              <a:rPr lang="en-US" dirty="0"/>
              <a:t>A web interface makes security management simpler and more efficient compared to manual or local tools.</a:t>
            </a:r>
          </a:p>
          <a:p>
            <a:pPr marL="0" indent="0">
              <a:buNone/>
            </a:pPr>
            <a:endParaRPr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How a Cloud Security Web Application Works</a:t>
            </a:r>
          </a:p>
        </p:txBody>
      </p:sp>
      <p:sp>
        <p:nvSpPr>
          <p:cNvPr id="3" name="Content Placeholder 2"/>
          <p:cNvSpPr>
            <a:spLocks noGrp="1"/>
          </p:cNvSpPr>
          <p:nvPr>
            <p:ph idx="1"/>
          </p:nvPr>
        </p:nvSpPr>
        <p:spPr/>
        <p:txBody>
          <a:bodyPr/>
          <a:lstStyle/>
          <a:p>
            <a:r>
              <a:t>Below is a simplified working flow:</a:t>
            </a:r>
          </a:p>
          <a:p>
            <a:r>
              <a:t>The web application connects securely to cloud accounts via APIs.</a:t>
            </a:r>
          </a:p>
          <a:p>
            <a:r>
              <a:t>It collects configuration data and security logs.</a:t>
            </a:r>
          </a:p>
          <a:p>
            <a:r>
              <a:t>It analyzes data against predefined security policies.</a:t>
            </a:r>
          </a:p>
          <a:p>
            <a:r>
              <a:t>It detects vulnerabilities or suspicious activities.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How a Cloud Security Web Application Works</a:t>
            </a:r>
          </a:p>
        </p:txBody>
      </p:sp>
      <p:sp>
        <p:nvSpPr>
          <p:cNvPr id="3" name="Content Placeholder 2"/>
          <p:cNvSpPr>
            <a:spLocks noGrp="1"/>
          </p:cNvSpPr>
          <p:nvPr>
            <p:ph idx="1"/>
          </p:nvPr>
        </p:nvSpPr>
        <p:spPr/>
        <p:txBody>
          <a:bodyPr/>
          <a:lstStyle/>
          <a:p>
            <a:r>
              <a:t>It displays alerts and suggests remediation steps.</a:t>
            </a:r>
          </a:p>
          <a:p>
            <a:r>
              <a:t>It may automatically fix certain issues.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7. Technical Features</a:t>
            </a:r>
          </a:p>
        </p:txBody>
      </p:sp>
      <p:sp>
        <p:nvSpPr>
          <p:cNvPr id="3" name="Content Placeholder 2"/>
          <p:cNvSpPr>
            <a:spLocks noGrp="1"/>
          </p:cNvSpPr>
          <p:nvPr>
            <p:ph idx="1"/>
          </p:nvPr>
        </p:nvSpPr>
        <p:spPr/>
        <p:txBody>
          <a:bodyPr>
            <a:normAutofit fontScale="85000" lnSpcReduction="20000"/>
          </a:bodyPr>
          <a:lstStyle/>
          <a:p>
            <a:r>
              <a:t>Cloud security refers to the technologies, policies, and technical controls used to protect cloud infrastructure, applications, and data from cyber threats. As organizations increasingly rely on cloud platforms such as Amazon Web Services, Microsoft Azure, and Google Cloud Platform, advanced technical security mechanisms are required to maintain confidentiality, integrity, and availability (CIA triad).</a:t>
            </a:r>
          </a:p>
          <a:p>
            <a:r>
              <a:t>Cloud security is implemented using multiple layers of protection, including encryption, identity management, network security, monitoring systems, and automated response mechanisms.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2.1 Identity and Access Management (IAM)</a:t>
            </a:r>
          </a:p>
        </p:txBody>
      </p:sp>
      <p:sp>
        <p:nvSpPr>
          <p:cNvPr id="3" name="Content Placeholder 2"/>
          <p:cNvSpPr>
            <a:spLocks noGrp="1"/>
          </p:cNvSpPr>
          <p:nvPr>
            <p:ph idx="1"/>
          </p:nvPr>
        </p:nvSpPr>
        <p:spPr/>
        <p:txBody>
          <a:bodyPr>
            <a:normAutofit fontScale="92500" lnSpcReduction="20000"/>
          </a:bodyPr>
          <a:lstStyle/>
          <a:p>
            <a:r>
              <a:rPr dirty="0"/>
              <a:t>Identity and Access Management is a core technical feature that controls who can access cloud resources and what actions they can perform.</a:t>
            </a:r>
            <a:endParaRPr lang="en-IN" dirty="0"/>
          </a:p>
          <a:p>
            <a:r>
              <a:rPr lang="en-US" dirty="0"/>
              <a:t>Technical Capabilities: </a:t>
            </a:r>
          </a:p>
          <a:p>
            <a:pPr marL="0" indent="0">
              <a:buNone/>
            </a:pPr>
            <a:r>
              <a:rPr lang="en-US" dirty="0"/>
              <a:t>• Role-Based Access Control (RBAC) </a:t>
            </a:r>
          </a:p>
          <a:p>
            <a:pPr marL="0" indent="0">
              <a:buNone/>
            </a:pPr>
            <a:r>
              <a:rPr lang="en-US" dirty="0"/>
              <a:t>• Multi-Factor Authentication (MFA) </a:t>
            </a:r>
          </a:p>
          <a:p>
            <a:pPr marL="0" indent="0">
              <a:buNone/>
            </a:pPr>
            <a:r>
              <a:rPr lang="en-US" dirty="0"/>
              <a:t>• Single Sign-On (SSO) </a:t>
            </a:r>
          </a:p>
          <a:p>
            <a:pPr marL="0" indent="0">
              <a:buNone/>
            </a:pPr>
            <a:r>
              <a:rPr lang="en-US" dirty="0"/>
              <a:t>• Least Privilege Principle </a:t>
            </a:r>
          </a:p>
          <a:p>
            <a:pPr marL="0" indent="0">
              <a:buNone/>
            </a:pPr>
            <a:r>
              <a:rPr lang="en-US" dirty="0"/>
              <a:t>• Temporary credential tokens </a:t>
            </a:r>
            <a:endParaRPr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2.2 Data Encryption (At Rest and In Transit)</a:t>
            </a:r>
          </a:p>
        </p:txBody>
      </p:sp>
      <p:sp>
        <p:nvSpPr>
          <p:cNvPr id="3" name="Content Placeholder 2"/>
          <p:cNvSpPr>
            <a:spLocks noGrp="1"/>
          </p:cNvSpPr>
          <p:nvPr>
            <p:ph idx="1"/>
          </p:nvPr>
        </p:nvSpPr>
        <p:spPr>
          <a:xfrm>
            <a:off x="457200" y="1600200"/>
            <a:ext cx="8229600" cy="4983162"/>
          </a:xfrm>
        </p:spPr>
        <p:txBody>
          <a:bodyPr>
            <a:normAutofit fontScale="77500" lnSpcReduction="20000"/>
          </a:bodyPr>
          <a:lstStyle/>
          <a:p>
            <a:r>
              <a:rPr dirty="0"/>
              <a:t>Encryption is one of the most critical technical features in cloud security.</a:t>
            </a:r>
            <a:endParaRPr lang="en-IN" dirty="0"/>
          </a:p>
          <a:p>
            <a:r>
              <a:rPr lang="en-IN" dirty="0"/>
              <a:t>Types:</a:t>
            </a:r>
          </a:p>
          <a:p>
            <a:r>
              <a:rPr lang="en-US" dirty="0"/>
              <a:t>Encryption at Rest – Protects stored data in databases and storage.</a:t>
            </a:r>
          </a:p>
          <a:p>
            <a:r>
              <a:rPr lang="en-US" dirty="0"/>
              <a:t>Encryption in Transit – Protects data moving between systems using SSL/TLS.</a:t>
            </a:r>
          </a:p>
          <a:p>
            <a:r>
              <a:rPr lang="en-US" dirty="0"/>
              <a:t>End-to-End Encryption – Data remains encrypted throughout communication.</a:t>
            </a:r>
          </a:p>
          <a:p>
            <a:r>
              <a:rPr lang="en-US" dirty="0"/>
              <a:t>Advanced encryption standards such as AES-256 are commonly used.</a:t>
            </a:r>
          </a:p>
          <a:p>
            <a:r>
              <a:rPr lang="en-US" dirty="0"/>
              <a:t>Example:</a:t>
            </a:r>
            <a:br>
              <a:rPr lang="en-US" dirty="0"/>
            </a:br>
            <a:r>
              <a:rPr lang="en-US" dirty="0"/>
              <a:t>Even if an attacker gains access to cloud storage, encrypted files cannot be read without the decryption key.</a:t>
            </a:r>
          </a:p>
          <a:p>
            <a:endParaRPr lang="en-IN" dirty="0"/>
          </a:p>
          <a:p>
            <a:endParaRPr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2.3 Network Security Controls</a:t>
            </a:r>
          </a:p>
        </p:txBody>
      </p:sp>
      <p:sp>
        <p:nvSpPr>
          <p:cNvPr id="3" name="Content Placeholder 2"/>
          <p:cNvSpPr>
            <a:spLocks noGrp="1"/>
          </p:cNvSpPr>
          <p:nvPr>
            <p:ph idx="1"/>
          </p:nvPr>
        </p:nvSpPr>
        <p:spPr>
          <a:xfrm>
            <a:off x="457200" y="1417638"/>
            <a:ext cx="8229600" cy="5263578"/>
          </a:xfrm>
        </p:spPr>
        <p:txBody>
          <a:bodyPr>
            <a:normAutofit fontScale="85000" lnSpcReduction="20000"/>
          </a:bodyPr>
          <a:lstStyle/>
          <a:p>
            <a:r>
              <a:rPr dirty="0"/>
              <a:t>Cloud security includes strong network-level protection mechanisms.</a:t>
            </a:r>
            <a:endParaRPr lang="en-IN" dirty="0"/>
          </a:p>
          <a:p>
            <a:r>
              <a:rPr lang="en-IN" dirty="0"/>
              <a:t>Technical Components: </a:t>
            </a:r>
          </a:p>
          <a:p>
            <a:pPr marL="0" indent="0">
              <a:buNone/>
            </a:pPr>
            <a:r>
              <a:rPr lang="en-IN" dirty="0"/>
              <a:t>• Virtual Private Cloud (VPC) </a:t>
            </a:r>
          </a:p>
          <a:p>
            <a:pPr marL="0" indent="0">
              <a:buNone/>
            </a:pPr>
            <a:r>
              <a:rPr lang="en-IN" dirty="0"/>
              <a:t>• Firewalls and Security Groups </a:t>
            </a:r>
          </a:p>
          <a:p>
            <a:pPr marL="0" indent="0">
              <a:buNone/>
            </a:pPr>
            <a:r>
              <a:rPr lang="en-IN" dirty="0"/>
              <a:t>• Network Access Control Lists (ACLs) </a:t>
            </a:r>
          </a:p>
          <a:p>
            <a:pPr marL="0" indent="0">
              <a:buNone/>
            </a:pPr>
            <a:r>
              <a:rPr lang="en-IN" dirty="0"/>
              <a:t>• Intrusion Detection Systems (IDS) </a:t>
            </a:r>
          </a:p>
          <a:p>
            <a:pPr marL="0" indent="0">
              <a:buNone/>
            </a:pPr>
            <a:r>
              <a:rPr lang="en-IN" dirty="0"/>
              <a:t>• Intrusion Prevention Systems (IPS) </a:t>
            </a:r>
          </a:p>
          <a:p>
            <a:pPr marL="0" indent="0">
              <a:buNone/>
            </a:pPr>
            <a:r>
              <a:rPr lang="en-IN" dirty="0"/>
              <a:t>These controls prevent unauthorized traffic from entering cloud systems. </a:t>
            </a:r>
          </a:p>
          <a:p>
            <a:pPr marL="0" indent="0">
              <a:buNone/>
            </a:pPr>
            <a:r>
              <a:rPr lang="en-IN" dirty="0"/>
              <a:t>Example: A firewall rule blocks all traffic except HTTPS (port 443), preventing attackers from exploiting open ports.</a:t>
            </a:r>
          </a:p>
          <a:p>
            <a:pPr marL="0" indent="0">
              <a:buNone/>
            </a:pPr>
            <a:endParaRPr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2.4 Continuous Monitoring and Logging</a:t>
            </a:r>
          </a:p>
        </p:txBody>
      </p:sp>
      <p:sp>
        <p:nvSpPr>
          <p:cNvPr id="3" name="Content Placeholder 2"/>
          <p:cNvSpPr>
            <a:spLocks noGrp="1"/>
          </p:cNvSpPr>
          <p:nvPr>
            <p:ph idx="1"/>
          </p:nvPr>
        </p:nvSpPr>
        <p:spPr>
          <a:xfrm>
            <a:off x="457200" y="1600200"/>
            <a:ext cx="8229600" cy="4983162"/>
          </a:xfrm>
        </p:spPr>
        <p:txBody>
          <a:bodyPr>
            <a:normAutofit fontScale="92500" lnSpcReduction="10000"/>
          </a:bodyPr>
          <a:lstStyle/>
          <a:p>
            <a:r>
              <a:rPr dirty="0"/>
              <a:t>Continuous monitoring ensures real-time visibility of cloud activities.</a:t>
            </a:r>
            <a:endParaRPr lang="en-IN" dirty="0"/>
          </a:p>
          <a:p>
            <a:r>
              <a:rPr lang="en-US" dirty="0"/>
              <a:t>Technical Features: </a:t>
            </a:r>
          </a:p>
          <a:p>
            <a:pPr marL="0" indent="0">
              <a:buNone/>
            </a:pPr>
            <a:r>
              <a:rPr lang="en-US" dirty="0"/>
              <a:t>• Log aggregation </a:t>
            </a:r>
          </a:p>
          <a:p>
            <a:pPr marL="0" indent="0">
              <a:buNone/>
            </a:pPr>
            <a:r>
              <a:rPr lang="en-US" dirty="0"/>
              <a:t>• Event correlation </a:t>
            </a:r>
          </a:p>
          <a:p>
            <a:pPr marL="0" indent="0">
              <a:buNone/>
            </a:pPr>
            <a:r>
              <a:rPr lang="en-US" dirty="0"/>
              <a:t>• Behavioral analytics </a:t>
            </a:r>
          </a:p>
          <a:p>
            <a:pPr marL="0" indent="0">
              <a:buNone/>
            </a:pPr>
            <a:r>
              <a:rPr lang="en-US" dirty="0"/>
              <a:t>• Real-time alerting </a:t>
            </a:r>
          </a:p>
          <a:p>
            <a:pPr marL="0" indent="0">
              <a:buNone/>
            </a:pPr>
            <a:r>
              <a:rPr lang="en-US" dirty="0"/>
              <a:t>• Security dashboards </a:t>
            </a:r>
          </a:p>
          <a:p>
            <a:pPr marL="0" indent="0">
              <a:buNone/>
            </a:pPr>
            <a:r>
              <a:rPr lang="en-US" dirty="0"/>
              <a:t>Logs are collected from servers, applications, and network devices to detect suspicious activities. </a:t>
            </a:r>
            <a:endParaRPr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2.5 Cloud Security Posture Management (CSPM)</a:t>
            </a:r>
          </a:p>
        </p:txBody>
      </p:sp>
      <p:sp>
        <p:nvSpPr>
          <p:cNvPr id="3" name="Content Placeholder 2"/>
          <p:cNvSpPr>
            <a:spLocks noGrp="1"/>
          </p:cNvSpPr>
          <p:nvPr>
            <p:ph idx="1"/>
          </p:nvPr>
        </p:nvSpPr>
        <p:spPr>
          <a:xfrm>
            <a:off x="457200" y="1600200"/>
            <a:ext cx="8229600" cy="4983162"/>
          </a:xfrm>
        </p:spPr>
        <p:txBody>
          <a:bodyPr>
            <a:normAutofit fontScale="92500" lnSpcReduction="10000"/>
          </a:bodyPr>
          <a:lstStyle/>
          <a:p>
            <a:r>
              <a:rPr dirty="0"/>
              <a:t>CSPM tools automatically scan cloud environments for misconfigurations.</a:t>
            </a:r>
            <a:endParaRPr lang="en-IN" dirty="0"/>
          </a:p>
          <a:p>
            <a:pPr marL="0" indent="0">
              <a:buNone/>
            </a:pPr>
            <a:r>
              <a:rPr lang="en-US" dirty="0"/>
              <a:t>Technical Capabilities: </a:t>
            </a:r>
          </a:p>
          <a:p>
            <a:pPr marL="0" indent="0">
              <a:buNone/>
            </a:pPr>
            <a:r>
              <a:rPr lang="en-US" dirty="0"/>
              <a:t>• Automated compliance checks </a:t>
            </a:r>
          </a:p>
          <a:p>
            <a:pPr marL="0" indent="0">
              <a:buNone/>
            </a:pPr>
            <a:r>
              <a:rPr lang="en-US" dirty="0"/>
              <a:t>• Configuration scanning </a:t>
            </a:r>
          </a:p>
          <a:p>
            <a:pPr marL="0" indent="0">
              <a:buNone/>
            </a:pPr>
            <a:r>
              <a:rPr lang="en-US" dirty="0"/>
              <a:t>• Risk scoring </a:t>
            </a:r>
          </a:p>
          <a:p>
            <a:pPr marL="0" indent="0">
              <a:buNone/>
            </a:pPr>
            <a:r>
              <a:rPr lang="en-US" dirty="0"/>
              <a:t>• Policy enforcement </a:t>
            </a:r>
          </a:p>
          <a:p>
            <a:pPr marL="0" indent="0">
              <a:buNone/>
            </a:pPr>
            <a:r>
              <a:rPr lang="en-US" dirty="0"/>
              <a:t>• Auto-remediation scripts </a:t>
            </a:r>
          </a:p>
          <a:p>
            <a:pPr marL="0" indent="0">
              <a:buNone/>
            </a:pPr>
            <a:r>
              <a:rPr lang="en-US" dirty="0"/>
              <a:t>CSPM prevents issues such as public storage exposure or weak access policies.</a:t>
            </a:r>
            <a:endParaRPr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Auto-remediation scripts</a:t>
            </a:r>
          </a:p>
        </p:txBody>
      </p:sp>
      <p:sp>
        <p:nvSpPr>
          <p:cNvPr id="3" name="Content Placeholder 2"/>
          <p:cNvSpPr>
            <a:spLocks noGrp="1"/>
          </p:cNvSpPr>
          <p:nvPr>
            <p:ph idx="1"/>
          </p:nvPr>
        </p:nvSpPr>
        <p:spPr/>
        <p:txBody>
          <a:bodyPr/>
          <a:lstStyle/>
          <a:p>
            <a:r>
              <a:t>CSPM prevents issues such as public storage exposure or weak access policies.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2.6 Endpoint Detection and Response (EDR)</a:t>
            </a:r>
          </a:p>
        </p:txBody>
      </p:sp>
      <p:sp>
        <p:nvSpPr>
          <p:cNvPr id="3" name="Content Placeholder 2"/>
          <p:cNvSpPr>
            <a:spLocks noGrp="1"/>
          </p:cNvSpPr>
          <p:nvPr>
            <p:ph idx="1"/>
          </p:nvPr>
        </p:nvSpPr>
        <p:spPr>
          <a:xfrm>
            <a:off x="457200" y="1600200"/>
            <a:ext cx="8229600" cy="4983162"/>
          </a:xfrm>
        </p:spPr>
        <p:txBody>
          <a:bodyPr>
            <a:normAutofit fontScale="92500" lnSpcReduction="10000"/>
          </a:bodyPr>
          <a:lstStyle/>
          <a:p>
            <a:r>
              <a:rPr dirty="0"/>
              <a:t>EDR protects endpoints like virtual machines and cloud servers.</a:t>
            </a:r>
            <a:endParaRPr lang="en-IN" dirty="0"/>
          </a:p>
          <a:p>
            <a:pPr marL="0" indent="0">
              <a:buNone/>
            </a:pPr>
            <a:r>
              <a:rPr lang="en-US" dirty="0"/>
              <a:t>Technical Features: </a:t>
            </a:r>
          </a:p>
          <a:p>
            <a:pPr marL="0" indent="0">
              <a:buNone/>
            </a:pPr>
            <a:r>
              <a:rPr lang="en-US" dirty="0"/>
              <a:t>• Behavioral threat detection</a:t>
            </a:r>
          </a:p>
          <a:p>
            <a:pPr marL="0" indent="0">
              <a:buNone/>
            </a:pPr>
            <a:r>
              <a:rPr lang="en-US" dirty="0"/>
              <a:t>• Malware analysis </a:t>
            </a:r>
          </a:p>
          <a:p>
            <a:pPr marL="0" indent="0">
              <a:buNone/>
            </a:pPr>
            <a:r>
              <a:rPr lang="en-US" dirty="0"/>
              <a:t>• Process monitoring </a:t>
            </a:r>
          </a:p>
          <a:p>
            <a:pPr marL="0" indent="0">
              <a:buNone/>
            </a:pPr>
            <a:r>
              <a:rPr lang="en-US" dirty="0"/>
              <a:t>• File integrity monitoring </a:t>
            </a:r>
          </a:p>
          <a:p>
            <a:pPr marL="0" indent="0">
              <a:buNone/>
            </a:pPr>
            <a:r>
              <a:rPr lang="en-US" dirty="0"/>
              <a:t>• Automated isolation of infected systems </a:t>
            </a:r>
          </a:p>
          <a:p>
            <a:pPr marL="0" indent="0">
              <a:buNone/>
            </a:pPr>
            <a:r>
              <a:rPr lang="en-US" dirty="0"/>
              <a:t>EDR detects advanced threats that bypass traditional antivirus systems.</a:t>
            </a:r>
            <a:endParaRPr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2.7 API Security</a:t>
            </a:r>
          </a:p>
        </p:txBody>
      </p:sp>
      <p:sp>
        <p:nvSpPr>
          <p:cNvPr id="3" name="Content Placeholder 2"/>
          <p:cNvSpPr>
            <a:spLocks noGrp="1"/>
          </p:cNvSpPr>
          <p:nvPr>
            <p:ph idx="1"/>
          </p:nvPr>
        </p:nvSpPr>
        <p:spPr>
          <a:xfrm>
            <a:off x="457200" y="1600200"/>
            <a:ext cx="8229600" cy="4983162"/>
          </a:xfrm>
        </p:spPr>
        <p:txBody>
          <a:bodyPr>
            <a:normAutofit fontScale="92500" lnSpcReduction="20000"/>
          </a:bodyPr>
          <a:lstStyle/>
          <a:p>
            <a:r>
              <a:rPr dirty="0"/>
              <a:t>Cloud services heavily rely on APIs (Application Programming Interfaces). Securing APIs is essential.</a:t>
            </a:r>
            <a:endParaRPr lang="en-IN" dirty="0"/>
          </a:p>
          <a:p>
            <a:pPr marL="0" indent="0">
              <a:buNone/>
            </a:pPr>
            <a:r>
              <a:rPr lang="en-US" dirty="0"/>
              <a:t>Technical Controls: </a:t>
            </a:r>
          </a:p>
          <a:p>
            <a:pPr marL="0" indent="0">
              <a:buNone/>
            </a:pPr>
            <a:r>
              <a:rPr lang="en-US" dirty="0"/>
              <a:t>• API authentication tokens </a:t>
            </a:r>
          </a:p>
          <a:p>
            <a:pPr marL="0" indent="0">
              <a:buNone/>
            </a:pPr>
            <a:r>
              <a:rPr lang="en-US" dirty="0"/>
              <a:t>• OAuth 2.0 authorization </a:t>
            </a:r>
          </a:p>
          <a:p>
            <a:pPr marL="0" indent="0">
              <a:buNone/>
            </a:pPr>
            <a:r>
              <a:rPr lang="en-US" dirty="0"/>
              <a:t>• Rate limiting </a:t>
            </a:r>
          </a:p>
          <a:p>
            <a:pPr marL="0" indent="0">
              <a:buNone/>
            </a:pPr>
            <a:r>
              <a:rPr lang="en-US" dirty="0"/>
              <a:t>• API gateways </a:t>
            </a:r>
          </a:p>
          <a:p>
            <a:pPr marL="0" indent="0">
              <a:buNone/>
            </a:pPr>
            <a:r>
              <a:rPr lang="en-US" dirty="0"/>
              <a:t>• Input validation </a:t>
            </a:r>
          </a:p>
          <a:p>
            <a:pPr marL="0" indent="0">
              <a:buNone/>
            </a:pPr>
            <a:r>
              <a:rPr lang="en-US" dirty="0"/>
              <a:t>API security prevents attackers from exploiting cloud service integrations.</a:t>
            </a:r>
            <a:endParaRPr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2.8 Security Automation and Orchestration</a:t>
            </a:r>
          </a:p>
        </p:txBody>
      </p:sp>
      <p:sp>
        <p:nvSpPr>
          <p:cNvPr id="3" name="Content Placeholder 2"/>
          <p:cNvSpPr>
            <a:spLocks noGrp="1"/>
          </p:cNvSpPr>
          <p:nvPr>
            <p:ph idx="1"/>
          </p:nvPr>
        </p:nvSpPr>
        <p:spPr>
          <a:xfrm>
            <a:off x="457200" y="1600200"/>
            <a:ext cx="8229600" cy="4983162"/>
          </a:xfrm>
        </p:spPr>
        <p:txBody>
          <a:bodyPr>
            <a:normAutofit fontScale="92500" lnSpcReduction="10000"/>
          </a:bodyPr>
          <a:lstStyle/>
          <a:p>
            <a:r>
              <a:rPr dirty="0"/>
              <a:t>Modern cloud security platforms use automation to reduce response time.</a:t>
            </a:r>
            <a:endParaRPr lang="en-IN" dirty="0"/>
          </a:p>
          <a:p>
            <a:pPr marL="0" indent="0">
              <a:buNone/>
            </a:pPr>
            <a:r>
              <a:rPr lang="en-US" dirty="0"/>
              <a:t>Technical Features: </a:t>
            </a:r>
          </a:p>
          <a:p>
            <a:pPr marL="0" indent="0">
              <a:buNone/>
            </a:pPr>
            <a:r>
              <a:rPr lang="en-US" dirty="0"/>
              <a:t>• Automated incident response </a:t>
            </a:r>
          </a:p>
          <a:p>
            <a:pPr marL="0" indent="0">
              <a:buNone/>
            </a:pPr>
            <a:r>
              <a:rPr lang="en-US" dirty="0"/>
              <a:t>• Security playbooks </a:t>
            </a:r>
          </a:p>
          <a:p>
            <a:pPr marL="0" indent="0">
              <a:buNone/>
            </a:pPr>
            <a:r>
              <a:rPr lang="en-US" dirty="0"/>
              <a:t>• Policy-based remediation </a:t>
            </a:r>
          </a:p>
          <a:p>
            <a:pPr marL="0" indent="0">
              <a:buNone/>
            </a:pPr>
            <a:r>
              <a:rPr lang="en-US" dirty="0"/>
              <a:t>• Integration with DevOps pipelines </a:t>
            </a:r>
          </a:p>
          <a:p>
            <a:pPr marL="0" indent="0">
              <a:buNone/>
            </a:pPr>
            <a:r>
              <a:rPr lang="en-US" dirty="0"/>
              <a:t>• Infrastructure-as-Code scanning </a:t>
            </a:r>
          </a:p>
          <a:p>
            <a:pPr marL="0" indent="0">
              <a:buNone/>
            </a:pPr>
            <a:r>
              <a:rPr lang="en-US" dirty="0"/>
              <a:t>Automation ensures faster detection and containment of threats. </a:t>
            </a:r>
            <a:endParaRPr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8. Advantages of project</a:t>
            </a:r>
          </a:p>
        </p:txBody>
      </p:sp>
      <p:sp>
        <p:nvSpPr>
          <p:cNvPr id="3" name="Content Placeholder 2"/>
          <p:cNvSpPr>
            <a:spLocks noGrp="1"/>
          </p:cNvSpPr>
          <p:nvPr>
            <p:ph idx="1"/>
          </p:nvPr>
        </p:nvSpPr>
        <p:spPr/>
        <p:txBody>
          <a:bodyPr>
            <a:normAutofit fontScale="85000" lnSpcReduction="20000"/>
          </a:bodyPr>
          <a:lstStyle/>
          <a:p>
            <a:r>
              <a:t>Cloud security plays a vital role in protecting cloud-based infrastructure, applications, and sensitive data from cyber threats. As businesses increasingly adopt cloud platforms such as Amazon Web Services, Microsoft Azure, and Google Cloud Platform, implementing a cloud security system has become essential.</a:t>
            </a:r>
          </a:p>
          <a:p>
            <a:r>
              <a:t>A cloud security project, especially one integrating Cloud Security Posture Management (CSPM) and Endpoint Detection &amp; Response (EDR), offers multiple technical, operational, and business advantages. These advantages not only protect digital assets but also improve efficiency and trust.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1 Centralized Security Management</a:t>
            </a:r>
          </a:p>
        </p:txBody>
      </p:sp>
      <p:sp>
        <p:nvSpPr>
          <p:cNvPr id="3" name="Content Placeholder 2"/>
          <p:cNvSpPr>
            <a:spLocks noGrp="1"/>
          </p:cNvSpPr>
          <p:nvPr>
            <p:ph idx="1"/>
          </p:nvPr>
        </p:nvSpPr>
        <p:spPr>
          <a:xfrm>
            <a:off x="457200" y="1593787"/>
            <a:ext cx="8229600" cy="5099621"/>
          </a:xfrm>
        </p:spPr>
        <p:txBody>
          <a:bodyPr>
            <a:normAutofit/>
          </a:bodyPr>
          <a:lstStyle/>
          <a:p>
            <a:r>
              <a:rPr dirty="0"/>
              <a:t>A cloud security project provides a centralized dashboard to manage multiple cloud accounts and endpoints.</a:t>
            </a:r>
            <a:endParaRPr lang="en-IN" dirty="0"/>
          </a:p>
          <a:p>
            <a:pPr marL="0" indent="0">
              <a:buNone/>
            </a:pPr>
            <a:r>
              <a:rPr lang="en-US" dirty="0"/>
              <a:t>Benefits: </a:t>
            </a:r>
          </a:p>
          <a:p>
            <a:pPr marL="0" indent="0">
              <a:buNone/>
            </a:pPr>
            <a:r>
              <a:rPr lang="en-US" dirty="0"/>
              <a:t>• Single control panel </a:t>
            </a:r>
          </a:p>
          <a:p>
            <a:pPr marL="0" indent="0">
              <a:buNone/>
            </a:pPr>
            <a:r>
              <a:rPr lang="en-US" dirty="0"/>
              <a:t>• Unified visibility </a:t>
            </a:r>
          </a:p>
          <a:p>
            <a:pPr marL="0" indent="0">
              <a:buNone/>
            </a:pPr>
            <a:r>
              <a:rPr lang="en-US" dirty="0"/>
              <a:t>• Simplified security operations </a:t>
            </a:r>
          </a:p>
          <a:p>
            <a:pPr marL="0" indent="0">
              <a:buNone/>
            </a:pPr>
            <a:r>
              <a:rPr lang="en-US" dirty="0"/>
              <a:t>This reduces complexity in multi-cloud environments.</a:t>
            </a:r>
            <a:endParaRPr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2 Improved Compliance Management</a:t>
            </a:r>
          </a:p>
        </p:txBody>
      </p:sp>
      <p:sp>
        <p:nvSpPr>
          <p:cNvPr id="3" name="Content Placeholder 2"/>
          <p:cNvSpPr>
            <a:spLocks noGrp="1"/>
          </p:cNvSpPr>
          <p:nvPr>
            <p:ph idx="1"/>
          </p:nvPr>
        </p:nvSpPr>
        <p:spPr/>
        <p:txBody>
          <a:bodyPr/>
          <a:lstStyle/>
          <a:p>
            <a:r>
              <a:rPr dirty="0"/>
              <a:t>Organizations must follow legal standards such as GDPR, ISO, or PCI-DSS.</a:t>
            </a:r>
            <a:endParaRPr lang="en-IN" dirty="0"/>
          </a:p>
          <a:p>
            <a:pPr marL="0" indent="0">
              <a:buNone/>
            </a:pPr>
            <a:r>
              <a:rPr lang="en-US" dirty="0"/>
              <a:t>Benefits: </a:t>
            </a:r>
          </a:p>
          <a:p>
            <a:pPr marL="0" indent="0">
              <a:buNone/>
            </a:pPr>
            <a:r>
              <a:rPr lang="en-US" dirty="0"/>
              <a:t>• Automatic compliance checks </a:t>
            </a:r>
          </a:p>
          <a:p>
            <a:pPr marL="0" indent="0">
              <a:buNone/>
            </a:pPr>
            <a:r>
              <a:rPr lang="en-US" dirty="0"/>
              <a:t>• Audit-ready reports </a:t>
            </a:r>
          </a:p>
          <a:p>
            <a:pPr marL="0" indent="0">
              <a:buNone/>
            </a:pPr>
            <a:r>
              <a:rPr lang="en-US" dirty="0"/>
              <a:t>• Reduced risk of legal penalties</a:t>
            </a:r>
          </a:p>
          <a:p>
            <a:pPr marL="0" indent="0">
              <a:buNone/>
            </a:pPr>
            <a:r>
              <a:rPr lang="en-US" dirty="0"/>
              <a:t>The system continuously ensures that security configurations meet regulatory requirements.</a:t>
            </a:r>
            <a:endParaRPr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3 Reduced Downtime</a:t>
            </a:r>
          </a:p>
        </p:txBody>
      </p:sp>
      <p:sp>
        <p:nvSpPr>
          <p:cNvPr id="3" name="Content Placeholder 2"/>
          <p:cNvSpPr>
            <a:spLocks noGrp="1"/>
          </p:cNvSpPr>
          <p:nvPr>
            <p:ph idx="1"/>
          </p:nvPr>
        </p:nvSpPr>
        <p:spPr/>
        <p:txBody>
          <a:bodyPr/>
          <a:lstStyle/>
          <a:p>
            <a:r>
              <a:rPr dirty="0"/>
              <a:t>By detecting threats early and responding quickly, cloud security minimizes system downtime.</a:t>
            </a:r>
            <a:endParaRPr lang="en-IN" dirty="0"/>
          </a:p>
          <a:p>
            <a:pPr marL="0" indent="0">
              <a:buNone/>
            </a:pPr>
            <a:r>
              <a:rPr lang="en-US" dirty="0"/>
              <a:t>Benefits: </a:t>
            </a:r>
          </a:p>
          <a:p>
            <a:pPr marL="0" indent="0">
              <a:buNone/>
            </a:pPr>
            <a:r>
              <a:rPr lang="en-US" dirty="0"/>
              <a:t>• Faster recovery </a:t>
            </a:r>
          </a:p>
          <a:p>
            <a:pPr marL="0" indent="0">
              <a:buNone/>
            </a:pPr>
            <a:r>
              <a:rPr lang="en-US" dirty="0"/>
              <a:t>• Business continuity </a:t>
            </a:r>
          </a:p>
          <a:p>
            <a:pPr marL="0" indent="0">
              <a:buNone/>
            </a:pPr>
            <a:r>
              <a:rPr lang="en-US" dirty="0"/>
              <a:t>• Reduced service interruptions </a:t>
            </a:r>
          </a:p>
          <a:p>
            <a:pPr marL="0" indent="0">
              <a:buNone/>
            </a:pPr>
            <a:r>
              <a:rPr lang="en-US" dirty="0"/>
              <a:t>This ensures smooth organizational operations.</a:t>
            </a:r>
            <a:endParaRPr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IN" b="1" dirty="0"/>
              <a:t>Financial Advantages</a:t>
            </a:r>
            <a:endParaRPr b="1" dirty="0"/>
          </a:p>
        </p:txBody>
      </p:sp>
      <p:sp>
        <p:nvSpPr>
          <p:cNvPr id="3" name="Content Placeholder 2"/>
          <p:cNvSpPr>
            <a:spLocks noGrp="1"/>
          </p:cNvSpPr>
          <p:nvPr>
            <p:ph idx="1"/>
          </p:nvPr>
        </p:nvSpPr>
        <p:spPr>
          <a:xfrm>
            <a:off x="457200" y="1600200"/>
            <a:ext cx="8229600" cy="4983162"/>
          </a:xfrm>
        </p:spPr>
        <p:txBody>
          <a:bodyPr>
            <a:normAutofit fontScale="92500" lnSpcReduction="10000"/>
          </a:bodyPr>
          <a:lstStyle/>
          <a:p>
            <a:r>
              <a:rPr lang="en-US" dirty="0"/>
              <a:t>1 Cost Savings from Breach Prevention Cyberattacks can cause heavy financial loss. A cloud security project prevents data breaches and reduces recovery costs. </a:t>
            </a:r>
          </a:p>
          <a:p>
            <a:r>
              <a:rPr lang="en-US" dirty="0"/>
              <a:t>Benefits: </a:t>
            </a:r>
          </a:p>
          <a:p>
            <a:pPr marL="0" indent="0">
              <a:buNone/>
            </a:pPr>
            <a:r>
              <a:rPr lang="en-US" dirty="0"/>
              <a:t>• Avoids legal fines </a:t>
            </a:r>
          </a:p>
          <a:p>
            <a:pPr marL="0" indent="0">
              <a:buNone/>
            </a:pPr>
            <a:r>
              <a:rPr lang="en-US" dirty="0"/>
              <a:t>• Prevents customer compensation expenses</a:t>
            </a:r>
          </a:p>
          <a:p>
            <a:pPr marL="0" indent="0">
              <a:buNone/>
            </a:pPr>
            <a:r>
              <a:rPr lang="en-US" dirty="0"/>
              <a:t>• Reduces incident response costs </a:t>
            </a:r>
          </a:p>
          <a:p>
            <a:pPr marL="0" indent="0">
              <a:buNone/>
            </a:pPr>
            <a:r>
              <a:rPr lang="en-US" dirty="0"/>
              <a:t>Preventing a breach is much cheaper than recovering from one.</a:t>
            </a:r>
            <a:endParaRPr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16992"/>
            <a:ext cx="8229600" cy="6230112"/>
          </a:xfrm>
        </p:spPr>
        <p:txBody>
          <a:bodyPr/>
          <a:lstStyle/>
          <a:p>
            <a:pPr marL="0" indent="0">
              <a:buNone/>
            </a:pPr>
            <a:r>
              <a:rPr lang="en-US" dirty="0"/>
              <a:t>2 Scalability Without High Investment </a:t>
            </a:r>
          </a:p>
          <a:p>
            <a:pPr marL="0" indent="0">
              <a:buNone/>
            </a:pPr>
            <a:r>
              <a:rPr lang="en-US" dirty="0"/>
              <a:t>Cloud security systems are scalable and grow with the organization. </a:t>
            </a:r>
          </a:p>
          <a:p>
            <a:pPr marL="0" indent="0">
              <a:buNone/>
            </a:pPr>
            <a:r>
              <a:rPr lang="en-US" dirty="0"/>
              <a:t>Benefits: </a:t>
            </a:r>
          </a:p>
          <a:p>
            <a:pPr marL="0" indent="0">
              <a:buNone/>
            </a:pPr>
            <a:r>
              <a:rPr lang="en-US" dirty="0"/>
              <a:t>• No need for large hardware investments </a:t>
            </a:r>
          </a:p>
          <a:p>
            <a:pPr marL="0" indent="0">
              <a:buNone/>
            </a:pPr>
            <a:r>
              <a:rPr lang="en-US" dirty="0"/>
              <a:t>• Flexible subscription models </a:t>
            </a:r>
          </a:p>
          <a:p>
            <a:pPr marL="0" indent="0">
              <a:buNone/>
            </a:pPr>
            <a:r>
              <a:rPr lang="en-US" dirty="0"/>
              <a:t>• Pay-as-you-grow approach </a:t>
            </a:r>
          </a:p>
          <a:p>
            <a:pPr marL="0" indent="0">
              <a:buNone/>
            </a:pPr>
            <a:r>
              <a:rPr lang="en-US" dirty="0"/>
              <a:t>This makes it suitable for startups and enterprises alike.</a:t>
            </a:r>
            <a:endParaRPr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b="1" dirty="0"/>
              <a:t>Strategic Advantages</a:t>
            </a:r>
            <a:endParaRPr b="1" dirty="0"/>
          </a:p>
        </p:txBody>
      </p:sp>
      <p:sp>
        <p:nvSpPr>
          <p:cNvPr id="3" name="Content Placeholder 2"/>
          <p:cNvSpPr>
            <a:spLocks noGrp="1"/>
          </p:cNvSpPr>
          <p:nvPr>
            <p:ph idx="1"/>
          </p:nvPr>
        </p:nvSpPr>
        <p:spPr>
          <a:xfrm>
            <a:off x="457200" y="1600200"/>
            <a:ext cx="8229600" cy="4885944"/>
          </a:xfrm>
        </p:spPr>
        <p:txBody>
          <a:bodyPr>
            <a:normAutofit/>
          </a:bodyPr>
          <a:lstStyle/>
          <a:p>
            <a:pPr marL="0" indent="0">
              <a:buNone/>
            </a:pPr>
            <a:r>
              <a:rPr lang="en-US" dirty="0"/>
              <a:t>1 Increased Customer Trust </a:t>
            </a:r>
          </a:p>
          <a:p>
            <a:pPr marL="0" indent="0">
              <a:buNone/>
            </a:pPr>
            <a:r>
              <a:rPr lang="en-US" dirty="0"/>
              <a:t>Customers prefer organizations that protect their data properly. </a:t>
            </a:r>
          </a:p>
          <a:p>
            <a:pPr marL="0" indent="0">
              <a:buNone/>
            </a:pPr>
            <a:r>
              <a:rPr lang="en-US" dirty="0"/>
              <a:t>Benefits: </a:t>
            </a:r>
          </a:p>
          <a:p>
            <a:pPr marL="0" indent="0">
              <a:buNone/>
            </a:pPr>
            <a:r>
              <a:rPr lang="en-US" dirty="0"/>
              <a:t>• Strong reputation </a:t>
            </a:r>
          </a:p>
          <a:p>
            <a:pPr marL="0" indent="0">
              <a:buNone/>
            </a:pPr>
            <a:r>
              <a:rPr lang="en-US" dirty="0"/>
              <a:t>• Improved brand image </a:t>
            </a:r>
          </a:p>
          <a:p>
            <a:pPr marL="0" indent="0">
              <a:buNone/>
            </a:pPr>
            <a:r>
              <a:rPr lang="en-US" dirty="0"/>
              <a:t>• Customer confidence </a:t>
            </a:r>
          </a:p>
          <a:p>
            <a:pPr marL="0" indent="0">
              <a:buNone/>
            </a:pPr>
            <a:r>
              <a:rPr lang="en-US" dirty="0"/>
              <a:t>Security builds trust in digital services. </a:t>
            </a:r>
            <a:endParaRPr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53568"/>
            <a:ext cx="8229600" cy="6230112"/>
          </a:xfrm>
        </p:spPr>
        <p:txBody>
          <a:bodyPr>
            <a:normAutofit fontScale="77500" lnSpcReduction="20000"/>
          </a:bodyPr>
          <a:lstStyle/>
          <a:p>
            <a:pPr marL="0" indent="0">
              <a:buNone/>
            </a:pPr>
            <a:r>
              <a:rPr lang="en-US" dirty="0"/>
              <a:t>2 Competitive Advantage </a:t>
            </a:r>
          </a:p>
          <a:p>
            <a:r>
              <a:rPr lang="en-US" dirty="0"/>
              <a:t>Organizations with strong cloud security systems gain an advantage over competitors.</a:t>
            </a:r>
          </a:p>
          <a:p>
            <a:pPr marL="0" indent="0">
              <a:buNone/>
            </a:pPr>
            <a:r>
              <a:rPr lang="en-US" dirty="0"/>
              <a:t> Benefits: </a:t>
            </a:r>
          </a:p>
          <a:p>
            <a:pPr marL="0" indent="0">
              <a:buNone/>
            </a:pPr>
            <a:r>
              <a:rPr lang="en-US" dirty="0"/>
              <a:t>• Secure digital transformation </a:t>
            </a:r>
          </a:p>
          <a:p>
            <a:pPr marL="0" indent="0">
              <a:buNone/>
            </a:pPr>
            <a:r>
              <a:rPr lang="en-US" dirty="0"/>
              <a:t>• Faster innovation </a:t>
            </a:r>
          </a:p>
          <a:p>
            <a:pPr marL="0" indent="0">
              <a:buNone/>
            </a:pPr>
            <a:r>
              <a:rPr lang="en-US" dirty="0"/>
              <a:t>• Better risk management </a:t>
            </a:r>
          </a:p>
          <a:p>
            <a:pPr marL="0" indent="0">
              <a:buNone/>
            </a:pPr>
            <a:r>
              <a:rPr lang="en-US" dirty="0"/>
              <a:t>Secure systems allow businesses to innovate without fear of cyber threats.</a:t>
            </a:r>
          </a:p>
          <a:p>
            <a:pPr marL="0" indent="0">
              <a:buNone/>
            </a:pPr>
            <a:r>
              <a:rPr lang="en-US" dirty="0"/>
              <a:t>3 Support for Remote Work </a:t>
            </a:r>
          </a:p>
          <a:p>
            <a:pPr marL="0" indent="0">
              <a:buNone/>
            </a:pPr>
            <a:r>
              <a:rPr lang="en-US" dirty="0"/>
              <a:t>Cloud security enables secure access to cloud resources from anywhere. </a:t>
            </a:r>
          </a:p>
          <a:p>
            <a:pPr marL="0" indent="0">
              <a:buNone/>
            </a:pPr>
            <a:r>
              <a:rPr lang="en-US" dirty="0"/>
              <a:t>Benefits: </a:t>
            </a:r>
          </a:p>
          <a:p>
            <a:pPr marL="0" indent="0">
              <a:buNone/>
            </a:pPr>
            <a:r>
              <a:rPr lang="en-US" dirty="0"/>
              <a:t>• Secure VPN access </a:t>
            </a:r>
          </a:p>
          <a:p>
            <a:pPr marL="0" indent="0">
              <a:buNone/>
            </a:pPr>
            <a:r>
              <a:rPr lang="en-US" dirty="0"/>
              <a:t>• Identity-based authentication </a:t>
            </a:r>
          </a:p>
          <a:p>
            <a:pPr marL="0" indent="0">
              <a:buNone/>
            </a:pPr>
            <a:r>
              <a:rPr lang="en-US" dirty="0"/>
              <a:t>• Endpoint protection</a:t>
            </a:r>
            <a:endParaRPr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1584" y="377952"/>
            <a:ext cx="8229600" cy="6193536"/>
          </a:xfrm>
        </p:spPr>
        <p:txBody>
          <a:bodyPr>
            <a:normAutofit fontScale="92500" lnSpcReduction="10000"/>
          </a:bodyPr>
          <a:lstStyle/>
          <a:p>
            <a:pPr marL="0" indent="0">
              <a:buNone/>
            </a:pPr>
            <a:r>
              <a:rPr lang="en-US" dirty="0"/>
              <a:t>This is essential in modern remote working environments. </a:t>
            </a:r>
          </a:p>
          <a:p>
            <a:pPr marL="0" indent="0">
              <a:buNone/>
            </a:pPr>
            <a:r>
              <a:rPr lang="en-US" dirty="0"/>
              <a:t>Technical Architecture Advantage </a:t>
            </a:r>
          </a:p>
          <a:p>
            <a:pPr marL="0" indent="0">
              <a:buNone/>
            </a:pPr>
            <a:r>
              <a:rPr lang="en-US" dirty="0"/>
              <a:t>Cloud security projects follow a layered architecture approach: </a:t>
            </a:r>
          </a:p>
          <a:p>
            <a:pPr marL="0" indent="0">
              <a:buNone/>
            </a:pPr>
            <a:r>
              <a:rPr lang="en-US" dirty="0"/>
              <a:t>1. Identity Layer </a:t>
            </a:r>
          </a:p>
          <a:p>
            <a:pPr marL="0" indent="0">
              <a:buNone/>
            </a:pPr>
            <a:r>
              <a:rPr lang="en-US" dirty="0"/>
              <a:t>2. Network Security Layer </a:t>
            </a:r>
          </a:p>
          <a:p>
            <a:pPr marL="0" indent="0">
              <a:buNone/>
            </a:pPr>
            <a:r>
              <a:rPr lang="en-US" dirty="0"/>
              <a:t>3. Application Security Layer </a:t>
            </a:r>
          </a:p>
          <a:p>
            <a:pPr marL="0" indent="0">
              <a:buNone/>
            </a:pPr>
            <a:r>
              <a:rPr lang="en-US" dirty="0"/>
              <a:t>4. Data Encryption Layer </a:t>
            </a:r>
          </a:p>
          <a:p>
            <a:pPr marL="0" indent="0">
              <a:buNone/>
            </a:pPr>
            <a:r>
              <a:rPr lang="en-US" dirty="0"/>
              <a:t>5. Monitoring &amp; Response Layer </a:t>
            </a:r>
          </a:p>
          <a:p>
            <a:pPr marL="0" indent="0">
              <a:buNone/>
            </a:pPr>
            <a:r>
              <a:rPr lang="en-US" dirty="0"/>
              <a:t>This multi-layered defense reduces the risk of single-point failure. </a:t>
            </a:r>
            <a:endParaRPr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7. Educational and Project-Level Advantages</a:t>
            </a:r>
          </a:p>
        </p:txBody>
      </p:sp>
      <p:sp>
        <p:nvSpPr>
          <p:cNvPr id="3" name="Content Placeholder 2"/>
          <p:cNvSpPr>
            <a:spLocks noGrp="1"/>
          </p:cNvSpPr>
          <p:nvPr>
            <p:ph idx="1"/>
          </p:nvPr>
        </p:nvSpPr>
        <p:spPr>
          <a:xfrm>
            <a:off x="457200" y="1600200"/>
            <a:ext cx="8229600" cy="4983162"/>
          </a:xfrm>
        </p:spPr>
        <p:txBody>
          <a:bodyPr>
            <a:normAutofit fontScale="85000" lnSpcReduction="20000"/>
          </a:bodyPr>
          <a:lstStyle/>
          <a:p>
            <a:r>
              <a:rPr dirty="0"/>
              <a:t>For academic purposes, a cloud security project offers:</a:t>
            </a:r>
            <a:endParaRPr lang="en-IN" dirty="0"/>
          </a:p>
          <a:p>
            <a:r>
              <a:rPr lang="en-US" dirty="0"/>
              <a:t>Practical understanding of cybersecurity </a:t>
            </a:r>
          </a:p>
          <a:p>
            <a:r>
              <a:rPr lang="en-US" dirty="0"/>
              <a:t>Knowledge of cloud platforms </a:t>
            </a:r>
          </a:p>
          <a:p>
            <a:r>
              <a:rPr lang="en-US" dirty="0"/>
              <a:t>Hands-on experience with security tools </a:t>
            </a:r>
          </a:p>
          <a:p>
            <a:r>
              <a:rPr lang="en-US" dirty="0"/>
              <a:t>Industry-relevant skills </a:t>
            </a:r>
          </a:p>
          <a:p>
            <a:r>
              <a:rPr lang="en-US" dirty="0"/>
              <a:t>Better career opportunities </a:t>
            </a:r>
          </a:p>
          <a:p>
            <a:pPr marL="0" indent="0">
              <a:buNone/>
            </a:pPr>
            <a:r>
              <a:rPr lang="en-US" dirty="0"/>
              <a:t>It prepares students for roles such as: </a:t>
            </a:r>
          </a:p>
          <a:p>
            <a:pPr marL="0" indent="0">
              <a:buNone/>
            </a:pPr>
            <a:r>
              <a:rPr lang="en-US" dirty="0"/>
              <a:t>• Cloud Security Engineer </a:t>
            </a:r>
          </a:p>
          <a:p>
            <a:pPr marL="0" indent="0">
              <a:buNone/>
            </a:pPr>
            <a:r>
              <a:rPr lang="en-US" dirty="0"/>
              <a:t>• Security Analyst </a:t>
            </a:r>
          </a:p>
          <a:p>
            <a:pPr marL="0" indent="0">
              <a:buNone/>
            </a:pPr>
            <a:r>
              <a:rPr lang="en-US" dirty="0"/>
              <a:t>• </a:t>
            </a:r>
            <a:r>
              <a:rPr lang="en-US" dirty="0" err="1"/>
              <a:t>DevSecOps</a:t>
            </a:r>
            <a:r>
              <a:rPr lang="en-US" dirty="0"/>
              <a:t> Engineer </a:t>
            </a:r>
          </a:p>
          <a:p>
            <a:pPr marL="0" indent="0">
              <a:buNone/>
            </a:pPr>
            <a:r>
              <a:rPr lang="en-US" dirty="0"/>
              <a:t>• Cybersecurity Consultant </a:t>
            </a:r>
            <a:endParaRPr lang="en-IN" dirty="0"/>
          </a:p>
          <a:p>
            <a:endParaRPr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Limitation of project </a:t>
            </a:r>
            <a:endParaRPr b="1" dirty="0"/>
          </a:p>
        </p:txBody>
      </p:sp>
      <p:sp>
        <p:nvSpPr>
          <p:cNvPr id="3" name="Content Placeholder 2"/>
          <p:cNvSpPr>
            <a:spLocks noGrp="1"/>
          </p:cNvSpPr>
          <p:nvPr>
            <p:ph idx="1"/>
          </p:nvPr>
        </p:nvSpPr>
        <p:spPr>
          <a:xfrm>
            <a:off x="457200" y="1600200"/>
            <a:ext cx="8229600" cy="4983162"/>
          </a:xfrm>
        </p:spPr>
        <p:txBody>
          <a:bodyPr>
            <a:noAutofit/>
          </a:bodyPr>
          <a:lstStyle/>
          <a:p>
            <a:pPr marL="0" indent="0">
              <a:buNone/>
            </a:pPr>
            <a:r>
              <a:rPr lang="en-IN" sz="2400" dirty="0"/>
              <a:t>1 False Positives and False Negatives</a:t>
            </a:r>
          </a:p>
          <a:p>
            <a:r>
              <a:rPr lang="en-IN" sz="2400" dirty="0"/>
              <a:t>O</a:t>
            </a:r>
            <a:r>
              <a:rPr sz="2400" dirty="0"/>
              <a:t>ne of the common limitations of automated cloud security systems is the occurrence of false positives and false negatives.</a:t>
            </a:r>
          </a:p>
          <a:p>
            <a:r>
              <a:rPr sz="2400" dirty="0"/>
              <a:t>A false positive occurs when the security system incorrectly identifies a normal activity as a threat. This can lead to unnecessary alerts and wasted investigation time.</a:t>
            </a:r>
          </a:p>
          <a:p>
            <a:r>
              <a:rPr sz="2400" dirty="0"/>
              <a:t>A false negative occurs when the system fails to detect an actual security threat. This is more dangerous because attackers may remain undetected within the system.</a:t>
            </a:r>
          </a:p>
          <a:p>
            <a:r>
              <a:rPr sz="2400" dirty="0"/>
              <a:t>For example, a cloud monitoring system may flag legitimate administrator activity as suspicious, creating a false alarm. </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2 Limited Scope</a:t>
            </a:r>
          </a:p>
        </p:txBody>
      </p:sp>
      <p:sp>
        <p:nvSpPr>
          <p:cNvPr id="3" name="Content Placeholder 2"/>
          <p:cNvSpPr>
            <a:spLocks noGrp="1"/>
          </p:cNvSpPr>
          <p:nvPr>
            <p:ph idx="1"/>
          </p:nvPr>
        </p:nvSpPr>
        <p:spPr/>
        <p:txBody>
          <a:bodyPr>
            <a:normAutofit fontScale="77500" lnSpcReduction="20000"/>
          </a:bodyPr>
          <a:lstStyle/>
          <a:p>
            <a:r>
              <a:rPr dirty="0"/>
              <a:t>Cloud security projects sometimes focus only on specific areas of security, such as configuration monitoring or endpoint protection. As a result, certain parts of the cloud environment may remain unprotected.</a:t>
            </a:r>
          </a:p>
          <a:p>
            <a:r>
              <a:rPr dirty="0"/>
              <a:t>For example, a Cloud Security Posture Management system may detect misconfigurations but may not monitor real-time user behavior or advanced malware activity.</a:t>
            </a:r>
          </a:p>
          <a:p>
            <a:r>
              <a:rPr dirty="0"/>
              <a:t>Because cloud environments include many components such as applications, databases, networks, and APIs, covering every possible security risk is extremely challenging.</a:t>
            </a:r>
          </a:p>
          <a:p>
            <a:r>
              <a:rPr dirty="0"/>
              <a:t>Therefore, organizations often need multiple security tools to achieve complete protection.</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417638"/>
          </a:xfrm>
        </p:spPr>
        <p:txBody>
          <a:bodyPr/>
          <a:lstStyle/>
          <a:p>
            <a:r>
              <a:rPr dirty="0"/>
              <a:t>3 Authentication Challenges</a:t>
            </a:r>
          </a:p>
        </p:txBody>
      </p:sp>
      <p:sp>
        <p:nvSpPr>
          <p:cNvPr id="3" name="Content Placeholder 2"/>
          <p:cNvSpPr>
            <a:spLocks noGrp="1"/>
          </p:cNvSpPr>
          <p:nvPr>
            <p:ph idx="1"/>
          </p:nvPr>
        </p:nvSpPr>
        <p:spPr>
          <a:xfrm>
            <a:off x="457200" y="1133856"/>
            <a:ext cx="8229600" cy="5724144"/>
          </a:xfrm>
        </p:spPr>
        <p:txBody>
          <a:bodyPr>
            <a:normAutofit fontScale="85000" lnSpcReduction="20000"/>
          </a:bodyPr>
          <a:lstStyle/>
          <a:p>
            <a:r>
              <a:rPr dirty="0"/>
              <a:t>Authentication plays a critical role in cloud security. However, managing authentication systems can become complicated in large organizations.</a:t>
            </a:r>
          </a:p>
          <a:p>
            <a:r>
              <a:rPr dirty="0"/>
              <a:t>Problems may include:</a:t>
            </a:r>
            <a:endParaRPr lang="en-IN" dirty="0"/>
          </a:p>
          <a:p>
            <a:r>
              <a:rPr lang="en-US" dirty="0"/>
              <a:t>Weak passwords </a:t>
            </a:r>
          </a:p>
          <a:p>
            <a:r>
              <a:rPr lang="en-US" dirty="0"/>
              <a:t>Poor identity management </a:t>
            </a:r>
          </a:p>
          <a:p>
            <a:r>
              <a:rPr lang="en-US" dirty="0"/>
              <a:t>Improper access control policies </a:t>
            </a:r>
          </a:p>
          <a:p>
            <a:r>
              <a:rPr lang="en-US" dirty="0"/>
              <a:t>Misconfigured authentication systems </a:t>
            </a:r>
          </a:p>
          <a:p>
            <a:pPr marL="0" indent="0">
              <a:buNone/>
            </a:pPr>
            <a:r>
              <a:rPr lang="en-US" dirty="0"/>
              <a:t>If authentication mechanisms are not properly implemented, attackers may gain unauthorized access to cloud resources.</a:t>
            </a:r>
          </a:p>
          <a:p>
            <a:pPr marL="0" indent="0">
              <a:buNone/>
            </a:pPr>
            <a:r>
              <a:rPr lang="en-US" dirty="0"/>
              <a:t>For example, if a cloud administrator account does not use multi-factor authentication, attackers could potentially access sensitive systems using stolen credentials.</a:t>
            </a:r>
            <a:endParaRPr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29184"/>
            <a:ext cx="8229600" cy="6242304"/>
          </a:xfrm>
        </p:spPr>
        <p:txBody>
          <a:bodyPr>
            <a:normAutofit fontScale="92500" lnSpcReduction="20000"/>
          </a:bodyPr>
          <a:lstStyle/>
          <a:p>
            <a:pPr marL="0" indent="0">
              <a:buNone/>
            </a:pPr>
            <a:r>
              <a:rPr lang="en-IN" dirty="0"/>
              <a:t>4 Performance Impact</a:t>
            </a:r>
          </a:p>
          <a:p>
            <a:r>
              <a:rPr dirty="0"/>
              <a:t>Security tools such as monitoring systems, encryption mechanisms, and vulnerability scanners can sometimes affect system performance.</a:t>
            </a:r>
          </a:p>
          <a:p>
            <a:r>
              <a:rPr dirty="0"/>
              <a:t>Continuous scanning and logging require computing resources, which may increase processing time and network traffic.</a:t>
            </a:r>
          </a:p>
          <a:p>
            <a:r>
              <a:rPr dirty="0"/>
              <a:t>For example:</a:t>
            </a:r>
            <a:endParaRPr lang="en-IN" dirty="0"/>
          </a:p>
          <a:p>
            <a:pPr marL="0" indent="0">
              <a:buNone/>
            </a:pPr>
            <a:r>
              <a:rPr lang="en-US" dirty="0"/>
              <a:t>Encryption may slow down data processing</a:t>
            </a:r>
          </a:p>
          <a:p>
            <a:pPr marL="0" indent="0">
              <a:buNone/>
            </a:pPr>
            <a:r>
              <a:rPr lang="en-US" dirty="0"/>
              <a:t>Real-time monitoring may consume CPU and memory resources </a:t>
            </a:r>
          </a:p>
          <a:p>
            <a:pPr marL="0" indent="0">
              <a:buNone/>
            </a:pPr>
            <a:r>
              <a:rPr lang="en-US" dirty="0"/>
              <a:t>Security logging may generate large volumes of data</a:t>
            </a:r>
            <a:endParaRPr lang="en-IN" dirty="0"/>
          </a:p>
          <a:p>
            <a:endParaRPr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56032"/>
            <a:ext cx="8229600" cy="5870131"/>
          </a:xfrm>
        </p:spPr>
        <p:txBody>
          <a:bodyPr>
            <a:normAutofit fontScale="92500" lnSpcReduction="20000"/>
          </a:bodyPr>
          <a:lstStyle/>
          <a:p>
            <a:pPr marL="0" indent="0">
              <a:buNone/>
            </a:pPr>
            <a:r>
              <a:rPr lang="en-IN" b="1" dirty="0"/>
              <a:t>5 Dynamic Content Issues</a:t>
            </a:r>
          </a:p>
          <a:p>
            <a:r>
              <a:rPr dirty="0"/>
              <a:t>Cloud environments are highly dynamic. Resources such as virtual machines, containers, and applications are frequently created, modified, and deleted.</a:t>
            </a:r>
          </a:p>
          <a:p>
            <a:r>
              <a:rPr dirty="0"/>
              <a:t>Because of this dynamic nature, security systems may struggle to keep track of rapidly changing environments.</a:t>
            </a:r>
          </a:p>
          <a:p>
            <a:r>
              <a:rPr dirty="0"/>
              <a:t>For example, a newly deployed cloud server may not immediately be included in the security monitoring system. During this gap, the server may remain vulnerable to attacks.</a:t>
            </a:r>
          </a:p>
          <a:p>
            <a:r>
              <a:rPr dirty="0"/>
              <a:t>Dynamic cloud environments require highly adaptive and automated security tools.</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16992"/>
            <a:ext cx="8229600" cy="6327648"/>
          </a:xfrm>
        </p:spPr>
        <p:txBody>
          <a:bodyPr>
            <a:normAutofit fontScale="92500" lnSpcReduction="20000"/>
          </a:bodyPr>
          <a:lstStyle/>
          <a:p>
            <a:pPr marL="0" indent="0">
              <a:buNone/>
            </a:pPr>
            <a:r>
              <a:rPr lang="en-US" b="1" dirty="0"/>
              <a:t>6 Incomplete Coverage </a:t>
            </a:r>
          </a:p>
          <a:p>
            <a:pPr marL="0" indent="0">
              <a:buNone/>
            </a:pPr>
            <a:r>
              <a:rPr lang="en-US" dirty="0"/>
              <a:t>Another limitation of cloud security projects is incomplete security coverage. Some security systems may not monitor all parts of the infrastructure. </a:t>
            </a:r>
          </a:p>
          <a:p>
            <a:pPr marL="0" indent="0">
              <a:buNone/>
            </a:pPr>
            <a:r>
              <a:rPr lang="en-US" dirty="0"/>
              <a:t>For example: </a:t>
            </a:r>
          </a:p>
          <a:p>
            <a:pPr marL="0" indent="0">
              <a:buNone/>
            </a:pPr>
            <a:r>
              <a:rPr lang="en-US" dirty="0"/>
              <a:t>• Certain APIs may not be scanned </a:t>
            </a:r>
          </a:p>
          <a:p>
            <a:pPr marL="0" indent="0">
              <a:buNone/>
            </a:pPr>
            <a:r>
              <a:rPr lang="en-US" dirty="0"/>
              <a:t>• Some network components may lack monitoring </a:t>
            </a:r>
          </a:p>
          <a:p>
            <a:pPr marL="0" indent="0">
              <a:buNone/>
            </a:pPr>
            <a:r>
              <a:rPr lang="en-US" dirty="0"/>
              <a:t>• Third-party integrations may not be fully protected </a:t>
            </a:r>
          </a:p>
          <a:p>
            <a:pPr marL="0" indent="0">
              <a:buNone/>
            </a:pPr>
            <a:r>
              <a:rPr lang="en-US" dirty="0"/>
              <a:t>Attackers often exploit these unmonitored areas to gain access to cloud systems. </a:t>
            </a:r>
          </a:p>
          <a:p>
            <a:pPr marL="0" indent="0">
              <a:buNone/>
            </a:pPr>
            <a:r>
              <a:rPr lang="en-US" dirty="0"/>
              <a:t>Achieving complete visibility across complex cloud environments remains a significant challenge.</a:t>
            </a:r>
            <a:endParaRPr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65760"/>
            <a:ext cx="8229600" cy="5760403"/>
          </a:xfrm>
        </p:spPr>
        <p:txBody>
          <a:bodyPr>
            <a:normAutofit fontScale="92500" lnSpcReduction="20000"/>
          </a:bodyPr>
          <a:lstStyle/>
          <a:p>
            <a:pPr marL="0" indent="0">
              <a:buNone/>
            </a:pPr>
            <a:r>
              <a:rPr lang="en-US" dirty="0"/>
              <a:t>7 Lack of Human Intelligence</a:t>
            </a:r>
            <a:endParaRPr lang="en-IN" dirty="0"/>
          </a:p>
          <a:p>
            <a:r>
              <a:rPr dirty="0"/>
              <a:t>Many cloud security tools rely heavily on automation and machine-based analysis. While automation improves efficiency, it cannot fully replace human intelligence.</a:t>
            </a:r>
          </a:p>
          <a:p>
            <a:r>
              <a:rPr dirty="0"/>
              <a:t>Human security analysts can recognize unusual patterns, understand business context, and make strategic decisions that automated systems may miss.</a:t>
            </a:r>
          </a:p>
          <a:p>
            <a:r>
              <a:rPr dirty="0"/>
              <a:t>For example, a security system may fail to recognize subtle insider threats that a trained analyst might detect through behavioral analysis.</a:t>
            </a:r>
          </a:p>
          <a:p>
            <a:r>
              <a:rPr dirty="0"/>
              <a:t>Therefore, human expertise remains essential in cloud security operations.</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53568"/>
            <a:ext cx="8229600" cy="6120384"/>
          </a:xfrm>
        </p:spPr>
        <p:txBody>
          <a:bodyPr>
            <a:normAutofit fontScale="92500" lnSpcReduction="20000"/>
          </a:bodyPr>
          <a:lstStyle/>
          <a:p>
            <a:pPr marL="0" indent="0">
              <a:buNone/>
            </a:pPr>
            <a:r>
              <a:rPr lang="en-IN" dirty="0"/>
              <a:t>8 Configuration Dependent Security</a:t>
            </a:r>
          </a:p>
          <a:p>
            <a:pPr marL="0" indent="0">
              <a:buNone/>
            </a:pPr>
            <a:r>
              <a:rPr lang="en-US" dirty="0"/>
              <a:t>Cloud security systems depend heavily on proper configuration. If the security tools themselves are configured incorrectly, they may fail to detect threats or enforce policies. </a:t>
            </a:r>
          </a:p>
          <a:p>
            <a:pPr marL="0" indent="0">
              <a:buNone/>
            </a:pPr>
            <a:r>
              <a:rPr lang="en-US" dirty="0"/>
              <a:t>For example: </a:t>
            </a:r>
          </a:p>
          <a:p>
            <a:pPr marL="0" indent="0">
              <a:buNone/>
            </a:pPr>
            <a:r>
              <a:rPr lang="en-US" dirty="0"/>
              <a:t>• Incorrect firewall rules </a:t>
            </a:r>
          </a:p>
          <a:p>
            <a:pPr marL="0" indent="0">
              <a:buNone/>
            </a:pPr>
            <a:r>
              <a:rPr lang="en-US" dirty="0"/>
              <a:t>• Improper logging configuration </a:t>
            </a:r>
          </a:p>
          <a:p>
            <a:pPr marL="0" indent="0">
              <a:buNone/>
            </a:pPr>
            <a:r>
              <a:rPr lang="en-US" dirty="0"/>
              <a:t>• Disabled monitoring features </a:t>
            </a:r>
          </a:p>
          <a:p>
            <a:pPr marL="0" indent="0">
              <a:buNone/>
            </a:pPr>
            <a:r>
              <a:rPr lang="en-US" dirty="0"/>
              <a:t>Such configuration mistakes can weaken the effectiveness of the entire security system. </a:t>
            </a:r>
          </a:p>
          <a:p>
            <a:pPr marL="0" indent="0">
              <a:buNone/>
            </a:pPr>
            <a:r>
              <a:rPr lang="en-US" dirty="0"/>
              <a:t>Regular audits and configuration reviews are necessary to ensure proper security implementation.</a:t>
            </a:r>
            <a:endParaRPr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80416"/>
            <a:ext cx="8229600" cy="6230112"/>
          </a:xfrm>
        </p:spPr>
        <p:txBody>
          <a:bodyPr>
            <a:normAutofit fontScale="92500" lnSpcReduction="20000"/>
          </a:bodyPr>
          <a:lstStyle/>
          <a:p>
            <a:pPr marL="0" indent="0">
              <a:buNone/>
            </a:pPr>
            <a:r>
              <a:rPr lang="en-US" dirty="0"/>
              <a:t>9 Legal and Compliance Restrictions </a:t>
            </a:r>
          </a:p>
          <a:p>
            <a:pPr marL="0" indent="0">
              <a:buNone/>
            </a:pPr>
            <a:r>
              <a:rPr lang="en-US" dirty="0"/>
              <a:t>Different countries have different data protection laws and regulations. These legal restrictions can limit how organizations implement cloud security systems. </a:t>
            </a:r>
          </a:p>
          <a:p>
            <a:pPr marL="0" indent="0">
              <a:buNone/>
            </a:pPr>
            <a:r>
              <a:rPr lang="en-US" dirty="0"/>
              <a:t>For example: </a:t>
            </a:r>
          </a:p>
          <a:p>
            <a:pPr marL="0" indent="0">
              <a:buNone/>
            </a:pPr>
            <a:r>
              <a:rPr lang="en-US" dirty="0"/>
              <a:t>• Data may need to remain within specific geographic regions </a:t>
            </a:r>
          </a:p>
          <a:p>
            <a:pPr marL="0" indent="0">
              <a:buNone/>
            </a:pPr>
            <a:r>
              <a:rPr lang="en-US" dirty="0"/>
              <a:t>• Certain monitoring activities may raise privacy concerns </a:t>
            </a:r>
          </a:p>
          <a:p>
            <a:pPr marL="0" indent="0">
              <a:buNone/>
            </a:pPr>
            <a:r>
              <a:rPr lang="en-US" dirty="0"/>
              <a:t>• Logging user activities may require legal approval </a:t>
            </a:r>
          </a:p>
          <a:p>
            <a:pPr marL="0" indent="0">
              <a:buNone/>
            </a:pPr>
            <a:r>
              <a:rPr lang="en-US" dirty="0"/>
              <a:t>These legal requirements can complicate security operations and limit the ability to perform certain security actions.</a:t>
            </a:r>
            <a:endParaRPr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80416"/>
            <a:ext cx="8229600" cy="5845747"/>
          </a:xfrm>
        </p:spPr>
        <p:txBody>
          <a:bodyPr>
            <a:normAutofit fontScale="92500" lnSpcReduction="20000"/>
          </a:bodyPr>
          <a:lstStyle/>
          <a:p>
            <a:pPr marL="0" indent="0">
              <a:buNone/>
            </a:pPr>
            <a:r>
              <a:rPr lang="en-IN" dirty="0"/>
              <a:t>10 Report Overload</a:t>
            </a:r>
          </a:p>
          <a:p>
            <a:r>
              <a:rPr dirty="0"/>
              <a:t>Cloud security systems generate large volumes of security reports, alerts, and logs. Managing and analyzing this data can become overwhelming for security teams.</a:t>
            </a:r>
          </a:p>
          <a:p>
            <a:r>
              <a:rPr dirty="0"/>
              <a:t>This issue is commonly referred to as rep</a:t>
            </a:r>
            <a:r>
              <a:rPr lang="en-IN" dirty="0"/>
              <a:t>o</a:t>
            </a:r>
            <a:r>
              <a:rPr dirty="0"/>
              <a:t>rt overload or alert fatigue.</a:t>
            </a:r>
          </a:p>
          <a:p>
            <a:r>
              <a:rPr dirty="0"/>
              <a:t>When security teams receive too many alerts, they may struggle to prioritize critical threats. Important warnings may be overlooked among less significant notifications.</a:t>
            </a:r>
          </a:p>
          <a:p>
            <a:r>
              <a:rPr dirty="0"/>
              <a:t>To address this problem, organizations must implement effective alert prioritization and automated filtering mechanisms.</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53568"/>
            <a:ext cx="8229600" cy="6156960"/>
          </a:xfrm>
        </p:spPr>
        <p:txBody>
          <a:bodyPr>
            <a:normAutofit lnSpcReduction="10000"/>
          </a:bodyPr>
          <a:lstStyle/>
          <a:p>
            <a:pPr marL="0" indent="0">
              <a:buNone/>
            </a:pPr>
            <a:r>
              <a:rPr dirty="0"/>
              <a:t>10. Importance of Cloud Security Posture Management (CSPM) in Modern Cloud Environments</a:t>
            </a:r>
          </a:p>
          <a:p>
            <a:r>
              <a:rPr dirty="0"/>
              <a:t>Cloud computing has become an essential part of modern information technology infrastructure. Organizations across the world are increasingly using cloud services to store data, run applications, and manage digital operations. Cloud platforms such as Amazon Web Services, Microsoft Azure, and Google Cloud Platform provide flexible and scalable environments that allow businesses to grow rapidly.</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68224"/>
            <a:ext cx="8229600" cy="5857939"/>
          </a:xfrm>
        </p:spPr>
        <p:txBody>
          <a:bodyPr/>
          <a:lstStyle/>
          <a:p>
            <a:pPr marL="0" indent="0">
              <a:buNone/>
            </a:pPr>
            <a:r>
              <a:rPr lang="en-US" dirty="0"/>
              <a:t>Understanding Cloud Security Posture Management</a:t>
            </a:r>
            <a:endParaRPr lang="en-IN" dirty="0"/>
          </a:p>
          <a:p>
            <a:r>
              <a:rPr dirty="0"/>
              <a:t>Cloud Security Posture Management refers to a set of automated tools and processes used to identify and fix security risks in cloud environments. It focuses mainly on detecting misconfigurations, enforcing compliance policies, and improving the overall security posture of cloud systems.</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Importance of CSPM in Modern Cloud Environments</a:t>
            </a:r>
            <a:endParaRPr dirty="0"/>
          </a:p>
        </p:txBody>
      </p:sp>
      <p:sp>
        <p:nvSpPr>
          <p:cNvPr id="3" name="Content Placeholder 2"/>
          <p:cNvSpPr>
            <a:spLocks noGrp="1"/>
          </p:cNvSpPr>
          <p:nvPr>
            <p:ph idx="1"/>
          </p:nvPr>
        </p:nvSpPr>
        <p:spPr/>
        <p:txBody>
          <a:bodyPr>
            <a:normAutofit lnSpcReduction="10000"/>
          </a:bodyPr>
          <a:lstStyle/>
          <a:p>
            <a:pPr marL="0" indent="0">
              <a:buNone/>
            </a:pPr>
            <a:r>
              <a:rPr lang="en-IN" dirty="0"/>
              <a:t>Prevention of Cloud Misconfigurations</a:t>
            </a:r>
          </a:p>
          <a:p>
            <a:r>
              <a:rPr dirty="0"/>
              <a:t>One of the most important roles of CSPM is preventing cloud misconfigurations. Many cloud security breaches occur due to incorrect configuration settings.</a:t>
            </a:r>
          </a:p>
          <a:p>
            <a:r>
              <a:rPr dirty="0"/>
              <a:t>Examples of common misconfigurations include:</a:t>
            </a:r>
            <a:endParaRPr lang="en-IN" dirty="0"/>
          </a:p>
          <a:p>
            <a:r>
              <a:rPr lang="en-US" dirty="0"/>
              <a:t>Publicly accessible storage buckets </a:t>
            </a:r>
          </a:p>
          <a:p>
            <a:r>
              <a:rPr lang="en-US" dirty="0"/>
              <a:t>Unrestricted firewall rules </a:t>
            </a:r>
            <a:endParaRPr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17576"/>
            <a:ext cx="8229600" cy="6068568"/>
          </a:xfrm>
        </p:spPr>
        <p:txBody>
          <a:bodyPr/>
          <a:lstStyle/>
          <a:p>
            <a:pPr marL="0" indent="0">
              <a:buNone/>
            </a:pPr>
            <a:r>
              <a:rPr lang="en-US" dirty="0"/>
              <a:t>Continuous Security Monitoring</a:t>
            </a:r>
          </a:p>
          <a:p>
            <a:pPr marL="0" indent="0">
              <a:buNone/>
            </a:pPr>
            <a:r>
              <a:rPr lang="en-US" dirty="0"/>
              <a:t>Modern cloud environments are dynamic and constantly changing. New resources such as servers, containers, and databases are frequently created and modified. </a:t>
            </a:r>
          </a:p>
          <a:p>
            <a:pPr marL="0" indent="0">
              <a:buNone/>
            </a:pPr>
            <a:r>
              <a:rPr lang="en-US" dirty="0"/>
              <a:t>Improved Visibility and Control </a:t>
            </a:r>
          </a:p>
          <a:p>
            <a:pPr marL="0" indent="0">
              <a:buNone/>
            </a:pPr>
            <a:r>
              <a:rPr lang="en-US" dirty="0"/>
              <a:t>Large organizations often use multiple cloud platforms and services. Managing security across such environments can be complex.</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92608"/>
            <a:ext cx="8229600" cy="6242304"/>
          </a:xfrm>
        </p:spPr>
        <p:txBody>
          <a:bodyPr>
            <a:normAutofit fontScale="85000" lnSpcReduction="20000"/>
          </a:bodyPr>
          <a:lstStyle/>
          <a:p>
            <a:pPr marL="0" indent="0">
              <a:buNone/>
            </a:pPr>
            <a:r>
              <a:rPr lang="en-US" dirty="0"/>
              <a:t>Compliance with Security Regulations Organizations must comply with various security standards and regulations to protect user data and maintain trust. Examples include data protection laws and industry-specific security frameworks. </a:t>
            </a:r>
          </a:p>
          <a:p>
            <a:pPr marL="0" indent="0">
              <a:buNone/>
            </a:pPr>
            <a:r>
              <a:rPr lang="en-US" dirty="0"/>
              <a:t>Risk Identification and Prioritization </a:t>
            </a:r>
          </a:p>
          <a:p>
            <a:pPr marL="0" indent="0">
              <a:buNone/>
            </a:pPr>
            <a:r>
              <a:rPr lang="en-US" dirty="0"/>
              <a:t>Cloud environments may contain hundreds or thousands of resources. Not all security risks have the same level of impact. CSPM systems analyze risks and prioritize them based on severity. This allows security teams to focus on the most critical vulnerabilities first. </a:t>
            </a:r>
          </a:p>
          <a:p>
            <a:pPr marL="0" indent="0">
              <a:buNone/>
            </a:pPr>
            <a:r>
              <a:rPr lang="en-US" dirty="0"/>
              <a:t>Integration with Other Security Systems </a:t>
            </a:r>
          </a:p>
          <a:p>
            <a:pPr marL="0" indent="0">
              <a:buNone/>
            </a:pPr>
            <a:r>
              <a:rPr lang="en-US" dirty="0"/>
              <a:t>CSPM can integrate with other security solutions such as Endpoint Detection and Response (EDR), Security Information and Event Management (SIEM), and identity management systems.</a:t>
            </a:r>
            <a:endParaRPr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0"/>
            <a:ext cx="8229600" cy="6656832"/>
          </a:xfrm>
        </p:spPr>
        <p:txBody>
          <a:bodyPr>
            <a:normAutofit fontScale="85000" lnSpcReduction="20000"/>
          </a:bodyPr>
          <a:lstStyle/>
          <a:p>
            <a:pPr marL="0" indent="0">
              <a:buNone/>
            </a:pPr>
            <a:r>
              <a:rPr lang="en-IN" dirty="0"/>
              <a:t>Faster Incident Response</a:t>
            </a:r>
          </a:p>
          <a:p>
            <a:r>
              <a:rPr dirty="0"/>
              <a:t>When a security risk or misconfiguration is detected, CSPM systems generate alerts and notifications. Security teams can quickly investigate and resolve the issue.</a:t>
            </a:r>
          </a:p>
          <a:p>
            <a:r>
              <a:rPr dirty="0"/>
              <a:t>Some CSPM tools also support automated remediation, which reduces the time required to fix security problems.</a:t>
            </a:r>
            <a:endParaRPr lang="en-IN" dirty="0"/>
          </a:p>
          <a:p>
            <a:pPr marL="0" indent="0">
              <a:buNone/>
            </a:pPr>
            <a:r>
              <a:rPr lang="en-US" dirty="0"/>
              <a:t>Benefits of CSPM in Modern Cloud Environments The use of CSPM provides several important benefits: </a:t>
            </a:r>
          </a:p>
          <a:p>
            <a:pPr marL="0" indent="0">
              <a:buNone/>
            </a:pPr>
            <a:r>
              <a:rPr lang="en-US" dirty="0"/>
              <a:t>• Reduces risk of cloud misconfigurations </a:t>
            </a:r>
          </a:p>
          <a:p>
            <a:pPr marL="0" indent="0">
              <a:buNone/>
            </a:pPr>
            <a:r>
              <a:rPr lang="en-US" dirty="0"/>
              <a:t>• Improves visibility across cloud infrastructure </a:t>
            </a:r>
          </a:p>
          <a:p>
            <a:pPr marL="0" indent="0">
              <a:buNone/>
            </a:pPr>
            <a:r>
              <a:rPr lang="en-US" dirty="0"/>
              <a:t>• Ensures continuous compliance with regulations </a:t>
            </a:r>
          </a:p>
          <a:p>
            <a:pPr marL="0" indent="0">
              <a:buNone/>
            </a:pPr>
            <a:r>
              <a:rPr lang="en-US" dirty="0"/>
              <a:t>• Enables automated security monitoring </a:t>
            </a:r>
          </a:p>
          <a:p>
            <a:pPr marL="0" indent="0">
              <a:buNone/>
            </a:pPr>
            <a:r>
              <a:rPr lang="en-US" dirty="0"/>
              <a:t>• Enhances incident response capabilities </a:t>
            </a:r>
          </a:p>
          <a:p>
            <a:pPr marL="0" indent="0">
              <a:buNone/>
            </a:pPr>
            <a:r>
              <a:rPr lang="en-US" dirty="0"/>
              <a:t>• Supports multi-cloud environments </a:t>
            </a:r>
          </a:p>
          <a:p>
            <a:pPr marL="0" indent="0">
              <a:buNone/>
            </a:pPr>
            <a:r>
              <a:rPr lang="en-US" dirty="0"/>
              <a:t>• Strengthens overall security posture</a:t>
            </a:r>
            <a:endParaRPr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Importance of cloud data Scanning</a:t>
            </a:r>
            <a:endParaRPr b="1" dirty="0"/>
          </a:p>
        </p:txBody>
      </p:sp>
      <p:sp>
        <p:nvSpPr>
          <p:cNvPr id="3" name="Content Placeholder 2"/>
          <p:cNvSpPr>
            <a:spLocks noGrp="1"/>
          </p:cNvSpPr>
          <p:nvPr>
            <p:ph idx="1"/>
          </p:nvPr>
        </p:nvSpPr>
        <p:spPr>
          <a:xfrm>
            <a:off x="457200" y="1600200"/>
            <a:ext cx="8229600" cy="4983162"/>
          </a:xfrm>
        </p:spPr>
        <p:txBody>
          <a:bodyPr>
            <a:normAutofit fontScale="92500" lnSpcReduction="10000"/>
          </a:bodyPr>
          <a:lstStyle/>
          <a:p>
            <a:pPr marL="0" indent="0">
              <a:buNone/>
            </a:pPr>
            <a:r>
              <a:rPr lang="en-US" dirty="0"/>
              <a:t>Protection of Sensitive Data </a:t>
            </a:r>
          </a:p>
          <a:p>
            <a:pPr marL="0" indent="0">
              <a:buNone/>
            </a:pPr>
            <a:r>
              <a:rPr lang="en-US" dirty="0"/>
              <a:t>One of the main reasons cloud security is important is to protect sensitive information stored in the cloud. Organizations store large amounts of confidential data, including customer records, financial information, and business documents.</a:t>
            </a:r>
          </a:p>
          <a:p>
            <a:pPr marL="0" indent="0">
              <a:buNone/>
            </a:pPr>
            <a:r>
              <a:rPr lang="en-US" dirty="0"/>
              <a:t>Prevention of Cyberattacks </a:t>
            </a:r>
          </a:p>
          <a:p>
            <a:pPr marL="0" indent="0">
              <a:buNone/>
            </a:pPr>
            <a:r>
              <a:rPr lang="en-US" dirty="0"/>
              <a:t>Cloud systems are connected to the internet, which makes them potential targets for cyberattacks. Attackers may attempt to exploit vulnerabilities in cloud applications or infrastructure. </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6304"/>
            <a:ext cx="8229600" cy="5979859"/>
          </a:xfrm>
        </p:spPr>
        <p:txBody>
          <a:bodyPr/>
          <a:lstStyle/>
          <a:p>
            <a:pPr marL="0" indent="0">
              <a:buNone/>
            </a:pPr>
            <a:r>
              <a:rPr lang="en-IN" dirty="0"/>
              <a:t>Secure Access Control</a:t>
            </a:r>
          </a:p>
          <a:p>
            <a:pPr marL="0" indent="0">
              <a:buNone/>
            </a:pPr>
            <a:r>
              <a:rPr dirty="0"/>
              <a:t>Another important aspect of cloud security is controlling who can access cloud resources. Identity and Access Management (IAM) systems allow organizations to manage user identities and permissions.</a:t>
            </a:r>
            <a:endParaRPr lang="en-IN" dirty="0"/>
          </a:p>
          <a:p>
            <a:pPr marL="0" indent="0">
              <a:buNone/>
            </a:pPr>
            <a:r>
              <a:rPr lang="en-US" dirty="0"/>
              <a:t>Compliance with Regulations </a:t>
            </a:r>
          </a:p>
          <a:p>
            <a:pPr marL="0" indent="0">
              <a:buNone/>
            </a:pPr>
            <a:r>
              <a:rPr lang="en-US" dirty="0"/>
              <a:t>Many organizations must follow strict legal and regulatory requirements related to data protection and privacy. Cloud security helps organizations meet these compliance standards.</a:t>
            </a:r>
            <a:endParaRPr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82880"/>
            <a:ext cx="8229600" cy="6473952"/>
          </a:xfrm>
        </p:spPr>
        <p:txBody>
          <a:bodyPr/>
          <a:lstStyle/>
          <a:p>
            <a:pPr marL="0" indent="0">
              <a:buNone/>
            </a:pPr>
            <a:r>
              <a:rPr lang="en-US" dirty="0"/>
              <a:t>Business Continuity and Disaster Recovery</a:t>
            </a:r>
            <a:endParaRPr lang="en-IN" dirty="0"/>
          </a:p>
          <a:p>
            <a:pPr marL="0" indent="0">
              <a:buNone/>
            </a:pPr>
            <a:r>
              <a:rPr dirty="0"/>
              <a:t>Cloud security also helps organizations maintain business continuity. Security solutions include backup systems and disaster recovery mechanisms that allow organizations to recover data and restore services quickly in case of cyberattacks or system failures.</a:t>
            </a:r>
          </a:p>
          <a:p>
            <a:pPr marL="0" indent="0">
              <a:buNone/>
            </a:pPr>
            <a:r>
              <a:rPr dirty="0"/>
              <a:t>This ensures that business operations continue with minimal disruption.</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34112"/>
            <a:ext cx="8229600" cy="6388608"/>
          </a:xfrm>
        </p:spPr>
        <p:txBody>
          <a:bodyPr>
            <a:normAutofit fontScale="92500"/>
          </a:bodyPr>
          <a:lstStyle/>
          <a:p>
            <a:pPr marL="0" indent="0">
              <a:buNone/>
            </a:pPr>
            <a:r>
              <a:rPr lang="en-US" dirty="0"/>
              <a:t>Continuous Monitoring and Threat Detection</a:t>
            </a:r>
            <a:endParaRPr lang="en-IN" dirty="0"/>
          </a:p>
          <a:p>
            <a:r>
              <a:rPr dirty="0"/>
              <a:t>Modern cloud environments are dynamic and constantly changing. New applications, servers, and users are added </a:t>
            </a:r>
            <a:r>
              <a:rPr dirty="0" err="1"/>
              <a:t>regularly.Cloud</a:t>
            </a:r>
            <a:r>
              <a:rPr dirty="0"/>
              <a:t> security systems provide continuous monitoring of cloud activities. They analyze logs, network traffic, and system behavior to detect suspicious activities in real time.</a:t>
            </a:r>
            <a:endParaRPr lang="en-IN" dirty="0"/>
          </a:p>
          <a:p>
            <a:pPr marL="0" indent="0">
              <a:buNone/>
            </a:pPr>
            <a:r>
              <a:rPr lang="en-US" dirty="0"/>
              <a:t>Prevention of Misconfigurations </a:t>
            </a:r>
          </a:p>
          <a:p>
            <a:pPr marL="0" indent="0">
              <a:buNone/>
            </a:pPr>
            <a:r>
              <a:rPr lang="en-US" dirty="0"/>
              <a:t>Many cloud security incidents occur due to configuration errors. For example, leaving storage systems publicly accessible or allowing unrestricted network access can expose sensitive data.</a:t>
            </a:r>
            <a:endParaRPr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56032"/>
            <a:ext cx="8229600" cy="5870131"/>
          </a:xfrm>
        </p:spPr>
        <p:txBody>
          <a:bodyPr/>
          <a:lstStyle/>
          <a:p>
            <a:pPr marL="0" indent="0">
              <a:buNone/>
            </a:pPr>
            <a:r>
              <a:rPr lang="en-IN" dirty="0"/>
              <a:t>Support for Remote Access</a:t>
            </a:r>
          </a:p>
          <a:p>
            <a:r>
              <a:rPr dirty="0"/>
              <a:t>Modern organizations often allow employees to work remotely. Cloud systems enable remote access to applications and data. Cloud security ensures that remote connections are secure through authentication systems, encryption, and endpoint protection. This allows employees to work safely from any location.</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12. Data Protection &amp; Privacy Measures</a:t>
            </a:r>
            <a:endParaRPr lang="en-IN" b="1" dirty="0"/>
          </a:p>
        </p:txBody>
      </p:sp>
      <p:sp>
        <p:nvSpPr>
          <p:cNvPr id="3" name="Content Placeholder 2"/>
          <p:cNvSpPr>
            <a:spLocks noGrp="1"/>
          </p:cNvSpPr>
          <p:nvPr>
            <p:ph idx="1"/>
          </p:nvPr>
        </p:nvSpPr>
        <p:spPr>
          <a:xfrm>
            <a:off x="457200" y="1600200"/>
            <a:ext cx="8229600" cy="5257800"/>
          </a:xfrm>
        </p:spPr>
        <p:txBody>
          <a:bodyPr>
            <a:normAutofit fontScale="85000" lnSpcReduction="20000"/>
          </a:bodyPr>
          <a:lstStyle/>
          <a:p>
            <a:pPr marL="514350" indent="-514350">
              <a:buAutoNum type="arabicPeriod"/>
            </a:pPr>
            <a:r>
              <a:rPr lang="en-US" dirty="0"/>
              <a:t>Data Encryption </a:t>
            </a:r>
          </a:p>
          <a:p>
            <a:pPr marL="0" indent="0">
              <a:buNone/>
            </a:pPr>
            <a:r>
              <a:rPr lang="en-US" dirty="0"/>
              <a:t>Encryption is one of the most important techniques used to protect cloud data. Encryption converts readable data into an unreadable format that can only be accessed using a decryption key. </a:t>
            </a:r>
          </a:p>
          <a:p>
            <a:pPr marL="0" indent="0">
              <a:buNone/>
            </a:pPr>
            <a:r>
              <a:rPr lang="en-US" dirty="0"/>
              <a:t>2. Identity and Access Management (IAM) </a:t>
            </a:r>
          </a:p>
          <a:p>
            <a:pPr marL="0" indent="0">
              <a:buNone/>
            </a:pPr>
            <a:r>
              <a:rPr lang="en-US" dirty="0"/>
              <a:t>Identity and Access Management controls who can access cloud resources and what actions they can perform. </a:t>
            </a:r>
          </a:p>
          <a:p>
            <a:pPr marL="0" indent="0">
              <a:buNone/>
            </a:pPr>
            <a:r>
              <a:rPr lang="en-US" dirty="0"/>
              <a:t>• Important IAM features include: </a:t>
            </a:r>
          </a:p>
          <a:p>
            <a:pPr marL="0" indent="0">
              <a:buNone/>
            </a:pPr>
            <a:r>
              <a:rPr lang="en-US" dirty="0"/>
              <a:t>• Role-Based Access Control (RBAC) </a:t>
            </a:r>
          </a:p>
          <a:p>
            <a:pPr marL="0" indent="0">
              <a:buNone/>
            </a:pPr>
            <a:r>
              <a:rPr lang="en-US" dirty="0"/>
              <a:t>• Multi-Factor Authentication (MFA) </a:t>
            </a:r>
          </a:p>
          <a:p>
            <a:pPr marL="0" indent="0">
              <a:buNone/>
            </a:pPr>
            <a:r>
              <a:rPr lang="en-US" dirty="0"/>
              <a:t>• Single Sign-On (SSO) </a:t>
            </a:r>
          </a:p>
          <a:p>
            <a:pPr marL="0" indent="0">
              <a:buNone/>
            </a:pPr>
            <a:r>
              <a:rPr lang="en-US" dirty="0"/>
              <a:t>• Least privilege access principle </a:t>
            </a:r>
            <a:endParaRPr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58496"/>
            <a:ext cx="8229600" cy="6699504"/>
          </a:xfrm>
        </p:spPr>
        <p:txBody>
          <a:bodyPr>
            <a:normAutofit fontScale="92500" lnSpcReduction="20000"/>
          </a:bodyPr>
          <a:lstStyle/>
          <a:p>
            <a:pPr marL="0" indent="0">
              <a:buNone/>
            </a:pPr>
            <a:r>
              <a:rPr lang="en-US" dirty="0"/>
              <a:t>3. Data Backup and Recovery </a:t>
            </a:r>
          </a:p>
          <a:p>
            <a:pPr marL="0" indent="0">
              <a:buNone/>
            </a:pPr>
            <a:r>
              <a:rPr lang="en-US" dirty="0"/>
              <a:t>Data protection also includes backup and disaster recovery mechanisms. </a:t>
            </a:r>
          </a:p>
          <a:p>
            <a:pPr marL="0" indent="0">
              <a:buNone/>
            </a:pPr>
            <a:r>
              <a:rPr lang="en-US" dirty="0"/>
              <a:t>Cloud systems automatically create backups of important data to prevent loss caused by cyberattacks, system failures, or accidental deletion.  </a:t>
            </a:r>
          </a:p>
          <a:p>
            <a:pPr marL="0" indent="0">
              <a:buNone/>
            </a:pPr>
            <a:r>
              <a:rPr lang="en-US" dirty="0"/>
              <a:t>Backup systems allow organizations to restore their data quickly and continue operations without major disruptions. </a:t>
            </a:r>
          </a:p>
          <a:p>
            <a:pPr marL="0" indent="0">
              <a:buNone/>
            </a:pPr>
            <a:r>
              <a:rPr lang="en-US" dirty="0"/>
              <a:t>4. Data Masking and Tokenization </a:t>
            </a:r>
          </a:p>
          <a:p>
            <a:pPr marL="0" indent="0">
              <a:buNone/>
            </a:pPr>
            <a:r>
              <a:rPr lang="en-US" dirty="0"/>
              <a:t>• Data masking and tokenization techniques help protect sensitive information by replacing real data with anonymized or masked values. </a:t>
            </a:r>
          </a:p>
          <a:p>
            <a:pPr marL="0" indent="0">
              <a:buNone/>
            </a:pPr>
            <a:r>
              <a:rPr lang="en-US" dirty="0"/>
              <a:t>• For example: </a:t>
            </a:r>
          </a:p>
          <a:p>
            <a:pPr marL="0" indent="0">
              <a:buNone/>
            </a:pPr>
            <a:r>
              <a:rPr lang="en-US" dirty="0"/>
              <a:t>• Credit card numbers may be partially hidden </a:t>
            </a:r>
          </a:p>
          <a:p>
            <a:pPr marL="0" indent="0">
              <a:buNone/>
            </a:pPr>
            <a:r>
              <a:rPr lang="en-US" dirty="0"/>
              <a:t>• Personal identifiers may be replaced with tokens </a:t>
            </a:r>
            <a:endParaRPr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0"/>
            <a:ext cx="8229600" cy="6858000"/>
          </a:xfrm>
        </p:spPr>
        <p:txBody>
          <a:bodyPr>
            <a:normAutofit fontScale="85000" lnSpcReduction="20000"/>
          </a:bodyPr>
          <a:lstStyle/>
          <a:p>
            <a:pPr marL="0" indent="0">
              <a:buNone/>
            </a:pPr>
            <a:r>
              <a:rPr lang="en-US" dirty="0"/>
              <a:t>5. Secure Data Storage Cloud providers implement secure storage systems that protect data from unauthorized access. </a:t>
            </a:r>
          </a:p>
          <a:p>
            <a:pPr marL="0" indent="0">
              <a:buNone/>
            </a:pPr>
            <a:r>
              <a:rPr lang="en-US" dirty="0"/>
              <a:t>Security features may include: </a:t>
            </a:r>
          </a:p>
          <a:p>
            <a:pPr marL="0" indent="0">
              <a:buNone/>
            </a:pPr>
            <a:r>
              <a:rPr lang="en-US" dirty="0"/>
              <a:t>• Secure storage containers </a:t>
            </a:r>
          </a:p>
          <a:p>
            <a:pPr marL="0" indent="0">
              <a:buNone/>
            </a:pPr>
            <a:r>
              <a:rPr lang="en-US" dirty="0"/>
              <a:t>• Access control policies </a:t>
            </a:r>
          </a:p>
          <a:p>
            <a:pPr marL="0" indent="0">
              <a:buNone/>
            </a:pPr>
            <a:r>
              <a:rPr lang="en-US" dirty="0"/>
              <a:t>• Encryption keys management </a:t>
            </a:r>
          </a:p>
          <a:p>
            <a:pPr marL="0" indent="0">
              <a:buNone/>
            </a:pPr>
            <a:r>
              <a:rPr lang="en-US" dirty="0"/>
              <a:t>• Data integrity verification </a:t>
            </a:r>
          </a:p>
          <a:p>
            <a:pPr marL="0" indent="0">
              <a:buNone/>
            </a:pPr>
            <a:r>
              <a:rPr lang="en-US" dirty="0"/>
              <a:t>Privacy Protection Measures </a:t>
            </a:r>
          </a:p>
          <a:p>
            <a:pPr marL="0" indent="0">
              <a:buNone/>
            </a:pPr>
            <a:r>
              <a:rPr lang="en-US" dirty="0"/>
              <a:t>1 Data Privacy Policies Organizations must implement clear privacy policies that define how personal data is collected, stored, and used. Privacy policies ensure transparency and inform users about how their data is handled. </a:t>
            </a:r>
          </a:p>
          <a:p>
            <a:pPr marL="0" indent="0">
              <a:buNone/>
            </a:pPr>
            <a:r>
              <a:rPr lang="en-US" dirty="0"/>
              <a:t>2 Compliance with Privacy Regulations Cloud security systems must comply with various data protection regulations. These regulations ensure that organizations handle personal data responsibly.</a:t>
            </a:r>
            <a:endParaRPr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Objectives of a Web Application in Cloud Security</a:t>
            </a:r>
            <a:endParaRPr b="1" dirty="0"/>
          </a:p>
        </p:txBody>
      </p:sp>
      <p:sp>
        <p:nvSpPr>
          <p:cNvPr id="3" name="Content Placeholder 2"/>
          <p:cNvSpPr>
            <a:spLocks noGrp="1"/>
          </p:cNvSpPr>
          <p:nvPr>
            <p:ph idx="1"/>
          </p:nvPr>
        </p:nvSpPr>
        <p:spPr>
          <a:xfrm>
            <a:off x="457200" y="1600200"/>
            <a:ext cx="8229600" cy="5257800"/>
          </a:xfrm>
        </p:spPr>
        <p:txBody>
          <a:bodyPr>
            <a:normAutofit fontScale="70000" lnSpcReduction="20000"/>
          </a:bodyPr>
          <a:lstStyle/>
          <a:p>
            <a:pPr marL="0" indent="0">
              <a:buNone/>
            </a:pPr>
            <a:r>
              <a:rPr lang="en-IN" dirty="0"/>
              <a:t>Monitoring Cloud Infrastructure </a:t>
            </a:r>
          </a:p>
          <a:p>
            <a:r>
              <a:rPr dirty="0"/>
              <a:t>One of the main objectives of a cloud security web application is to continuously monitor cloud infrastructure. This includes servers, storage systems, networks, databases, and applications.</a:t>
            </a:r>
          </a:p>
          <a:p>
            <a:r>
              <a:rPr dirty="0"/>
              <a:t>The system collects security logs and configuration information from cloud resources and displays them in a centralized dashboard. Continuous monitoring helps security teams detect suspicious activities and vulnerabilities quickly.</a:t>
            </a:r>
            <a:endParaRPr lang="en-IN" dirty="0"/>
          </a:p>
          <a:p>
            <a:pPr marL="0" indent="0">
              <a:buNone/>
            </a:pPr>
            <a:r>
              <a:rPr lang="en-US" dirty="0"/>
              <a:t>Detecting Security Vulnerabilities </a:t>
            </a:r>
          </a:p>
          <a:p>
            <a:pPr marL="0" indent="0">
              <a:buNone/>
            </a:pPr>
            <a:r>
              <a:rPr lang="en-US" dirty="0"/>
              <a:t>Cloud security web applications are designed to identify vulnerabilities that may expose cloud systems to cyberattacks. </a:t>
            </a:r>
          </a:p>
          <a:p>
            <a:pPr marL="0" indent="0">
              <a:buNone/>
            </a:pPr>
            <a:r>
              <a:rPr lang="en-US" dirty="0"/>
              <a:t>Examples of vulnerabilities include: </a:t>
            </a:r>
          </a:p>
          <a:p>
            <a:pPr marL="0" indent="0">
              <a:buNone/>
            </a:pPr>
            <a:r>
              <a:rPr lang="en-US" dirty="0"/>
              <a:t>• Publicly accessible storage systems </a:t>
            </a:r>
          </a:p>
          <a:p>
            <a:pPr marL="0" indent="0">
              <a:buNone/>
            </a:pPr>
            <a:r>
              <a:rPr lang="en-US" dirty="0"/>
              <a:t>• Weak identity access policies </a:t>
            </a:r>
          </a:p>
          <a:p>
            <a:pPr marL="0" indent="0">
              <a:buNone/>
            </a:pPr>
            <a:r>
              <a:rPr lang="en-US" dirty="0"/>
              <a:t>• Open firewall ports </a:t>
            </a:r>
            <a:endParaRPr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0"/>
            <a:ext cx="8229600" cy="6858000"/>
          </a:xfrm>
        </p:spPr>
        <p:txBody>
          <a:bodyPr>
            <a:normAutofit fontScale="77500" lnSpcReduction="20000"/>
          </a:bodyPr>
          <a:lstStyle/>
          <a:p>
            <a:pPr marL="0" indent="0">
              <a:buNone/>
            </a:pPr>
            <a:r>
              <a:rPr lang="en-US" dirty="0"/>
              <a:t>Protecting Sensitive Data </a:t>
            </a:r>
          </a:p>
          <a:p>
            <a:pPr marL="0" indent="0">
              <a:buNone/>
            </a:pPr>
            <a:r>
              <a:rPr lang="en-US" dirty="0"/>
              <a:t>Another important objective is protecting sensitive data stored in the cloud. Cloud environments often contain confidential information such as customer data, financial records, and business documents. </a:t>
            </a:r>
          </a:p>
          <a:p>
            <a:pPr marL="0" indent="0">
              <a:buNone/>
            </a:pPr>
            <a:r>
              <a:rPr lang="en-US" dirty="0"/>
              <a:t>Security web applications help protect this data through: </a:t>
            </a:r>
          </a:p>
          <a:p>
            <a:pPr marL="0" indent="0">
              <a:buNone/>
            </a:pPr>
            <a:r>
              <a:rPr lang="en-US" dirty="0"/>
              <a:t>• Encryption mechanisms </a:t>
            </a:r>
          </a:p>
          <a:p>
            <a:pPr marL="0" indent="0">
              <a:buNone/>
            </a:pPr>
            <a:r>
              <a:rPr lang="en-US" dirty="0"/>
              <a:t>• Access control policies </a:t>
            </a:r>
          </a:p>
          <a:p>
            <a:pPr marL="0" indent="0">
              <a:buNone/>
            </a:pPr>
            <a:r>
              <a:rPr lang="en-US" dirty="0"/>
              <a:t>• Data monitoring tools </a:t>
            </a:r>
          </a:p>
          <a:p>
            <a:pPr marL="0" indent="0">
              <a:buNone/>
            </a:pPr>
            <a:r>
              <a:rPr lang="en-US" dirty="0"/>
              <a:t>Managing Identity and Access Control </a:t>
            </a:r>
          </a:p>
          <a:p>
            <a:pPr marL="0" indent="0">
              <a:buNone/>
            </a:pPr>
            <a:r>
              <a:rPr lang="en-US" dirty="0"/>
              <a:t>Controlling user access to cloud resources is a critical part of cloud security. A web application helps manage identity and access policies. </a:t>
            </a:r>
          </a:p>
          <a:p>
            <a:pPr marL="0" indent="0">
              <a:buNone/>
            </a:pPr>
            <a:r>
              <a:rPr lang="en-US" dirty="0"/>
              <a:t>Key access management features include: </a:t>
            </a:r>
          </a:p>
          <a:p>
            <a:pPr marL="0" indent="0">
              <a:buNone/>
            </a:pPr>
            <a:r>
              <a:rPr lang="en-US" dirty="0"/>
              <a:t>• Role-Based Access Control (RBAC) </a:t>
            </a:r>
          </a:p>
          <a:p>
            <a:pPr marL="0" indent="0">
              <a:buNone/>
            </a:pPr>
            <a:r>
              <a:rPr lang="en-US" dirty="0"/>
              <a:t>• Multi-Factor Authentication (MFA) </a:t>
            </a:r>
          </a:p>
          <a:p>
            <a:pPr marL="0" indent="0">
              <a:buNone/>
            </a:pPr>
            <a:r>
              <a:rPr lang="en-US" dirty="0"/>
              <a:t>• User authentication systems </a:t>
            </a:r>
          </a:p>
          <a:p>
            <a:pPr marL="0" indent="0">
              <a:buNone/>
            </a:pPr>
            <a:r>
              <a:rPr lang="en-US" dirty="0"/>
              <a:t>• Permission management</a:t>
            </a:r>
            <a:endParaRPr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0"/>
            <a:ext cx="8229600" cy="6858000"/>
          </a:xfrm>
        </p:spPr>
        <p:txBody>
          <a:bodyPr>
            <a:normAutofit fontScale="92500" lnSpcReduction="10000"/>
          </a:bodyPr>
          <a:lstStyle/>
          <a:p>
            <a:pPr marL="0" indent="0">
              <a:buNone/>
            </a:pPr>
            <a:r>
              <a:rPr lang="en-US" dirty="0"/>
              <a:t>Ensuring Compliance with Security Standards Organizations must comply with various legal and regulatory requirements related to data protection and cybersecurity. </a:t>
            </a:r>
          </a:p>
          <a:p>
            <a:pPr marL="0" indent="0">
              <a:buNone/>
            </a:pPr>
            <a:r>
              <a:rPr lang="en-US" dirty="0"/>
              <a:t>Cloud security web applications help organizations maintain compliance by checking whether cloud configurations follow security guidelines and regulatory standards. </a:t>
            </a:r>
          </a:p>
          <a:p>
            <a:pPr marL="0" indent="0">
              <a:buNone/>
            </a:pPr>
            <a:r>
              <a:rPr lang="en-US" dirty="0"/>
              <a:t>Providing Centralized Security Management </a:t>
            </a:r>
          </a:p>
          <a:p>
            <a:pPr marL="0" indent="0">
              <a:buNone/>
            </a:pPr>
            <a:r>
              <a:rPr lang="en-US" dirty="0"/>
              <a:t>Cloud environments may include multiple services and platforms. Managing security across these systems can be complicated. </a:t>
            </a:r>
          </a:p>
          <a:p>
            <a:pPr marL="0" indent="0">
              <a:buNone/>
            </a:pPr>
            <a:r>
              <a:rPr lang="en-US" dirty="0"/>
              <a:t>A web-based security application provides a centralized interface where administrators can view the security status of all cloud resources. </a:t>
            </a:r>
            <a:endParaRPr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0"/>
            <a:ext cx="8229600" cy="6858000"/>
          </a:xfrm>
        </p:spPr>
        <p:txBody>
          <a:bodyPr>
            <a:normAutofit fontScale="92500" lnSpcReduction="20000"/>
          </a:bodyPr>
          <a:lstStyle/>
          <a:p>
            <a:pPr marL="0" indent="0">
              <a:buNone/>
            </a:pPr>
            <a:r>
              <a:rPr lang="en-US" dirty="0"/>
              <a:t>Automating Security Responses </a:t>
            </a:r>
          </a:p>
          <a:p>
            <a:pPr marL="0" indent="0">
              <a:buNone/>
            </a:pPr>
            <a:r>
              <a:rPr lang="en-US" dirty="0"/>
              <a:t>Modern cloud security systems include automation features that allow them to respond to certain threats automatically. </a:t>
            </a:r>
          </a:p>
          <a:p>
            <a:pPr marL="0" indent="0">
              <a:buNone/>
            </a:pPr>
            <a:r>
              <a:rPr lang="en-US" dirty="0"/>
              <a:t>For example: </a:t>
            </a:r>
          </a:p>
          <a:p>
            <a:pPr marL="0" indent="0">
              <a:buNone/>
            </a:pPr>
            <a:r>
              <a:rPr lang="en-US" dirty="0"/>
              <a:t>• Blocking suspicious IP addresses </a:t>
            </a:r>
          </a:p>
          <a:p>
            <a:pPr marL="0" indent="0">
              <a:buNone/>
            </a:pPr>
            <a:r>
              <a:rPr lang="en-US" dirty="0"/>
              <a:t>• Fixing configuration errors </a:t>
            </a:r>
          </a:p>
          <a:p>
            <a:pPr marL="0" indent="0">
              <a:buNone/>
            </a:pPr>
            <a:r>
              <a:rPr lang="en-US" dirty="0"/>
              <a:t>• Isolating compromised systems </a:t>
            </a:r>
          </a:p>
          <a:p>
            <a:pPr marL="0" indent="0">
              <a:buNone/>
            </a:pPr>
            <a:r>
              <a:rPr lang="en-US" dirty="0"/>
              <a:t>Improving Visibility and Reporting </a:t>
            </a:r>
          </a:p>
          <a:p>
            <a:pPr marL="0" indent="0">
              <a:buNone/>
            </a:pPr>
            <a:r>
              <a:rPr lang="en-US" dirty="0"/>
              <a:t>Security teams need clear visibility into cloud operations. A cloud security web application provides dashboards and reports that display security metrics and system activity. </a:t>
            </a:r>
          </a:p>
          <a:p>
            <a:pPr marL="0" indent="0">
              <a:buNone/>
            </a:pPr>
            <a:r>
              <a:rPr lang="en-US" dirty="0"/>
              <a:t>These reports help organizations analyze risks, identify trends, and make informed security decisions.</a:t>
            </a:r>
            <a:endParaRPr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Improving Visibility and Reporting</a:t>
            </a:r>
          </a:p>
        </p:txBody>
      </p:sp>
      <p:sp>
        <p:nvSpPr>
          <p:cNvPr id="3" name="Content Placeholder 2"/>
          <p:cNvSpPr>
            <a:spLocks noGrp="1"/>
          </p:cNvSpPr>
          <p:nvPr>
            <p:ph idx="1"/>
          </p:nvPr>
        </p:nvSpPr>
        <p:spPr/>
        <p:txBody>
          <a:bodyPr/>
          <a:lstStyle/>
          <a:p>
            <a:r>
              <a:t>Security teams need clear visibility into cloud operations. A cloud security web application provides dashboards and reports that display security metrics and system activity.</a:t>
            </a:r>
          </a:p>
          <a:p>
            <a:r>
              <a:t>These reports help organizations analyze risks, identify trends, and make informed security decisions.</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Scope of web Application in Cloud Security</a:t>
            </a:r>
            <a:endParaRPr dirty="0"/>
          </a:p>
        </p:txBody>
      </p:sp>
      <p:sp>
        <p:nvSpPr>
          <p:cNvPr id="3" name="Content Placeholder 2"/>
          <p:cNvSpPr>
            <a:spLocks noGrp="1"/>
          </p:cNvSpPr>
          <p:nvPr>
            <p:ph idx="1"/>
          </p:nvPr>
        </p:nvSpPr>
        <p:spPr/>
        <p:txBody>
          <a:bodyPr>
            <a:normAutofit fontScale="92500" lnSpcReduction="20000"/>
          </a:bodyPr>
          <a:lstStyle/>
          <a:p>
            <a:pPr marL="0" indent="0">
              <a:buNone/>
            </a:pPr>
            <a:r>
              <a:rPr lang="en-US" dirty="0"/>
              <a:t>The scope of web applications in cloud security is broad and continues to expand with the increasing adoption of cloud technologies. These applications are used in various areas of cloud infrastructure management and cybersecurity. </a:t>
            </a:r>
          </a:p>
          <a:p>
            <a:pPr marL="0" indent="0">
              <a:buNone/>
            </a:pPr>
            <a:r>
              <a:rPr lang="en-US" dirty="0"/>
              <a:t> One important scope is cloud infrastructure monitoring. Security web applications continuously monitor cloud resources such as virtual machines, databases, storage systems, and networks. This monitoring helps detect suspicious activities and identify potential security risks in real time.</a:t>
            </a:r>
            <a:endParaRPr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Scanning Process</a:t>
            </a:r>
            <a:endParaRPr b="1" dirty="0"/>
          </a:p>
        </p:txBody>
      </p:sp>
      <p:sp>
        <p:nvSpPr>
          <p:cNvPr id="3" name="Content Placeholder 2"/>
          <p:cNvSpPr>
            <a:spLocks noGrp="1"/>
          </p:cNvSpPr>
          <p:nvPr>
            <p:ph idx="1"/>
          </p:nvPr>
        </p:nvSpPr>
        <p:spPr>
          <a:xfrm>
            <a:off x="457200" y="1600200"/>
            <a:ext cx="8229600" cy="5257800"/>
          </a:xfrm>
        </p:spPr>
        <p:txBody>
          <a:bodyPr>
            <a:normAutofit fontScale="62500" lnSpcReduction="20000"/>
          </a:bodyPr>
          <a:lstStyle/>
          <a:p>
            <a:pPr marL="0" indent="0">
              <a:buNone/>
            </a:pPr>
            <a:r>
              <a:rPr lang="en-US" dirty="0"/>
              <a:t>Cloud Environment Data Collection </a:t>
            </a:r>
          </a:p>
          <a:p>
            <a:pPr marL="0" indent="0">
              <a:buNone/>
            </a:pPr>
            <a:r>
              <a:rPr lang="en-US" dirty="0"/>
              <a:t>The first step in the scanning process is collecting data from cloud resources. CSPM tools connect to cloud environments through secure APIs provided by cloud platforms. </a:t>
            </a:r>
          </a:p>
          <a:p>
            <a:pPr marL="0" indent="0">
              <a:buNone/>
            </a:pPr>
            <a:r>
              <a:rPr lang="en-US" dirty="0"/>
              <a:t>During this stage, the system gathers information about: </a:t>
            </a:r>
          </a:p>
          <a:p>
            <a:pPr marL="0" indent="0">
              <a:buNone/>
            </a:pPr>
            <a:r>
              <a:rPr lang="en-US" dirty="0"/>
              <a:t>• Cloud servers and virtual machines </a:t>
            </a:r>
          </a:p>
          <a:p>
            <a:pPr marL="0" indent="0">
              <a:buNone/>
            </a:pPr>
            <a:r>
              <a:rPr lang="en-US" dirty="0"/>
              <a:t>• Storage services and databases </a:t>
            </a:r>
          </a:p>
          <a:p>
            <a:pPr marL="0" indent="0">
              <a:buNone/>
            </a:pPr>
            <a:r>
              <a:rPr lang="en-US" dirty="0"/>
              <a:t>• Network configurations </a:t>
            </a:r>
          </a:p>
          <a:p>
            <a:pPr marL="0" indent="0">
              <a:buNone/>
            </a:pPr>
            <a:r>
              <a:rPr lang="en-US" dirty="0"/>
              <a:t>• Identity and access policies </a:t>
            </a:r>
          </a:p>
          <a:p>
            <a:pPr marL="0" indent="0">
              <a:buNone/>
            </a:pPr>
            <a:r>
              <a:rPr lang="en-US" dirty="0"/>
              <a:t>• Security group settings </a:t>
            </a:r>
          </a:p>
          <a:p>
            <a:pPr marL="0" indent="0">
              <a:buNone/>
            </a:pPr>
            <a:r>
              <a:rPr lang="en-US" dirty="0"/>
              <a:t>Configuration Assessment </a:t>
            </a:r>
          </a:p>
          <a:p>
            <a:pPr marL="0" indent="0">
              <a:buNone/>
            </a:pPr>
            <a:r>
              <a:rPr lang="en-US" dirty="0"/>
              <a:t>Once the data is collected, CSPM tools analyze cloud configurations and compare them with recommended security standards and best practices. </a:t>
            </a:r>
          </a:p>
          <a:p>
            <a:pPr marL="0" indent="0">
              <a:buNone/>
            </a:pPr>
            <a:r>
              <a:rPr lang="en-US" dirty="0"/>
              <a:t>The system checks for common security issues such as: </a:t>
            </a:r>
          </a:p>
          <a:p>
            <a:pPr marL="0" indent="0">
              <a:buNone/>
            </a:pPr>
            <a:r>
              <a:rPr lang="en-US" dirty="0"/>
              <a:t>• Publicly accessible storage buckets </a:t>
            </a:r>
          </a:p>
          <a:p>
            <a:pPr marL="0" indent="0">
              <a:buNone/>
            </a:pPr>
            <a:r>
              <a:rPr lang="en-US" dirty="0"/>
              <a:t>• Unrestricted firewall rules</a:t>
            </a:r>
            <a:endParaRPr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0"/>
            <a:ext cx="8229600" cy="6858000"/>
          </a:xfrm>
        </p:spPr>
        <p:txBody>
          <a:bodyPr>
            <a:normAutofit fontScale="70000" lnSpcReduction="20000"/>
          </a:bodyPr>
          <a:lstStyle/>
          <a:p>
            <a:pPr marL="0" indent="0">
              <a:buNone/>
            </a:pPr>
            <a:r>
              <a:rPr lang="en-IN" dirty="0"/>
              <a:t>Vulnerability Scanning </a:t>
            </a:r>
          </a:p>
          <a:p>
            <a:pPr marL="0" indent="0">
              <a:buNone/>
            </a:pPr>
            <a:r>
              <a:rPr lang="en-IN" dirty="0"/>
              <a:t>After configuration assessment, the system performs vulnerability scanning. This step focuses on identifying weaknesses in software, operating systems, and cloud services. </a:t>
            </a:r>
          </a:p>
          <a:p>
            <a:pPr marL="0" indent="0">
              <a:buNone/>
            </a:pPr>
            <a:r>
              <a:rPr lang="en-IN" dirty="0"/>
              <a:t>The scanning process examines: </a:t>
            </a:r>
          </a:p>
          <a:p>
            <a:pPr marL="0" indent="0">
              <a:buNone/>
            </a:pPr>
            <a:r>
              <a:rPr lang="en-IN" dirty="0"/>
              <a:t>• Outdated software versions </a:t>
            </a:r>
          </a:p>
          <a:p>
            <a:pPr marL="0" indent="0">
              <a:buNone/>
            </a:pPr>
            <a:r>
              <a:rPr lang="en-IN" dirty="0"/>
              <a:t>• Missing security patches </a:t>
            </a:r>
          </a:p>
          <a:p>
            <a:pPr marL="0" indent="0">
              <a:buNone/>
            </a:pPr>
            <a:r>
              <a:rPr lang="en-IN" dirty="0"/>
              <a:t>• Weak authentication mechanisms </a:t>
            </a:r>
          </a:p>
          <a:p>
            <a:pPr marL="0" indent="0">
              <a:buNone/>
            </a:pPr>
            <a:r>
              <a:rPr lang="en-IN" dirty="0"/>
              <a:t>• Known security vulnerabilities </a:t>
            </a:r>
          </a:p>
          <a:p>
            <a:pPr marL="0" indent="0">
              <a:buNone/>
            </a:pPr>
            <a:endParaRPr lang="en-IN" dirty="0"/>
          </a:p>
          <a:p>
            <a:pPr marL="0" indent="0">
              <a:buNone/>
            </a:pPr>
            <a:r>
              <a:rPr lang="en-IN" dirty="0"/>
              <a:t>Endpoint Monitoring with EDR </a:t>
            </a:r>
          </a:p>
          <a:p>
            <a:pPr marL="0" indent="0">
              <a:buNone/>
            </a:pPr>
            <a:r>
              <a:rPr lang="en-IN" dirty="0"/>
              <a:t>While CSPM scans cloud configurations, EDR focuses on monitoring endpoint devices connected to the cloud environment. </a:t>
            </a:r>
          </a:p>
          <a:p>
            <a:pPr marL="0" indent="0">
              <a:buNone/>
            </a:pPr>
            <a:r>
              <a:rPr lang="en-IN" dirty="0"/>
              <a:t>Endpoints may include: </a:t>
            </a:r>
          </a:p>
          <a:p>
            <a:pPr marL="0" indent="0">
              <a:buNone/>
            </a:pPr>
            <a:r>
              <a:rPr lang="en-IN" dirty="0"/>
              <a:t>• Cloud servers </a:t>
            </a:r>
          </a:p>
          <a:p>
            <a:pPr marL="0" indent="0">
              <a:buNone/>
            </a:pPr>
            <a:r>
              <a:rPr lang="en-IN" dirty="0"/>
              <a:t>• Virtual machines </a:t>
            </a:r>
          </a:p>
          <a:p>
            <a:pPr marL="0" indent="0">
              <a:buNone/>
            </a:pPr>
            <a:r>
              <a:rPr lang="en-IN" dirty="0"/>
              <a:t>• Employee computers </a:t>
            </a:r>
          </a:p>
          <a:p>
            <a:pPr marL="0" indent="0">
              <a:buNone/>
            </a:pPr>
            <a:r>
              <a:rPr lang="en-IN" dirty="0"/>
              <a:t>• Container environments </a:t>
            </a:r>
            <a:endParaRPr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1584" y="24384"/>
            <a:ext cx="8229600" cy="6833616"/>
          </a:xfrm>
        </p:spPr>
        <p:txBody>
          <a:bodyPr>
            <a:normAutofit fontScale="92500" lnSpcReduction="20000"/>
          </a:bodyPr>
          <a:lstStyle/>
          <a:p>
            <a:pPr marL="0" indent="0">
              <a:buNone/>
            </a:pPr>
            <a:r>
              <a:rPr lang="en-US" dirty="0"/>
              <a:t>Automated Remediation </a:t>
            </a:r>
          </a:p>
          <a:p>
            <a:pPr marL="0" indent="0">
              <a:buNone/>
            </a:pPr>
            <a:r>
              <a:rPr lang="en-US" dirty="0"/>
              <a:t>Many modern CSPM and EDR systems include automated remediation capabilities. These systems can automatically fix certain security issues without human intervention. </a:t>
            </a:r>
          </a:p>
          <a:p>
            <a:pPr marL="0" indent="0">
              <a:buNone/>
            </a:pPr>
            <a:r>
              <a:rPr lang="en-US" dirty="0"/>
              <a:t>Examples of automated responses include: </a:t>
            </a:r>
          </a:p>
          <a:p>
            <a:pPr marL="0" indent="0">
              <a:buNone/>
            </a:pPr>
            <a:r>
              <a:rPr lang="en-US" dirty="0"/>
              <a:t>• Blocking malicious IP addresses </a:t>
            </a:r>
          </a:p>
          <a:p>
            <a:pPr marL="0" indent="0">
              <a:buNone/>
            </a:pPr>
            <a:r>
              <a:rPr lang="en-US" dirty="0"/>
              <a:t>• Isolating compromised endpoints </a:t>
            </a:r>
          </a:p>
          <a:p>
            <a:pPr marL="0" indent="0">
              <a:buNone/>
            </a:pPr>
            <a:r>
              <a:rPr lang="en-US" dirty="0"/>
              <a:t>• Correcting insecure cloud configurations </a:t>
            </a:r>
          </a:p>
          <a:p>
            <a:pPr marL="0" indent="0">
              <a:buNone/>
            </a:pPr>
            <a:r>
              <a:rPr lang="en-US" dirty="0"/>
              <a:t>• Applying security patches </a:t>
            </a:r>
          </a:p>
          <a:p>
            <a:pPr marL="0" indent="0">
              <a:buNone/>
            </a:pPr>
            <a:r>
              <a:rPr lang="en-US" dirty="0"/>
              <a:t>Continuous Monitoring </a:t>
            </a:r>
          </a:p>
          <a:p>
            <a:pPr marL="0" indent="0">
              <a:buNone/>
            </a:pPr>
            <a:r>
              <a:rPr lang="en-US" dirty="0"/>
              <a:t>Cloud environments are dynamic and constantly changing. Therefore, the scanning process is not a one time activity. CSPM and EDR systems continuously scan cloud resources and endpoints to detect new risks and threats.</a:t>
            </a:r>
            <a:endParaRPr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417638"/>
          </a:xfrm>
        </p:spPr>
        <p:txBody>
          <a:bodyPr>
            <a:noAutofit/>
          </a:bodyPr>
          <a:lstStyle/>
          <a:p>
            <a:r>
              <a:rPr lang="en-US" sz="3000" b="1" dirty="0"/>
              <a:t>Proposed solution for Cloud Security Posture Management (CSPM) with Endpoint Detection &amp; Response (EDR)</a:t>
            </a:r>
          </a:p>
        </p:txBody>
      </p:sp>
      <p:sp>
        <p:nvSpPr>
          <p:cNvPr id="3" name="Content Placeholder 2"/>
          <p:cNvSpPr>
            <a:spLocks noGrp="1"/>
          </p:cNvSpPr>
          <p:nvPr>
            <p:ph idx="1"/>
          </p:nvPr>
        </p:nvSpPr>
        <p:spPr/>
        <p:txBody>
          <a:bodyPr>
            <a:normAutofit fontScale="77500" lnSpcReduction="20000"/>
          </a:bodyPr>
          <a:lstStyle/>
          <a:p>
            <a:pPr marL="0" indent="0">
              <a:buNone/>
            </a:pPr>
            <a:r>
              <a:rPr lang="en-IN" dirty="0"/>
              <a:t>Frontend Interface (Flask + HTML/CSS) </a:t>
            </a:r>
          </a:p>
          <a:p>
            <a:pPr marL="0" indent="0">
              <a:buNone/>
            </a:pPr>
            <a:r>
              <a:rPr lang="en-IN" dirty="0"/>
              <a:t>A user-friendly web dashboard that allows administrators to monitor cloud security posture, start scans, configure policies, and view alerts. </a:t>
            </a:r>
          </a:p>
          <a:p>
            <a:pPr marL="0" indent="0">
              <a:buNone/>
            </a:pPr>
            <a:r>
              <a:rPr lang="en-IN" dirty="0"/>
              <a:t>Cloud Resource Scanner (CSPM Engine) This module scans cloud resources and configurations to detect security misconfigurations. </a:t>
            </a:r>
          </a:p>
          <a:p>
            <a:pPr marL="0" indent="0">
              <a:buNone/>
            </a:pPr>
            <a:r>
              <a:rPr lang="en-IN" dirty="0"/>
              <a:t>Endpoint Monitoring Agent (EDR Module) </a:t>
            </a:r>
          </a:p>
          <a:p>
            <a:pPr marL="0" indent="0">
              <a:buNone/>
            </a:pPr>
            <a:r>
              <a:rPr lang="en-IN" dirty="0"/>
              <a:t>The EDR module monitors endpoints such as cloud servers, virtual machines, and user devices. It collects system activity data including processes, file changes, login attempts, and network traffic to detect suspicious </a:t>
            </a:r>
            <a:r>
              <a:rPr lang="en-IN" dirty="0" err="1"/>
              <a:t>behavior</a:t>
            </a:r>
            <a:r>
              <a:rPr lang="en-IN" dirty="0"/>
              <a:t>.</a:t>
            </a:r>
            <a:endParaRPr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0"/>
            <a:ext cx="8229600" cy="6858000"/>
          </a:xfrm>
        </p:spPr>
        <p:txBody>
          <a:bodyPr/>
          <a:lstStyle/>
          <a:p>
            <a:pPr marL="0" indent="0">
              <a:buNone/>
            </a:pPr>
            <a:r>
              <a:rPr lang="en-IN" dirty="0"/>
              <a:t>Threat Detection Engine</a:t>
            </a:r>
          </a:p>
          <a:p>
            <a:pPr marL="0" indent="0">
              <a:buNone/>
            </a:pPr>
            <a:r>
              <a:rPr dirty="0"/>
              <a:t>This component analyzes collected data from both cloud configurations and endpoints. It identifies potential threats such as malware, unauthorized access, abnormal system activity, and policy violations.</a:t>
            </a:r>
            <a:endParaRPr lang="en-IN" dirty="0"/>
          </a:p>
          <a:p>
            <a:pPr marL="0" indent="0">
              <a:buNone/>
            </a:pPr>
            <a:r>
              <a:rPr lang="en-US" dirty="0"/>
              <a:t>Risk Analysis &amp; Classification Module </a:t>
            </a:r>
          </a:p>
          <a:p>
            <a:pPr marL="0" indent="0">
              <a:buNone/>
            </a:pPr>
            <a:r>
              <a:rPr lang="en-US" dirty="0"/>
              <a:t>Detected issues are evaluated and categorized based on severity levels such as Low, Medium, High, and Critical. The system prioritizes risks to help administrators respond quickly to the most serious threats.</a:t>
            </a:r>
            <a:endParaRPr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0"/>
            <a:ext cx="8229600" cy="6858000"/>
          </a:xfrm>
        </p:spPr>
        <p:txBody>
          <a:bodyPr/>
          <a:lstStyle/>
          <a:p>
            <a:pPr marL="0" indent="0">
              <a:buNone/>
            </a:pPr>
            <a:r>
              <a:rPr lang="en-US" dirty="0"/>
              <a:t>Security Report Generator </a:t>
            </a:r>
          </a:p>
          <a:p>
            <a:pPr marL="0" indent="0">
              <a:buNone/>
            </a:pPr>
            <a:r>
              <a:rPr lang="en-US" dirty="0"/>
              <a:t>The system generates detailed security reports that include vulnerability findings, endpoint alerts, and remediation recommendations. Reports can be exported in JSON, CSV, and HTML formats with timestamps and scan IDs.</a:t>
            </a:r>
            <a:br>
              <a:rPr lang="en-IN" dirty="0"/>
            </a:br>
            <a:endParaRPr lang="en-IN" dirty="0"/>
          </a:p>
          <a:p>
            <a:pPr marL="0" indent="0">
              <a:buNone/>
            </a:pPr>
            <a:r>
              <a:rPr lang="en-IN" dirty="0"/>
              <a:t>Database Layer</a:t>
            </a:r>
          </a:p>
          <a:p>
            <a:pPr marL="0" indent="0">
              <a:buNone/>
            </a:pPr>
            <a:r>
              <a:rPr dirty="0"/>
              <a:t>Stores scan history, security findings, system logs, endpoint alerts, and configuration data. This database helps track security trends and provides historical records for audits and analysis.</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417638"/>
          </a:xfrm>
        </p:spPr>
        <p:txBody>
          <a:bodyPr>
            <a:normAutofit/>
          </a:bodyPr>
          <a:lstStyle/>
          <a:p>
            <a:r>
              <a:rPr lang="en-IN" sz="3000" dirty="0"/>
              <a:t>Enhancements &amp; Future Scope </a:t>
            </a:r>
            <a:endParaRPr sz="3000" dirty="0"/>
          </a:p>
        </p:txBody>
      </p:sp>
      <p:sp>
        <p:nvSpPr>
          <p:cNvPr id="3" name="Content Placeholder 2"/>
          <p:cNvSpPr>
            <a:spLocks noGrp="1"/>
          </p:cNvSpPr>
          <p:nvPr>
            <p:ph idx="1"/>
          </p:nvPr>
        </p:nvSpPr>
        <p:spPr>
          <a:xfrm>
            <a:off x="457200" y="1024128"/>
            <a:ext cx="8229600" cy="5833872"/>
          </a:xfrm>
        </p:spPr>
        <p:txBody>
          <a:bodyPr>
            <a:normAutofit fontScale="92500" lnSpcReduction="10000"/>
          </a:bodyPr>
          <a:lstStyle/>
          <a:p>
            <a:pPr marL="0" indent="0">
              <a:buNone/>
            </a:pPr>
            <a:r>
              <a:rPr lang="en-US" dirty="0"/>
              <a:t>AI-Based Threat Detection </a:t>
            </a:r>
          </a:p>
          <a:p>
            <a:pPr marL="0" indent="0">
              <a:buNone/>
            </a:pPr>
            <a:r>
              <a:rPr lang="en-US" dirty="0"/>
              <a:t>Artificial intelligence can be integrated to detect unknown threats and analyze complex attack patterns in cloud environments. </a:t>
            </a:r>
          </a:p>
          <a:p>
            <a:pPr marL="0" indent="0">
              <a:buNone/>
            </a:pPr>
            <a:r>
              <a:rPr lang="en-US" dirty="0"/>
              <a:t>Real-Time Security Dashboard </a:t>
            </a:r>
          </a:p>
          <a:p>
            <a:pPr marL="0" indent="0">
              <a:buNone/>
            </a:pPr>
            <a:r>
              <a:rPr lang="en-US" dirty="0"/>
              <a:t>A live monitoring dashboard showing cloud posture status, endpoint alerts, and security heatmaps for better visualization of risks. </a:t>
            </a:r>
          </a:p>
          <a:p>
            <a:pPr marL="0" indent="0">
              <a:buNone/>
            </a:pPr>
            <a:r>
              <a:rPr lang="en-US" dirty="0"/>
              <a:t>Multi-Cloud Security Support </a:t>
            </a:r>
          </a:p>
          <a:p>
            <a:pPr marL="0" indent="0">
              <a:buNone/>
            </a:pPr>
            <a:r>
              <a:rPr lang="en-US" dirty="0"/>
              <a:t>Support for multiple cloud platforms such as Amazon Web Services, Microsoft Azure, and Google Cloud Platform.</a:t>
            </a:r>
            <a:endParaRPr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0"/>
            <a:ext cx="8229600" cy="6858000"/>
          </a:xfrm>
        </p:spPr>
        <p:txBody>
          <a:bodyPr/>
          <a:lstStyle/>
          <a:p>
            <a:pPr marL="0" indent="0">
              <a:buNone/>
            </a:pPr>
            <a:r>
              <a:rPr lang="en-US" dirty="0"/>
              <a:t>Automated Compliance Monitoring </a:t>
            </a:r>
          </a:p>
          <a:p>
            <a:pPr marL="0" indent="0">
              <a:buNone/>
            </a:pPr>
            <a:r>
              <a:rPr lang="en-US" dirty="0"/>
              <a:t>Automatic verification of cloud configurations against security standards and compliance frameworks. </a:t>
            </a:r>
          </a:p>
          <a:p>
            <a:pPr marL="0" indent="0">
              <a:buNone/>
            </a:pPr>
            <a:r>
              <a:rPr lang="en-US" dirty="0" err="1"/>
              <a:t>DevSecOps</a:t>
            </a:r>
            <a:r>
              <a:rPr lang="en-US" dirty="0"/>
              <a:t> Integration </a:t>
            </a:r>
          </a:p>
          <a:p>
            <a:pPr marL="0" indent="0">
              <a:buNone/>
            </a:pPr>
            <a:r>
              <a:rPr lang="en-US" dirty="0"/>
              <a:t>Integration with CI/CD pipelines to scan cloud infrastructure and applications during the development process. </a:t>
            </a:r>
          </a:p>
          <a:p>
            <a:pPr marL="0" indent="0">
              <a:buNone/>
            </a:pPr>
            <a:r>
              <a:rPr lang="en-US" dirty="0"/>
              <a:t>Role-Based Access Control (RBAC) </a:t>
            </a:r>
          </a:p>
          <a:p>
            <a:pPr marL="0" indent="0">
              <a:buNone/>
            </a:pPr>
            <a:r>
              <a:rPr lang="en-US" dirty="0"/>
              <a:t>Allows multiple users with different roles such as administrators, security analysts, and auditors to access the system with controlled permissions.</a:t>
            </a:r>
            <a:endParaRPr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124C6-73A3-E174-9C94-8ED096456F7F}"/>
              </a:ext>
            </a:extLst>
          </p:cNvPr>
          <p:cNvSpPr>
            <a:spLocks noGrp="1"/>
          </p:cNvSpPr>
          <p:nvPr>
            <p:ph type="title"/>
          </p:nvPr>
        </p:nvSpPr>
        <p:spPr/>
        <p:txBody>
          <a:bodyPr/>
          <a:lstStyle/>
          <a:p>
            <a:r>
              <a:rPr lang="en-IN" dirty="0"/>
              <a:t>Flowchart</a:t>
            </a:r>
          </a:p>
        </p:txBody>
      </p:sp>
      <p:pic>
        <p:nvPicPr>
          <p:cNvPr id="4" name="Content Placeholder 3" descr="What Is CSPM? | Cloud Security Posture Management Explained - Palo Alto  Networks">
            <a:extLst>
              <a:ext uri="{FF2B5EF4-FFF2-40B4-BE49-F238E27FC236}">
                <a16:creationId xmlns:a16="http://schemas.microsoft.com/office/drawing/2014/main" id="{047F98B0-4853-008E-3349-F13EA1E25FBC}"/>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41248" y="1645920"/>
            <a:ext cx="7426392" cy="4157471"/>
          </a:xfrm>
          <a:prstGeom prst="rect">
            <a:avLst/>
          </a:prstGeom>
          <a:noFill/>
          <a:ln>
            <a:noFill/>
          </a:ln>
        </p:spPr>
      </p:pic>
    </p:spTree>
    <p:extLst>
      <p:ext uri="{BB962C8B-B14F-4D97-AF65-F5344CB8AC3E}">
        <p14:creationId xmlns:p14="http://schemas.microsoft.com/office/powerpoint/2010/main" val="232915329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41A4B-1B19-3707-8156-5DAB41D5AF5C}"/>
              </a:ext>
            </a:extLst>
          </p:cNvPr>
          <p:cNvSpPr>
            <a:spLocks noGrp="1"/>
          </p:cNvSpPr>
          <p:nvPr>
            <p:ph type="title"/>
          </p:nvPr>
        </p:nvSpPr>
        <p:spPr/>
        <p:txBody>
          <a:bodyPr>
            <a:normAutofit fontScale="90000"/>
          </a:bodyPr>
          <a:lstStyle/>
          <a:p>
            <a:r>
              <a:rPr lang="en-IN" b="1" dirty="0"/>
              <a:t>requirements.txt</a:t>
            </a:r>
            <a:br>
              <a:rPr lang="en-IN" dirty="0"/>
            </a:br>
            <a:endParaRPr lang="en-IN" dirty="0"/>
          </a:p>
        </p:txBody>
      </p:sp>
      <p:pic>
        <p:nvPicPr>
          <p:cNvPr id="4" name="Content Placeholder 3">
            <a:extLst>
              <a:ext uri="{FF2B5EF4-FFF2-40B4-BE49-F238E27FC236}">
                <a16:creationId xmlns:a16="http://schemas.microsoft.com/office/drawing/2014/main" id="{6140F66E-4CA1-BA0B-F60E-5BE084C1CFA9}"/>
              </a:ext>
            </a:extLst>
          </p:cNvPr>
          <p:cNvPicPr>
            <a:picLocks noGrp="1" noChangeAspect="1"/>
          </p:cNvPicPr>
          <p:nvPr>
            <p:ph idx="1"/>
          </p:nvPr>
        </p:nvPicPr>
        <p:blipFill>
          <a:blip r:embed="rId2"/>
          <a:stretch>
            <a:fillRect/>
          </a:stretch>
        </p:blipFill>
        <p:spPr>
          <a:xfrm>
            <a:off x="2840736" y="1417638"/>
            <a:ext cx="3280829" cy="3898074"/>
          </a:xfrm>
          <a:prstGeom prst="rect">
            <a:avLst/>
          </a:prstGeom>
        </p:spPr>
      </p:pic>
    </p:spTree>
    <p:extLst>
      <p:ext uri="{BB962C8B-B14F-4D97-AF65-F5344CB8AC3E}">
        <p14:creationId xmlns:p14="http://schemas.microsoft.com/office/powerpoint/2010/main" val="328887833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run the slide</a:t>
            </a:r>
          </a:p>
        </p:txBody>
      </p:sp>
      <p:sp>
        <p:nvSpPr>
          <p:cNvPr id="3" name="Content Placeholder 2"/>
          <p:cNvSpPr>
            <a:spLocks noGrp="1"/>
          </p:cNvSpPr>
          <p:nvPr>
            <p:ph idx="1"/>
          </p:nvPr>
        </p:nvSpPr>
        <p:spPr>
          <a:xfrm>
            <a:off x="457200" y="1600200"/>
            <a:ext cx="8229600" cy="5257800"/>
          </a:xfrm>
        </p:spPr>
        <p:txBody>
          <a:bodyPr>
            <a:normAutofit/>
          </a:bodyPr>
          <a:lstStyle/>
          <a:p>
            <a:pPr marL="0" indent="0">
              <a:buNone/>
            </a:pPr>
            <a:r>
              <a:rPr lang="en-IN" dirty="0"/>
              <a:t>Opening the Project Folder</a:t>
            </a:r>
          </a:p>
          <a:p>
            <a:pPr marL="0" indent="0">
              <a:buNone/>
            </a:pPr>
            <a:r>
              <a:rPr lang="en-IN" dirty="0"/>
              <a:t>														</a:t>
            </a:r>
          </a:p>
          <a:p>
            <a:pPr marL="0" indent="0">
              <a:buNone/>
            </a:pPr>
            <a:r>
              <a:rPr lang="en-IN" dirty="0"/>
              <a:t>Creating Virtual Environment</a:t>
            </a:r>
          </a:p>
          <a:p>
            <a:pPr marL="0" indent="0">
              <a:buNone/>
            </a:pPr>
            <a:endParaRPr lang="en-IN" dirty="0"/>
          </a:p>
          <a:p>
            <a:pPr marL="0" indent="0">
              <a:buNone/>
            </a:pPr>
            <a:r>
              <a:rPr lang="en-IN" dirty="0"/>
              <a:t>Activating Virtual Environment</a:t>
            </a:r>
          </a:p>
          <a:p>
            <a:pPr marL="0" indent="0">
              <a:buNone/>
            </a:pPr>
            <a:endParaRPr lang="en-IN" dirty="0"/>
          </a:p>
          <a:p>
            <a:pPr marL="0" indent="0">
              <a:buNone/>
            </a:pPr>
            <a:endParaRPr lang="en-IN" dirty="0"/>
          </a:p>
          <a:p>
            <a:pPr marL="0" indent="0">
              <a:buNone/>
            </a:pPr>
            <a:r>
              <a:rPr lang="en-IN" dirty="0"/>
              <a:t>			</a:t>
            </a:r>
            <a:endParaRPr dirty="0"/>
          </a:p>
        </p:txBody>
      </p:sp>
      <p:pic>
        <p:nvPicPr>
          <p:cNvPr id="4" name="Picture 3">
            <a:extLst>
              <a:ext uri="{FF2B5EF4-FFF2-40B4-BE49-F238E27FC236}">
                <a16:creationId xmlns:a16="http://schemas.microsoft.com/office/drawing/2014/main" id="{06C47D0B-7C6F-0B2A-D189-B0957AA90A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5903" y="2302002"/>
            <a:ext cx="5936615" cy="468630"/>
          </a:xfrm>
          <a:prstGeom prst="rect">
            <a:avLst/>
          </a:prstGeom>
        </p:spPr>
      </p:pic>
      <p:pic>
        <p:nvPicPr>
          <p:cNvPr id="5" name="Picture 4">
            <a:extLst>
              <a:ext uri="{FF2B5EF4-FFF2-40B4-BE49-F238E27FC236}">
                <a16:creationId xmlns:a16="http://schemas.microsoft.com/office/drawing/2014/main" id="{1019829D-29AB-F098-51D3-18F3B7DC4208}"/>
              </a:ext>
            </a:extLst>
          </p:cNvPr>
          <p:cNvPicPr>
            <a:picLocks noChangeAspect="1"/>
          </p:cNvPicPr>
          <p:nvPr/>
        </p:nvPicPr>
        <p:blipFill>
          <a:blip r:embed="rId3"/>
          <a:stretch>
            <a:fillRect/>
          </a:stretch>
        </p:blipFill>
        <p:spPr>
          <a:xfrm>
            <a:off x="755903" y="3429000"/>
            <a:ext cx="7930896" cy="468630"/>
          </a:xfrm>
          <a:prstGeom prst="rect">
            <a:avLst/>
          </a:prstGeom>
        </p:spPr>
      </p:pic>
      <p:pic>
        <p:nvPicPr>
          <p:cNvPr id="6" name="Picture 5">
            <a:extLst>
              <a:ext uri="{FF2B5EF4-FFF2-40B4-BE49-F238E27FC236}">
                <a16:creationId xmlns:a16="http://schemas.microsoft.com/office/drawing/2014/main" id="{9DF5FBA0-B4D3-1A39-44EA-9F89380F1FB1}"/>
              </a:ext>
            </a:extLst>
          </p:cNvPr>
          <p:cNvPicPr>
            <a:picLocks noChangeAspect="1"/>
          </p:cNvPicPr>
          <p:nvPr/>
        </p:nvPicPr>
        <p:blipFill>
          <a:blip r:embed="rId4"/>
          <a:stretch>
            <a:fillRect/>
          </a:stretch>
        </p:blipFill>
        <p:spPr>
          <a:xfrm>
            <a:off x="755903" y="4614975"/>
            <a:ext cx="7930897" cy="468629"/>
          </a:xfrm>
          <a:prstGeom prst="rect">
            <a:avLst/>
          </a:prstGeom>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D0C7EE-F943-60DB-5ECB-087528941E84}"/>
              </a:ext>
            </a:extLst>
          </p:cNvPr>
          <p:cNvSpPr>
            <a:spLocks noGrp="1"/>
          </p:cNvSpPr>
          <p:nvPr>
            <p:ph idx="1"/>
          </p:nvPr>
        </p:nvSpPr>
        <p:spPr>
          <a:xfrm>
            <a:off x="457200" y="0"/>
            <a:ext cx="8229600" cy="6858000"/>
          </a:xfrm>
        </p:spPr>
        <p:txBody>
          <a:bodyPr/>
          <a:lstStyle/>
          <a:p>
            <a:pPr marL="0" indent="0">
              <a:buNone/>
            </a:pPr>
            <a:r>
              <a:rPr lang="en-IN" dirty="0"/>
              <a:t>Running the Flask App</a:t>
            </a:r>
          </a:p>
          <a:p>
            <a:pPr marL="0" indent="0">
              <a:buNone/>
            </a:pPr>
            <a:r>
              <a:rPr lang="en-IN" dirty="0"/>
              <a:t>																	\</a:t>
            </a:r>
          </a:p>
          <a:p>
            <a:pPr marL="0" indent="0">
              <a:buNone/>
            </a:pPr>
            <a:endParaRPr lang="en-IN" dirty="0"/>
          </a:p>
          <a:p>
            <a:pPr marL="0" indent="0">
              <a:buNone/>
            </a:pPr>
            <a:r>
              <a:rPr lang="en-IN" dirty="0"/>
              <a:t>											</a:t>
            </a:r>
          </a:p>
        </p:txBody>
      </p:sp>
      <p:pic>
        <p:nvPicPr>
          <p:cNvPr id="4" name="Picture 3">
            <a:extLst>
              <a:ext uri="{FF2B5EF4-FFF2-40B4-BE49-F238E27FC236}">
                <a16:creationId xmlns:a16="http://schemas.microsoft.com/office/drawing/2014/main" id="{5EB9320C-3C2E-1CC6-7B45-808DD325224F}"/>
              </a:ext>
            </a:extLst>
          </p:cNvPr>
          <p:cNvPicPr>
            <a:picLocks noChangeAspect="1"/>
          </p:cNvPicPr>
          <p:nvPr/>
        </p:nvPicPr>
        <p:blipFill>
          <a:blip r:embed="rId2"/>
          <a:stretch>
            <a:fillRect/>
          </a:stretch>
        </p:blipFill>
        <p:spPr>
          <a:xfrm>
            <a:off x="457201" y="664464"/>
            <a:ext cx="8229600" cy="396240"/>
          </a:xfrm>
          <a:prstGeom prst="rect">
            <a:avLst/>
          </a:prstGeom>
        </p:spPr>
      </p:pic>
      <p:pic>
        <p:nvPicPr>
          <p:cNvPr id="5" name="Picture 4">
            <a:extLst>
              <a:ext uri="{FF2B5EF4-FFF2-40B4-BE49-F238E27FC236}">
                <a16:creationId xmlns:a16="http://schemas.microsoft.com/office/drawing/2014/main" id="{E36F1457-4B0B-0FF2-E2B7-0799A036AE93}"/>
              </a:ext>
            </a:extLst>
          </p:cNvPr>
          <p:cNvPicPr>
            <a:picLocks noChangeAspect="1"/>
          </p:cNvPicPr>
          <p:nvPr/>
        </p:nvPicPr>
        <p:blipFill>
          <a:blip r:embed="rId3"/>
          <a:stretch>
            <a:fillRect/>
          </a:stretch>
        </p:blipFill>
        <p:spPr>
          <a:xfrm>
            <a:off x="547526" y="1853184"/>
            <a:ext cx="7889337" cy="4340352"/>
          </a:xfrm>
          <a:prstGeom prst="rect">
            <a:avLst/>
          </a:prstGeom>
        </p:spPr>
      </p:pic>
    </p:spTree>
    <p:extLst>
      <p:ext uri="{BB962C8B-B14F-4D97-AF65-F5344CB8AC3E}">
        <p14:creationId xmlns:p14="http://schemas.microsoft.com/office/powerpoint/2010/main" val="250458935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Start the Web Server</a:t>
            </a:r>
          </a:p>
        </p:txBody>
      </p:sp>
      <p:sp>
        <p:nvSpPr>
          <p:cNvPr id="3" name="Content Placeholder 2"/>
          <p:cNvSpPr>
            <a:spLocks noGrp="1"/>
          </p:cNvSpPr>
          <p:nvPr>
            <p:ph idx="1"/>
          </p:nvPr>
        </p:nvSpPr>
        <p:spPr/>
        <p:txBody>
          <a:bodyPr/>
          <a:lstStyle/>
          <a:p>
            <a:r>
              <a:rPr dirty="0"/>
              <a:t>Open the browser at </a:t>
            </a:r>
            <a:r>
              <a:rPr dirty="0">
                <a:hlinkClick r:id="rId2"/>
              </a:rPr>
              <a:t>http://127.0.0.1:5000</a:t>
            </a:r>
            <a:endParaRPr lang="en-IN" dirty="0"/>
          </a:p>
          <a:p>
            <a:pPr marL="0" indent="0">
              <a:buNone/>
            </a:pPr>
            <a:endParaRPr lang="en-IN" dirty="0"/>
          </a:p>
        </p:txBody>
      </p:sp>
      <p:pic>
        <p:nvPicPr>
          <p:cNvPr id="4" name="Picture 3">
            <a:extLst>
              <a:ext uri="{FF2B5EF4-FFF2-40B4-BE49-F238E27FC236}">
                <a16:creationId xmlns:a16="http://schemas.microsoft.com/office/drawing/2014/main" id="{F5955120-6532-F6EC-4DC1-79E58BAB6A1B}"/>
              </a:ext>
            </a:extLst>
          </p:cNvPr>
          <p:cNvPicPr>
            <a:picLocks noChangeAspect="1"/>
          </p:cNvPicPr>
          <p:nvPr/>
        </p:nvPicPr>
        <p:blipFill>
          <a:blip r:embed="rId3"/>
          <a:stretch>
            <a:fillRect/>
          </a:stretch>
        </p:blipFill>
        <p:spPr>
          <a:xfrm>
            <a:off x="2007870" y="2766060"/>
            <a:ext cx="5128260" cy="1325880"/>
          </a:xfrm>
          <a:prstGeom prst="rect">
            <a:avLst/>
          </a:prstGeom>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Sign in page</a:t>
            </a:r>
          </a:p>
        </p:txBody>
      </p:sp>
      <p:sp>
        <p:nvSpPr>
          <p:cNvPr id="3" name="Content Placeholder 2"/>
          <p:cNvSpPr>
            <a:spLocks noGrp="1"/>
          </p:cNvSpPr>
          <p:nvPr>
            <p:ph idx="1"/>
          </p:nvPr>
        </p:nvSpPr>
        <p:spPr/>
        <p:txBody>
          <a:bodyPr>
            <a:normAutofit fontScale="85000" lnSpcReduction="20000"/>
          </a:bodyPr>
          <a:lstStyle/>
          <a:p>
            <a:r>
              <a:t>The Nexus Security Login Interface serves as the primary authentication gateway for accessing the Cloud Security Posture Management (CSPM) and Endpoint Detection and Response (EDR) platform. This interface ensures that only authorized users can access the enterprise security dashboard and system resources.</a:t>
            </a:r>
          </a:p>
          <a:p>
            <a:r>
              <a:t>The login screen is designed with a modern minimalistic user interface, providing both usability and security. It includes fields for user credentials and integrates with the backend authentication system implemented using Flask session management and password hashing.</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AD7FFA05-4164-1134-88F7-8C4FCB5E9151}"/>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457200" y="524256"/>
            <a:ext cx="8016239" cy="5468242"/>
          </a:xfrm>
          <a:prstGeom prst="rect">
            <a:avLst/>
          </a:prstGeom>
          <a:noFill/>
          <a:ln>
            <a:noFill/>
          </a:ln>
        </p:spPr>
      </p:pic>
    </p:spTree>
    <p:extLst>
      <p:ext uri="{BB962C8B-B14F-4D97-AF65-F5344CB8AC3E}">
        <p14:creationId xmlns:p14="http://schemas.microsoft.com/office/powerpoint/2010/main" val="412210428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40612F67-D122-F42F-31A9-9D79CDA49FFC}"/>
              </a:ext>
            </a:extLst>
          </p:cNvPr>
          <p:cNvPicPr>
            <a:picLocks noGrp="1" noChangeAspect="1"/>
          </p:cNvPicPr>
          <p:nvPr>
            <p:ph idx="1"/>
          </p:nvPr>
        </p:nvPicPr>
        <p:blipFill>
          <a:blip r:embed="rId2"/>
          <a:stretch>
            <a:fillRect/>
          </a:stretch>
        </p:blipFill>
        <p:spPr>
          <a:xfrm>
            <a:off x="457200" y="1304544"/>
            <a:ext cx="8229600" cy="4828032"/>
          </a:xfrm>
          <a:prstGeom prst="rect">
            <a:avLst/>
          </a:prstGeom>
        </p:spPr>
      </p:pic>
    </p:spTree>
    <p:extLst>
      <p:ext uri="{BB962C8B-B14F-4D97-AF65-F5344CB8AC3E}">
        <p14:creationId xmlns:p14="http://schemas.microsoft.com/office/powerpoint/2010/main" val="314148006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Run Scan Button</a:t>
            </a:r>
          </a:p>
        </p:txBody>
      </p:sp>
      <p:sp>
        <p:nvSpPr>
          <p:cNvPr id="3" name="Content Placeholder 2"/>
          <p:cNvSpPr>
            <a:spLocks noGrp="1"/>
          </p:cNvSpPr>
          <p:nvPr>
            <p:ph idx="1"/>
          </p:nvPr>
        </p:nvSpPr>
        <p:spPr>
          <a:xfrm>
            <a:off x="457200" y="1600200"/>
            <a:ext cx="8229600" cy="5257800"/>
          </a:xfrm>
        </p:spPr>
        <p:txBody>
          <a:bodyPr>
            <a:normAutofit/>
          </a:bodyPr>
          <a:lstStyle/>
          <a:p>
            <a:r>
              <a:rPr sz="2600" dirty="0"/>
              <a:t>The Run Scan button is used to initiate a security scan of the cloud environment and connected endpoints. When the user clicks this button, the system starts analyzing resources to detect vulnerabilities, misconfigurations, and potential security threats. The scan collects data from services such as compute, storage, identity management, and databases. The results are then displayed on the dashboard with risk scores, alerts, and security recommendations.</a:t>
            </a:r>
            <a:endParaRPr lang="en-IN" sz="2600" dirty="0"/>
          </a:p>
          <a:p>
            <a:endParaRPr sz="2600" dirty="0"/>
          </a:p>
        </p:txBody>
      </p:sp>
      <p:pic>
        <p:nvPicPr>
          <p:cNvPr id="4" name="Picture 3">
            <a:extLst>
              <a:ext uri="{FF2B5EF4-FFF2-40B4-BE49-F238E27FC236}">
                <a16:creationId xmlns:a16="http://schemas.microsoft.com/office/drawing/2014/main" id="{CEA6FD26-4A85-0ECF-6D0B-8218BB99D34C}"/>
              </a:ext>
            </a:extLst>
          </p:cNvPr>
          <p:cNvPicPr>
            <a:picLocks noChangeAspect="1"/>
          </p:cNvPicPr>
          <p:nvPr/>
        </p:nvPicPr>
        <p:blipFill>
          <a:blip r:embed="rId2"/>
          <a:stretch>
            <a:fillRect/>
          </a:stretch>
        </p:blipFill>
        <p:spPr>
          <a:xfrm>
            <a:off x="1115568" y="5280660"/>
            <a:ext cx="3230880" cy="1356360"/>
          </a:xfrm>
          <a:prstGeom prst="rect">
            <a:avLst/>
          </a:prstGeom>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Security Posture Analysis Dashboard</a:t>
            </a:r>
          </a:p>
        </p:txBody>
      </p:sp>
      <p:sp>
        <p:nvSpPr>
          <p:cNvPr id="3" name="Content Placeholder 2"/>
          <p:cNvSpPr>
            <a:spLocks noGrp="1"/>
          </p:cNvSpPr>
          <p:nvPr>
            <p:ph idx="1"/>
          </p:nvPr>
        </p:nvSpPr>
        <p:spPr/>
        <p:txBody>
          <a:bodyPr>
            <a:normAutofit fontScale="70000" lnSpcReduction="20000"/>
          </a:bodyPr>
          <a:lstStyle/>
          <a:p>
            <a:r>
              <a:t>The Security Posture Analysis Dashboard provides a comprehensive overview of the organization's cloud security health and threat landscape. It highlights key indicators such as Critical Issues, AI Risk Score, Active Endpoint Agents, and Dark Web Hits, allowing administrators to quickly identify security risks.</a:t>
            </a:r>
          </a:p>
          <a:p>
            <a:r>
              <a:t>The dashboard includes analytical visualizations like Risk by Service charts and 30-Day Trend graphs to monitor security performance over time. The Severity Distribution chart categorizes vulnerabilities into Critical, High, Medium, and Low levels for better prioritization.</a:t>
            </a:r>
          </a:p>
          <a:p>
            <a:r>
              <a:t>Additionally, the Compliance Status panel shows the organization's adherence to security policies and frameworks. The Threat Intelligence Feed displays information gathered from external threat sources such as TOR nodes, forums, and paste sites.</a:t>
            </a:r>
          </a:p>
          <a:p>
            <a:r>
              <a:t>Together, these components help security teams detect threats early, assess risks, and maintain a strong cloud security posture.</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FA98879-0628-0FF7-06A0-EBA15C1B20E9}"/>
              </a:ext>
            </a:extLst>
          </p:cNvPr>
          <p:cNvPicPr>
            <a:picLocks noGrp="1" noChangeAspect="1"/>
          </p:cNvPicPr>
          <p:nvPr>
            <p:ph idx="1"/>
          </p:nvPr>
        </p:nvPicPr>
        <p:blipFill>
          <a:blip r:embed="rId2"/>
          <a:stretch>
            <a:fillRect/>
          </a:stretch>
        </p:blipFill>
        <p:spPr>
          <a:xfrm>
            <a:off x="0" y="3706369"/>
            <a:ext cx="9144000" cy="3151632"/>
          </a:xfrm>
          <a:prstGeom prst="rect">
            <a:avLst/>
          </a:prstGeom>
        </p:spPr>
      </p:pic>
      <p:pic>
        <p:nvPicPr>
          <p:cNvPr id="7" name="Picture 6">
            <a:extLst>
              <a:ext uri="{FF2B5EF4-FFF2-40B4-BE49-F238E27FC236}">
                <a16:creationId xmlns:a16="http://schemas.microsoft.com/office/drawing/2014/main" id="{E84F9EE2-2327-59DD-C18C-4A43AF36D364}"/>
              </a:ext>
            </a:extLst>
          </p:cNvPr>
          <p:cNvPicPr>
            <a:picLocks noChangeAspect="1"/>
          </p:cNvPicPr>
          <p:nvPr/>
        </p:nvPicPr>
        <p:blipFill>
          <a:blip r:embed="rId3"/>
          <a:stretch>
            <a:fillRect/>
          </a:stretch>
        </p:blipFill>
        <p:spPr>
          <a:xfrm>
            <a:off x="0" y="1"/>
            <a:ext cx="9144000" cy="3706368"/>
          </a:xfrm>
          <a:prstGeom prst="rect">
            <a:avLst/>
          </a:prstGeom>
        </p:spPr>
      </p:pic>
    </p:spTree>
    <p:extLst>
      <p:ext uri="{BB962C8B-B14F-4D97-AF65-F5344CB8AC3E}">
        <p14:creationId xmlns:p14="http://schemas.microsoft.com/office/powerpoint/2010/main" val="407148675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Detailed Security Findings</a:t>
            </a:r>
          </a:p>
        </p:txBody>
      </p:sp>
      <p:sp>
        <p:nvSpPr>
          <p:cNvPr id="3" name="Content Placeholder 2"/>
          <p:cNvSpPr>
            <a:spLocks noGrp="1"/>
          </p:cNvSpPr>
          <p:nvPr>
            <p:ph idx="1"/>
          </p:nvPr>
        </p:nvSpPr>
        <p:spPr/>
        <p:txBody>
          <a:bodyPr>
            <a:normAutofit fontScale="92500" lnSpcReduction="20000"/>
          </a:bodyPr>
          <a:lstStyle/>
          <a:p>
            <a:r>
              <a:t>The Detailed Findings section displays a list of security vulnerabilities detected during the cloud security scan. It shows important information such as the affected resource, identified security issue, and recommended remediation steps. Examples of detected issues include exposed ports, missing multi-factor authentication (MFA), public S3 bucket access, weak firewall rules, and unencrypted storage. Each finding is analyzed by the system and presented with a suggested security action, such as restricting firewall rules, enabling encryption, or revoking exposed keys.</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EC51FFDE-A923-1CDA-9414-3E5AA6191A1A}"/>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072896" y="1950720"/>
            <a:ext cx="6693407" cy="3371415"/>
          </a:xfrm>
          <a:prstGeom prst="rect">
            <a:avLst/>
          </a:prstGeom>
          <a:noFill/>
          <a:ln>
            <a:noFill/>
          </a:ln>
        </p:spPr>
      </p:pic>
    </p:spTree>
    <p:extLst>
      <p:ext uri="{BB962C8B-B14F-4D97-AF65-F5344CB8AC3E}">
        <p14:creationId xmlns:p14="http://schemas.microsoft.com/office/powerpoint/2010/main" val="369619447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Asset Inventory Dashboard</a:t>
            </a:r>
          </a:p>
        </p:txBody>
      </p:sp>
      <p:sp>
        <p:nvSpPr>
          <p:cNvPr id="3" name="Content Placeholder 2"/>
          <p:cNvSpPr>
            <a:spLocks noGrp="1"/>
          </p:cNvSpPr>
          <p:nvPr>
            <p:ph idx="1"/>
          </p:nvPr>
        </p:nvSpPr>
        <p:spPr/>
        <p:txBody>
          <a:bodyPr>
            <a:normAutofit lnSpcReduction="10000"/>
          </a:bodyPr>
          <a:lstStyle/>
          <a:p>
            <a:r>
              <a:t>The Asset Inventory section provides a detailed list of all cloud resources monitored by the security platform. It displays important information such as the cloud provider, resource ID, resource type, and associated risk score for each asset. Resources may include services like AWS EC2 instances, S3 storage buckets, RDS databases, Azure virtual machines, and Google Cloud compute instances.</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A37E87E4-22C9-001E-FBFD-58E6F2C2B6A7}"/>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877824" y="1584960"/>
            <a:ext cx="7229855" cy="4303776"/>
          </a:xfrm>
          <a:prstGeom prst="rect">
            <a:avLst/>
          </a:prstGeom>
          <a:noFill/>
          <a:ln>
            <a:noFill/>
          </a:ln>
        </p:spPr>
      </p:pic>
    </p:spTree>
    <p:extLst>
      <p:ext uri="{BB962C8B-B14F-4D97-AF65-F5344CB8AC3E}">
        <p14:creationId xmlns:p14="http://schemas.microsoft.com/office/powerpoint/2010/main" val="988630223"/>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Endpoint Fleet Monitoring</a:t>
            </a:r>
          </a:p>
        </p:txBody>
      </p:sp>
      <p:sp>
        <p:nvSpPr>
          <p:cNvPr id="3" name="Content Placeholder 2"/>
          <p:cNvSpPr>
            <a:spLocks noGrp="1"/>
          </p:cNvSpPr>
          <p:nvPr>
            <p:ph idx="1"/>
          </p:nvPr>
        </p:nvSpPr>
        <p:spPr/>
        <p:txBody>
          <a:bodyPr>
            <a:normAutofit fontScale="85000" lnSpcReduction="10000"/>
          </a:bodyPr>
          <a:lstStyle/>
          <a:p>
            <a:r>
              <a:t>The Endpoint Fleet dashboard provides an overview of all connected devices monitored by the Endpoint Detection and Response (EDR) system. It displays important security information such as antivirus status, disk encryption level, host firewall configuration, and application control activity.</a:t>
            </a:r>
          </a:p>
          <a:p>
            <a:r>
              <a:t>The platform tracks active agents and blocked threats to ensure endpoint protection across the organization. The Endpoint Inventory table lists devices with details like hostname, operating system, IP address, antivirus status, firewall status, and overall health.</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DF36C550-CBC4-4FCC-DA57-1401A0FBD364}"/>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475156" y="1085088"/>
            <a:ext cx="8503993" cy="5096256"/>
          </a:xfrm>
          <a:prstGeom prst="rect">
            <a:avLst/>
          </a:prstGeom>
          <a:noFill/>
          <a:ln>
            <a:noFill/>
          </a:ln>
        </p:spPr>
      </p:pic>
    </p:spTree>
    <p:extLst>
      <p:ext uri="{BB962C8B-B14F-4D97-AF65-F5344CB8AC3E}">
        <p14:creationId xmlns:p14="http://schemas.microsoft.com/office/powerpoint/2010/main" val="346329116"/>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Live Monitoring Dashboard</a:t>
            </a:r>
          </a:p>
        </p:txBody>
      </p:sp>
      <p:sp>
        <p:nvSpPr>
          <p:cNvPr id="3" name="Content Placeholder 2"/>
          <p:cNvSpPr>
            <a:spLocks noGrp="1"/>
          </p:cNvSpPr>
          <p:nvPr>
            <p:ph idx="1"/>
          </p:nvPr>
        </p:nvSpPr>
        <p:spPr/>
        <p:txBody>
          <a:bodyPr>
            <a:normAutofit fontScale="85000" lnSpcReduction="10000"/>
          </a:bodyPr>
          <a:lstStyle/>
          <a:p>
            <a:r>
              <a:t>The Live Monitoring Dashboard provides real-time visibility into the system’s operational status and security activity. It displays important performance metrics such as CPU usage, RAM utilization, and network traffic, helping administrators monitor system health.</a:t>
            </a:r>
          </a:p>
          <a:p>
            <a:r>
              <a:t>The dashboard also shows whether the security platform is operational and actively protecting the environment. A Real-Time Events Stream records ongoing activities such as user logins, endpoint scans, blocked threats, and security updates.</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BC56B507-12D1-A7B0-EFFA-AC316A215690}"/>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731520" y="1280160"/>
            <a:ext cx="7900415" cy="4901183"/>
          </a:xfrm>
          <a:prstGeom prst="rect">
            <a:avLst/>
          </a:prstGeom>
          <a:noFill/>
          <a:ln>
            <a:noFill/>
          </a:ln>
        </p:spPr>
      </p:pic>
    </p:spTree>
    <p:extLst>
      <p:ext uri="{BB962C8B-B14F-4D97-AF65-F5344CB8AC3E}">
        <p14:creationId xmlns:p14="http://schemas.microsoft.com/office/powerpoint/2010/main" val="2046004359"/>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Threat Detection Dashboard</a:t>
            </a:r>
          </a:p>
        </p:txBody>
      </p:sp>
      <p:sp>
        <p:nvSpPr>
          <p:cNvPr id="3" name="Content Placeholder 2"/>
          <p:cNvSpPr>
            <a:spLocks noGrp="1"/>
          </p:cNvSpPr>
          <p:nvPr>
            <p:ph idx="1"/>
          </p:nvPr>
        </p:nvSpPr>
        <p:spPr/>
        <p:txBody>
          <a:bodyPr>
            <a:normAutofit fontScale="85000" lnSpcReduction="10000"/>
          </a:bodyPr>
          <a:lstStyle/>
          <a:p>
            <a:r>
              <a:t>The Threat Detection Dashboard provides real-time visibility into malware and suspicious activities detected across the system. It displays key statistics such as the number of active threats, blocked attacks, quarantined files, and false positives.</a:t>
            </a:r>
          </a:p>
          <a:p>
            <a:r>
              <a:t>The Recent Detections table lists details including the detection time, affected host device, type of threat, severity level, and recommended action. Examples of detected threats include malware like Trojan.Win32.Emotet, suspicious PowerShell activity, and potential keyloggers.</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379010E4-FFC7-4434-CEFE-781433BDBD3A}"/>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362581" y="1792224"/>
            <a:ext cx="8268848" cy="4218432"/>
          </a:xfrm>
          <a:prstGeom prst="rect">
            <a:avLst/>
          </a:prstGeom>
          <a:noFill/>
          <a:ln>
            <a:noFill/>
          </a:ln>
        </p:spPr>
      </p:pic>
    </p:spTree>
    <p:extLst>
      <p:ext uri="{BB962C8B-B14F-4D97-AF65-F5344CB8AC3E}">
        <p14:creationId xmlns:p14="http://schemas.microsoft.com/office/powerpoint/2010/main" val="3889594319"/>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Dark Web Monitoring Dashboard</a:t>
            </a:r>
          </a:p>
        </p:txBody>
      </p:sp>
      <p:sp>
        <p:nvSpPr>
          <p:cNvPr id="3" name="Content Placeholder 2"/>
          <p:cNvSpPr>
            <a:spLocks noGrp="1"/>
          </p:cNvSpPr>
          <p:nvPr>
            <p:ph idx="1"/>
          </p:nvPr>
        </p:nvSpPr>
        <p:spPr/>
        <p:txBody>
          <a:bodyPr>
            <a:normAutofit fontScale="85000" lnSpcReduction="10000"/>
          </a:bodyPr>
          <a:lstStyle/>
          <a:p>
            <a:r>
              <a:t>The Dark Web Monitoring Dashboard tracks potential security risks originating from hidden online sources such as Tor networks, underground forums, and paste sites. It identifies critical issues including credential leaks, exposed API keys, domain mentions, and stealer logs related to the organization.</a:t>
            </a:r>
          </a:p>
          <a:p>
            <a:r>
              <a:t>The dashboard displays statistics that help security teams quickly assess the scale of data exposure. A Live Intelligence Feed shows detailed information about detected leaks, including the source, type of breach, and recommended remediation action.</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1B108731-A33B-311A-A59F-00EBB0716841}"/>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463296" y="1719072"/>
            <a:ext cx="8320457" cy="4376928"/>
          </a:xfrm>
          <a:prstGeom prst="rect">
            <a:avLst/>
          </a:prstGeom>
          <a:noFill/>
          <a:ln>
            <a:noFill/>
          </a:ln>
        </p:spPr>
      </p:pic>
    </p:spTree>
    <p:extLst>
      <p:ext uri="{BB962C8B-B14F-4D97-AF65-F5344CB8AC3E}">
        <p14:creationId xmlns:p14="http://schemas.microsoft.com/office/powerpoint/2010/main" val="4031558564"/>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Attack Graph Visualization</a:t>
            </a:r>
          </a:p>
        </p:txBody>
      </p:sp>
      <p:sp>
        <p:nvSpPr>
          <p:cNvPr id="3" name="Content Placeholder 2"/>
          <p:cNvSpPr>
            <a:spLocks noGrp="1"/>
          </p:cNvSpPr>
          <p:nvPr>
            <p:ph idx="1"/>
          </p:nvPr>
        </p:nvSpPr>
        <p:spPr/>
        <p:txBody>
          <a:bodyPr>
            <a:normAutofit fontScale="85000" lnSpcReduction="20000"/>
          </a:bodyPr>
          <a:lstStyle/>
          <a:p>
            <a:r>
              <a:t>The Attack Graph module visualizes potential attack paths within the cloud environment and connected systems. It displays relationships between resources such as virtual machines, storage services, identities, SaaS applications, and internet access points.</a:t>
            </a:r>
          </a:p>
          <a:p>
            <a:r>
              <a:t>Each node represents a resource, while the connecting lines show how attackers might move through the infrastructure if vulnerabilities exist. Critical assets and high-risk components are highlighted to help security teams understand possible attack routes. This visual representation allows administrators to quickly identify weak points in the network.</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9294836C-5D76-9339-BEDF-610AF502C40A}"/>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816547" y="2023872"/>
            <a:ext cx="7360918" cy="3755135"/>
          </a:xfrm>
          <a:prstGeom prst="rect">
            <a:avLst/>
          </a:prstGeom>
          <a:noFill/>
          <a:ln>
            <a:noFill/>
          </a:ln>
        </p:spPr>
      </p:pic>
    </p:spTree>
    <p:extLst>
      <p:ext uri="{BB962C8B-B14F-4D97-AF65-F5344CB8AC3E}">
        <p14:creationId xmlns:p14="http://schemas.microsoft.com/office/powerpoint/2010/main" val="2687651803"/>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Compliance Monitoring Dashboard</a:t>
            </a:r>
          </a:p>
        </p:txBody>
      </p:sp>
      <p:sp>
        <p:nvSpPr>
          <p:cNvPr id="3" name="Content Placeholder 2"/>
          <p:cNvSpPr>
            <a:spLocks noGrp="1"/>
          </p:cNvSpPr>
          <p:nvPr>
            <p:ph idx="1"/>
          </p:nvPr>
        </p:nvSpPr>
        <p:spPr/>
        <p:txBody>
          <a:bodyPr>
            <a:normAutofit fontScale="77500" lnSpcReduction="20000"/>
          </a:bodyPr>
          <a:lstStyle/>
          <a:p>
            <a:r>
              <a:t>The Compliance Dashboard monitors the organization’s adherence to major security and regulatory frameworks. It performs automated security checks against standards such as SOC 2 Type II, PCI DSS v4.0, HIPAA, and ISO 27001.</a:t>
            </a:r>
          </a:p>
          <a:p>
            <a:r>
              <a:t>Each framework is displayed with a compliance status and percentage score indicating how well the organization meets the required controls. A passing status shows that the system follows the recommended security policies, while a failing status highlights areas needing improvement.</a:t>
            </a:r>
          </a:p>
          <a:p>
            <a:r>
              <a:t>These compliance scorecards help security teams identify gaps in policies and configurations.</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E44FBBEE-BB66-7F3A-B9EA-B7E2BC8BC2A0}"/>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455305" y="1828800"/>
            <a:ext cx="8107211" cy="4133088"/>
          </a:xfrm>
          <a:prstGeom prst="rect">
            <a:avLst/>
          </a:prstGeom>
          <a:noFill/>
          <a:ln>
            <a:noFill/>
          </a:ln>
        </p:spPr>
      </p:pic>
    </p:spTree>
    <p:extLst>
      <p:ext uri="{BB962C8B-B14F-4D97-AF65-F5344CB8AC3E}">
        <p14:creationId xmlns:p14="http://schemas.microsoft.com/office/powerpoint/2010/main" val="4194069501"/>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Identity Governance Dashboard</a:t>
            </a:r>
          </a:p>
        </p:txBody>
      </p:sp>
      <p:sp>
        <p:nvSpPr>
          <p:cNvPr id="3" name="Content Placeholder 2"/>
          <p:cNvSpPr>
            <a:spLocks noGrp="1"/>
          </p:cNvSpPr>
          <p:nvPr>
            <p:ph idx="1"/>
          </p:nvPr>
        </p:nvSpPr>
        <p:spPr/>
        <p:txBody>
          <a:bodyPr>
            <a:normAutofit fontScale="85000" lnSpcReduction="20000"/>
          </a:bodyPr>
          <a:lstStyle/>
          <a:p>
            <a:r>
              <a:t>The Identity Governance (CIEM) dashboard manages and monitors user identities and access permissions across the cloud environment. It identifies potential risks related to user accounts, roles, and privileged access.</a:t>
            </a:r>
          </a:p>
          <a:p>
            <a:r>
              <a:t>The system analyzes identity configurations and detects issues such as missing multi-factor authentication (MFA) or excessive permissions. Each identity is evaluated with a security score to measure its risk level.</a:t>
            </a:r>
          </a:p>
          <a:p>
            <a:r>
              <a:t>The dashboard also tracks whether detected issues have been resolved or still require action.</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86ED5E1A-6DDE-890C-0954-F2C7830FE50A}"/>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371393" y="1815134"/>
            <a:ext cx="8229599" cy="4183330"/>
          </a:xfrm>
          <a:prstGeom prst="rect">
            <a:avLst/>
          </a:prstGeom>
          <a:noFill/>
          <a:ln>
            <a:noFill/>
          </a:ln>
        </p:spPr>
      </p:pic>
    </p:spTree>
    <p:extLst>
      <p:ext uri="{BB962C8B-B14F-4D97-AF65-F5344CB8AC3E}">
        <p14:creationId xmlns:p14="http://schemas.microsoft.com/office/powerpoint/2010/main" val="1880527079"/>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Kubernetes Security Posture</a:t>
            </a:r>
          </a:p>
        </p:txBody>
      </p:sp>
      <p:sp>
        <p:nvSpPr>
          <p:cNvPr id="3" name="Content Placeholder 2"/>
          <p:cNvSpPr>
            <a:spLocks noGrp="1"/>
          </p:cNvSpPr>
          <p:nvPr>
            <p:ph idx="1"/>
          </p:nvPr>
        </p:nvSpPr>
        <p:spPr/>
        <p:txBody>
          <a:bodyPr>
            <a:normAutofit fontScale="92500" lnSpcReduction="20000"/>
          </a:bodyPr>
          <a:lstStyle/>
          <a:p>
            <a:r>
              <a:t>The Kubernetes Posture (KSPM) dashboard monitors the security configuration of Kubernetes clusters and containerized workloads. It identifies vulnerabilities and misconfigurations within cluster resources such as pods, services, and ingress controllers.</a:t>
            </a:r>
          </a:p>
          <a:p>
            <a:r>
              <a:t>The system highlights issues like containers running as root, privileged containers, or missing network security policies. Each detected issue is categorized by severity levels such as Critical, High, or Medium to help prioritize remediation.</a:t>
            </a: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E78971C1-D2AE-EDA8-27D9-A37D16BB508B}"/>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359526" y="1804416"/>
            <a:ext cx="8229599" cy="4793096"/>
          </a:xfrm>
          <a:prstGeom prst="rect">
            <a:avLst/>
          </a:prstGeom>
          <a:noFill/>
          <a:ln>
            <a:noFill/>
          </a:ln>
        </p:spPr>
      </p:pic>
    </p:spTree>
    <p:extLst>
      <p:ext uri="{BB962C8B-B14F-4D97-AF65-F5344CB8AC3E}">
        <p14:creationId xmlns:p14="http://schemas.microsoft.com/office/powerpoint/2010/main" val="2898988935"/>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Platform Integrations Dashboard</a:t>
            </a:r>
          </a:p>
        </p:txBody>
      </p:sp>
      <p:sp>
        <p:nvSpPr>
          <p:cNvPr id="3" name="Content Placeholder 2"/>
          <p:cNvSpPr>
            <a:spLocks noGrp="1"/>
          </p:cNvSpPr>
          <p:nvPr>
            <p:ph idx="1"/>
          </p:nvPr>
        </p:nvSpPr>
        <p:spPr/>
        <p:txBody>
          <a:bodyPr>
            <a:normAutofit fontScale="77500" lnSpcReduction="20000"/>
          </a:bodyPr>
          <a:lstStyle/>
          <a:p>
            <a:r>
              <a:t>The Integrations Dashboard allows organizations to connect their cloud platforms and security tools with the security monitoring system. It supports integrations with services such as AWS, Microsoft Azure, Splunk, and Jira to enable centralized security management.</a:t>
            </a:r>
          </a:p>
          <a:p>
            <a:r>
              <a:t>By connecting these platforms, the system can automatically collect logs, monitor cloud resources, and generate security alerts. Integration with SIEM tools like Splunk helps in advanced threat analysis and log management.</a:t>
            </a:r>
          </a:p>
          <a:p>
            <a:r>
              <a:t>Ticketing systems such as Jira allow security teams to track and manage incident responses efficiently.</a:t>
            </a: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2721EDE-3B42-30A0-0CB0-51D2C8F4377D}"/>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545020" y="1768536"/>
            <a:ext cx="8141780" cy="4144584"/>
          </a:xfrm>
          <a:prstGeom prst="rect">
            <a:avLst/>
          </a:prstGeom>
          <a:noFill/>
          <a:ln>
            <a:noFill/>
          </a:ln>
        </p:spPr>
      </p:pic>
    </p:spTree>
    <p:extLst>
      <p:ext uri="{BB962C8B-B14F-4D97-AF65-F5344CB8AC3E}">
        <p14:creationId xmlns:p14="http://schemas.microsoft.com/office/powerpoint/2010/main" val="3995271156"/>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Security Policies and Frameworks</a:t>
            </a:r>
          </a:p>
        </p:txBody>
      </p:sp>
      <p:sp>
        <p:nvSpPr>
          <p:cNvPr id="3" name="Content Placeholder 2"/>
          <p:cNvSpPr>
            <a:spLocks noGrp="1"/>
          </p:cNvSpPr>
          <p:nvPr>
            <p:ph idx="1"/>
          </p:nvPr>
        </p:nvSpPr>
        <p:spPr/>
        <p:txBody>
          <a:bodyPr>
            <a:normAutofit fontScale="85000" lnSpcReduction="20000"/>
          </a:bodyPr>
          <a:lstStyle/>
          <a:p>
            <a:r>
              <a:t>The Security Policies &amp; Frameworks Dashboard allows administrators to manage and enforce security policies across the cloud environment. It displays policy controls based on well-known security standards such as CIS benchmarks, PCI DSS, and NIST frameworks.</a:t>
            </a:r>
          </a:p>
          <a:p>
            <a:r>
              <a:t>Each policy includes a control code, description, and status indicating whether the rule is enabled or disabled. Examples include enabling MFA for root accounts, restricting public access to S3 buckets, and enforcing least privilege access.</a:t>
            </a:r>
          </a:p>
          <a:p>
            <a:r>
              <a:t>Administrators can easily toggle policies to enforce security best practices.</a:t>
            </a: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F6F6D56B-19B4-7F2C-380F-6CEB8BE86180}"/>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535613" y="1337354"/>
            <a:ext cx="8188317" cy="4183291"/>
          </a:xfrm>
          <a:prstGeom prst="rect">
            <a:avLst/>
          </a:prstGeom>
          <a:noFill/>
          <a:ln>
            <a:noFill/>
          </a:ln>
        </p:spPr>
      </p:pic>
    </p:spTree>
    <p:extLst>
      <p:ext uri="{BB962C8B-B14F-4D97-AF65-F5344CB8AC3E}">
        <p14:creationId xmlns:p14="http://schemas.microsoft.com/office/powerpoint/2010/main" val="3326794757"/>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Security Automation</a:t>
            </a:r>
          </a:p>
        </p:txBody>
      </p:sp>
      <p:sp>
        <p:nvSpPr>
          <p:cNvPr id="3" name="Content Placeholder 2"/>
          <p:cNvSpPr>
            <a:spLocks noGrp="1"/>
          </p:cNvSpPr>
          <p:nvPr>
            <p:ph idx="1"/>
          </p:nvPr>
        </p:nvSpPr>
        <p:spPr/>
        <p:txBody>
          <a:bodyPr>
            <a:normAutofit fontScale="77500" lnSpcReduction="20000"/>
          </a:bodyPr>
          <a:lstStyle/>
          <a:p>
            <a:r>
              <a:t>The Automation Dashboard manages automatic security remediation within the cloud security platform. It includes an Auto-Remediation Engine that automatically fixes critical security misconfigurations such as public S3 buckets, exposed ports, or disabled multi-factor authentication (MFA).</a:t>
            </a:r>
          </a:p>
          <a:p>
            <a:r>
              <a:t>Administrators can enable or disable the Auto-Fix feature to allow the system to automatically correct detected issues. The Action Log records every automated remediation activity with details such as time, action performed, and affected resource.</a:t>
            </a:r>
          </a:p>
          <a:p>
            <a:r>
              <a:t>This helps security teams track how vulnerabilities were resolved without manual intervention.</a:t>
            </a: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8A7070BD-8704-15AC-1FBF-ECAFC782EC3C}"/>
              </a:ext>
            </a:extLst>
          </p:cNvPr>
          <p:cNvPicPr>
            <a:picLocks noGrp="1" noChangeAspect="1"/>
          </p:cNvPicPr>
          <p:nvPr>
            <p:ph idx="1"/>
          </p:nvPr>
        </p:nvPicPr>
        <p:blipFill>
          <a:blip r:embed="rId2"/>
          <a:stretch>
            <a:fillRect/>
          </a:stretch>
        </p:blipFill>
        <p:spPr>
          <a:xfrm>
            <a:off x="457200" y="1412296"/>
            <a:ext cx="8229600" cy="4033408"/>
          </a:xfrm>
          <a:prstGeom prst="rect">
            <a:avLst/>
          </a:prstGeom>
        </p:spPr>
      </p:pic>
    </p:spTree>
    <p:extLst>
      <p:ext uri="{BB962C8B-B14F-4D97-AF65-F5344CB8AC3E}">
        <p14:creationId xmlns:p14="http://schemas.microsoft.com/office/powerpoint/2010/main" val="4205511912"/>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System Health Monitoring</a:t>
            </a:r>
          </a:p>
        </p:txBody>
      </p:sp>
      <p:sp>
        <p:nvSpPr>
          <p:cNvPr id="3" name="Content Placeholder 2"/>
          <p:cNvSpPr>
            <a:spLocks noGrp="1"/>
          </p:cNvSpPr>
          <p:nvPr>
            <p:ph idx="1"/>
          </p:nvPr>
        </p:nvSpPr>
        <p:spPr/>
        <p:txBody>
          <a:bodyPr>
            <a:normAutofit fontScale="85000" lnSpcReduction="20000"/>
          </a:bodyPr>
          <a:lstStyle/>
          <a:p>
            <a:r>
              <a:t>The System Health Monitoring panel displays the operational status and performance metrics of the security engine. It provides real-time information about CPU usage and RAM utilization, helping administrators monitor system performance.</a:t>
            </a:r>
          </a:p>
          <a:p>
            <a:r>
              <a:t>These indicators ensure that the security platform is running efficiently without performance issues.</a:t>
            </a:r>
          </a:p>
          <a:p>
            <a:r>
              <a:t>The panel also includes a System Health status indicator that shows whether the platform is functioning normally.</a:t>
            </a:r>
          </a:p>
          <a:p>
            <a:r>
              <a:t>Monitoring these metrics helps detect resource overload or system instability early.</a:t>
            </a: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D6A6DA05-A224-7907-13FE-76621B075791}"/>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57984" y="2466840"/>
            <a:ext cx="4998720" cy="2303869"/>
          </a:xfrm>
          <a:prstGeom prst="rect">
            <a:avLst/>
          </a:prstGeom>
          <a:noFill/>
          <a:ln>
            <a:noFill/>
          </a:ln>
        </p:spPr>
      </p:pic>
    </p:spTree>
    <p:extLst>
      <p:ext uri="{BB962C8B-B14F-4D97-AF65-F5344CB8AC3E}">
        <p14:creationId xmlns:p14="http://schemas.microsoft.com/office/powerpoint/2010/main" val="2419792283"/>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User Profile and API Access Management</a:t>
            </a:r>
          </a:p>
        </p:txBody>
      </p:sp>
      <p:sp>
        <p:nvSpPr>
          <p:cNvPr id="3" name="Content Placeholder 2"/>
          <p:cNvSpPr>
            <a:spLocks noGrp="1"/>
          </p:cNvSpPr>
          <p:nvPr>
            <p:ph idx="1"/>
          </p:nvPr>
        </p:nvSpPr>
        <p:spPr/>
        <p:txBody>
          <a:bodyPr>
            <a:normAutofit fontScale="85000" lnSpcReduction="20000"/>
          </a:bodyPr>
          <a:lstStyle/>
          <a:p>
            <a:r>
              <a:t>The User Profile and Settings Dashboard allows administrators to manage their account information and platform access. It displays user details such as name, email address, role, and subscription plan within the security platform.</a:t>
            </a:r>
          </a:p>
          <a:p>
            <a:r>
              <a:t>Users can update their personal information and organization details through the profile settings panel. The dashboard also provides an API Access section where users can generate secure access tokens for integrating external applications and services.</a:t>
            </a:r>
          </a:p>
          <a:p>
            <a:r>
              <a:t>These tokens enable secure communication between the security platform and other systems.</a:t>
            </a: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1D76F6F5-1C75-C66D-C609-3DDA8079CA75}"/>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687742" y="1166018"/>
            <a:ext cx="7768516" cy="4525963"/>
          </a:xfrm>
          <a:prstGeom prst="rect">
            <a:avLst/>
          </a:prstGeom>
          <a:noFill/>
          <a:ln>
            <a:noFill/>
          </a:ln>
        </p:spPr>
      </p:pic>
    </p:spTree>
    <p:extLst>
      <p:ext uri="{BB962C8B-B14F-4D97-AF65-F5344CB8AC3E}">
        <p14:creationId xmlns:p14="http://schemas.microsoft.com/office/powerpoint/2010/main" val="949146275"/>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Security Report and Scan Controls</a:t>
            </a:r>
          </a:p>
        </p:txBody>
      </p:sp>
      <p:sp>
        <p:nvSpPr>
          <p:cNvPr id="3" name="Content Placeholder 2"/>
          <p:cNvSpPr>
            <a:spLocks noGrp="1"/>
          </p:cNvSpPr>
          <p:nvPr>
            <p:ph idx="1"/>
          </p:nvPr>
        </p:nvSpPr>
        <p:spPr>
          <a:xfrm>
            <a:off x="457200" y="1600200"/>
            <a:ext cx="8229600" cy="5257800"/>
          </a:xfrm>
        </p:spPr>
        <p:txBody>
          <a:bodyPr>
            <a:normAutofit fontScale="92500" lnSpcReduction="20000"/>
          </a:bodyPr>
          <a:lstStyle/>
          <a:p>
            <a:endParaRPr lang="en-IN" dirty="0"/>
          </a:p>
          <a:p>
            <a:r>
              <a:rPr dirty="0"/>
              <a:t>The Security Control Panel provides quick action buttons for managing security operations within the platform. The Upload button allows users to upload security logs or datasets for analysis.</a:t>
            </a:r>
          </a:p>
          <a:p>
            <a:r>
              <a:rPr dirty="0"/>
              <a:t>The Demo option provides sample data to demonstrate the system’s functionality and features. The Security Report button generates a detailed report containing detected vulnerabilities, risk scores, and security insights.</a:t>
            </a:r>
          </a:p>
          <a:p>
            <a:r>
              <a:rPr dirty="0"/>
              <a:t>The Run Scan button initiates a comprehensive security scan across cloud resources and endpoints.</a:t>
            </a:r>
          </a:p>
        </p:txBody>
      </p:sp>
      <p:pic>
        <p:nvPicPr>
          <p:cNvPr id="4" name="Picture 3">
            <a:extLst>
              <a:ext uri="{FF2B5EF4-FFF2-40B4-BE49-F238E27FC236}">
                <a16:creationId xmlns:a16="http://schemas.microsoft.com/office/drawing/2014/main" id="{EC75520E-0F46-5464-FD40-8731927F779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69924" y="1230947"/>
            <a:ext cx="7888859" cy="738505"/>
          </a:xfrm>
          <a:prstGeom prst="rect">
            <a:avLst/>
          </a:prstGeom>
          <a:noFill/>
          <a:ln>
            <a:noFill/>
          </a:ln>
        </p:spPr>
      </p:pic>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Scanner Configuration Settings</a:t>
            </a:r>
          </a:p>
        </p:txBody>
      </p:sp>
      <p:sp>
        <p:nvSpPr>
          <p:cNvPr id="3" name="Content Placeholder 2"/>
          <p:cNvSpPr>
            <a:spLocks noGrp="1"/>
          </p:cNvSpPr>
          <p:nvPr>
            <p:ph idx="1"/>
          </p:nvPr>
        </p:nvSpPr>
        <p:spPr/>
        <p:txBody>
          <a:bodyPr>
            <a:normAutofit fontScale="85000" lnSpcReduction="10000"/>
          </a:bodyPr>
          <a:lstStyle/>
          <a:p>
            <a:r>
              <a:t>The Scanner Configuration panel allows administrators to define how frequently the security system performs automated scans. Users can choose different scan intervals such as Continuous, every 15 minutes, 1 hour, or 24 hours depending on their monitoring requirements.</a:t>
            </a:r>
          </a:p>
          <a:p>
            <a:r>
              <a:t>Continuous scanning ensures real-time detection of vulnerabilities and configuration issues in cloud resources.</a:t>
            </a:r>
          </a:p>
          <a:p>
            <a:r>
              <a:t>Scheduled scan intervals help organizations balance system performance with security monitoring</a:t>
            </a: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C1824636-973A-1C0F-F79B-86933585B9CC}"/>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80066" y="782232"/>
            <a:ext cx="8383867" cy="5293535"/>
          </a:xfrm>
          <a:prstGeom prst="rect">
            <a:avLst/>
          </a:prstGeom>
          <a:noFill/>
          <a:ln>
            <a:noFill/>
          </a:ln>
        </p:spPr>
      </p:pic>
    </p:spTree>
    <p:extLst>
      <p:ext uri="{BB962C8B-B14F-4D97-AF65-F5344CB8AC3E}">
        <p14:creationId xmlns:p14="http://schemas.microsoft.com/office/powerpoint/2010/main" val="2135417407"/>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Security Report Generation</a:t>
            </a:r>
          </a:p>
        </p:txBody>
      </p:sp>
      <p:sp>
        <p:nvSpPr>
          <p:cNvPr id="3" name="Content Placeholder 2"/>
          <p:cNvSpPr>
            <a:spLocks noGrp="1"/>
          </p:cNvSpPr>
          <p:nvPr>
            <p:ph idx="1"/>
          </p:nvPr>
        </p:nvSpPr>
        <p:spPr/>
        <p:txBody>
          <a:bodyPr>
            <a:normAutofit fontScale="77500" lnSpcReduction="20000"/>
          </a:bodyPr>
          <a:lstStyle/>
          <a:p>
            <a:r>
              <a:t>The Security Report feature generates a detailed executive report summarizing the organization’s overall security posture. It includes important information such as the current risk score, active endpoints, and key security findings detected during system scans.</a:t>
            </a:r>
          </a:p>
          <a:p>
            <a:r>
              <a:t>The report highlights critical vulnerabilities, affected resources, and recommended remediation actions.</a:t>
            </a:r>
          </a:p>
          <a:p>
            <a:r>
              <a:t>It also contains a Threat Intelligence Summary that provides insights into potential threats identified from external sources.</a:t>
            </a:r>
          </a:p>
          <a:p>
            <a:r>
              <a:t>19. Future Enhancements of Cloud Security Posture Management (CSPM) with Endpoint Detection &amp; Response (EDR)</a:t>
            </a: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73BBC25D-67D7-3645-7784-F107B540ECA9}"/>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1168" y="414528"/>
            <a:ext cx="4638963" cy="5529073"/>
          </a:xfrm>
          <a:prstGeom prst="rect">
            <a:avLst/>
          </a:prstGeom>
          <a:noFill/>
          <a:ln>
            <a:noFill/>
          </a:ln>
        </p:spPr>
      </p:pic>
      <p:pic>
        <p:nvPicPr>
          <p:cNvPr id="5" name="Picture 4">
            <a:extLst>
              <a:ext uri="{FF2B5EF4-FFF2-40B4-BE49-F238E27FC236}">
                <a16:creationId xmlns:a16="http://schemas.microsoft.com/office/drawing/2014/main" id="{CC093E7D-53A8-2293-DEFB-9473327F0BC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754787" y="586276"/>
            <a:ext cx="3048093" cy="1097313"/>
          </a:xfrm>
          <a:prstGeom prst="rect">
            <a:avLst/>
          </a:prstGeom>
          <a:noFill/>
          <a:ln>
            <a:noFill/>
          </a:ln>
        </p:spPr>
      </p:pic>
      <p:sp>
        <p:nvSpPr>
          <p:cNvPr id="6" name="Rectangle 2">
            <a:extLst>
              <a:ext uri="{FF2B5EF4-FFF2-40B4-BE49-F238E27FC236}">
                <a16:creationId xmlns:a16="http://schemas.microsoft.com/office/drawing/2014/main" id="{5DFCF442-7CC2-3EAC-A2E7-4CEA9876D1C8}"/>
              </a:ext>
            </a:extLst>
          </p:cNvPr>
          <p:cNvSpPr>
            <a:spLocks noChangeArrowheads="1"/>
          </p:cNvSpPr>
          <p:nvPr/>
        </p:nvSpPr>
        <p:spPr bwMode="auto">
          <a:xfrm>
            <a:off x="-85344" y="46036"/>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7" name="Object 6">
            <a:extLst>
              <a:ext uri="{FF2B5EF4-FFF2-40B4-BE49-F238E27FC236}">
                <a16:creationId xmlns:a16="http://schemas.microsoft.com/office/drawing/2014/main" id="{99E05852-9AF9-092B-1AE6-381271637707}"/>
              </a:ext>
            </a:extLst>
          </p:cNvPr>
          <p:cNvGraphicFramePr>
            <a:graphicFrameLocks noChangeAspect="1"/>
          </p:cNvGraphicFramePr>
          <p:nvPr>
            <p:extLst>
              <p:ext uri="{D42A27DB-BD31-4B8C-83A1-F6EECF244321}">
                <p14:modId xmlns:p14="http://schemas.microsoft.com/office/powerpoint/2010/main" val="625537000"/>
              </p:ext>
            </p:extLst>
          </p:nvPr>
        </p:nvGraphicFramePr>
        <p:xfrm>
          <a:off x="-85344" y="46036"/>
          <a:ext cx="1150938" cy="868363"/>
        </p:xfrm>
        <a:graphic>
          <a:graphicData uri="http://schemas.openxmlformats.org/presentationml/2006/ole">
            <mc:AlternateContent xmlns:mc="http://schemas.openxmlformats.org/markup-compatibility/2006">
              <mc:Choice xmlns:v="urn:schemas-microsoft-com:vml" Requires="v">
                <p:oleObj name="Packager Shell Object" showAsIcon="1" r:id="rId4" imgW="965436" imgH="625535" progId="Package">
                  <p:embed/>
                </p:oleObj>
              </mc:Choice>
              <mc:Fallback>
                <p:oleObj name="Packager Shell Object" showAsIcon="1" r:id="rId4" imgW="965436" imgH="625535" progId="Package">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344" y="46036"/>
                        <a:ext cx="1150938" cy="868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121567439"/>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417638"/>
          </a:xfrm>
        </p:spPr>
        <p:txBody>
          <a:bodyPr>
            <a:noAutofit/>
          </a:bodyPr>
          <a:lstStyle/>
          <a:p>
            <a:br>
              <a:rPr lang="en-IN" sz="2800" b="1" dirty="0"/>
            </a:br>
            <a:r>
              <a:rPr lang="en-IN" sz="2800" b="1" dirty="0"/>
              <a:t>Future Enhancements of Cloud Security Posture Management (CSPM) with Endpoint Detection &amp; Response (EDR)</a:t>
            </a:r>
            <a:br>
              <a:rPr lang="en-IN" sz="2800" dirty="0"/>
            </a:br>
            <a:endParaRPr sz="2800" dirty="0"/>
          </a:p>
        </p:txBody>
      </p:sp>
      <p:sp>
        <p:nvSpPr>
          <p:cNvPr id="3" name="Content Placeholder 2"/>
          <p:cNvSpPr>
            <a:spLocks noGrp="1"/>
          </p:cNvSpPr>
          <p:nvPr>
            <p:ph idx="1"/>
          </p:nvPr>
        </p:nvSpPr>
        <p:spPr/>
        <p:txBody>
          <a:bodyPr>
            <a:normAutofit fontScale="77500" lnSpcReduction="20000"/>
          </a:bodyPr>
          <a:lstStyle/>
          <a:p>
            <a:pPr marL="0" indent="0">
              <a:buNone/>
            </a:pPr>
            <a:r>
              <a:rPr lang="en-IN" dirty="0"/>
              <a:t>1.</a:t>
            </a:r>
            <a:r>
              <a:rPr lang="en-IN" b="1" dirty="0"/>
              <a:t>What role will Artificial Intelligence play in future CSPM and EDR systems?</a:t>
            </a:r>
            <a:endParaRPr lang="en-IN" dirty="0"/>
          </a:p>
          <a:p>
            <a:pPr marL="0" indent="0">
              <a:buNone/>
            </a:pPr>
            <a:r>
              <a:rPr lang="en-IN" dirty="0"/>
              <a:t>Artificial Intelligence (AI) will play an important role in improving threat detection and security analysis. AI-based security systems can </a:t>
            </a:r>
            <a:r>
              <a:rPr lang="en-IN" dirty="0" err="1"/>
              <a:t>analyze</a:t>
            </a:r>
            <a:r>
              <a:rPr lang="en-IN" dirty="0"/>
              <a:t> large volumes of cloud data and detect unusual patterns that may indicate cyber threats.</a:t>
            </a:r>
          </a:p>
          <a:p>
            <a:pPr marL="0" indent="0">
              <a:buNone/>
            </a:pPr>
            <a:endParaRPr lang="en-IN" dirty="0"/>
          </a:p>
          <a:p>
            <a:pPr marL="0" indent="0">
              <a:buNone/>
            </a:pPr>
            <a:r>
              <a:rPr lang="en-IN" b="1" dirty="0"/>
              <a:t>2. How will automation improve cloud security in the future?</a:t>
            </a:r>
            <a:endParaRPr lang="en-IN" dirty="0"/>
          </a:p>
          <a:p>
            <a:pPr marL="0" indent="0">
              <a:buNone/>
            </a:pPr>
            <a:r>
              <a:rPr lang="en-IN" dirty="0"/>
              <a:t>Automation will allow cloud security systems to respond to threats without human intervention. Future CSPM and EDR solutions may automatically detect security misconfigurations and fix them instantly.</a:t>
            </a:r>
          </a:p>
          <a:p>
            <a:pPr marL="0" indent="0">
              <a:buNone/>
            </a:pPr>
            <a:endParaRPr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0"/>
            <a:ext cx="8229600" cy="6858000"/>
          </a:xfrm>
        </p:spPr>
        <p:txBody>
          <a:bodyPr>
            <a:normAutofit fontScale="77500" lnSpcReduction="20000"/>
          </a:bodyPr>
          <a:lstStyle/>
          <a:p>
            <a:pPr marL="0" indent="0">
              <a:buNone/>
            </a:pPr>
            <a:r>
              <a:rPr lang="en-IN" b="1" dirty="0"/>
              <a:t>3. Why is multi-cloud security an important future enhancement?</a:t>
            </a:r>
            <a:endParaRPr lang="en-IN" dirty="0"/>
          </a:p>
          <a:p>
            <a:pPr marL="0" indent="0">
              <a:buNone/>
            </a:pPr>
            <a:r>
              <a:rPr lang="en-IN" dirty="0"/>
              <a:t>Many organizations use multiple cloud service providers to run their applications and services. Managing security across different cloud platforms can be difficult</a:t>
            </a:r>
            <a:r>
              <a:rPr lang="en-IN" b="1" dirty="0"/>
              <a:t>.</a:t>
            </a:r>
          </a:p>
          <a:p>
            <a:pPr marL="0" indent="0">
              <a:buNone/>
            </a:pPr>
            <a:endParaRPr lang="en-IN" dirty="0"/>
          </a:p>
          <a:p>
            <a:pPr marL="0" indent="0">
              <a:buNone/>
            </a:pPr>
            <a:r>
              <a:rPr lang="en-IN" b="1" dirty="0"/>
              <a:t>4. How will integration with </a:t>
            </a:r>
            <a:r>
              <a:rPr lang="en-IN" b="1" dirty="0" err="1"/>
              <a:t>DevSecOps</a:t>
            </a:r>
            <a:r>
              <a:rPr lang="en-IN" b="1" dirty="0"/>
              <a:t> improve security?</a:t>
            </a:r>
            <a:endParaRPr lang="en-IN" dirty="0"/>
          </a:p>
          <a:p>
            <a:pPr marL="0" indent="0">
              <a:buNone/>
            </a:pPr>
            <a:r>
              <a:rPr lang="en-IN" dirty="0" err="1"/>
              <a:t>DevSecOps</a:t>
            </a:r>
            <a:r>
              <a:rPr lang="en-IN" dirty="0"/>
              <a:t> integrates security practices into the software development lifecycle. Future CSPM and EDR systems will be integrated with DevOps tools to scan applications and infrastructure during the development process.</a:t>
            </a:r>
          </a:p>
          <a:p>
            <a:pPr marL="0" indent="0">
              <a:buNone/>
            </a:pPr>
            <a:endParaRPr lang="en-IN" dirty="0"/>
          </a:p>
          <a:p>
            <a:pPr marL="0" indent="0">
              <a:buNone/>
            </a:pPr>
            <a:r>
              <a:rPr lang="en-IN" b="1" dirty="0"/>
              <a:t>5. What is </a:t>
            </a:r>
            <a:r>
              <a:rPr lang="en-IN" b="1" dirty="0" err="1"/>
              <a:t>behavioral</a:t>
            </a:r>
            <a:r>
              <a:rPr lang="en-IN" b="1" dirty="0"/>
              <a:t> analysis and how will it improve EDR systems?</a:t>
            </a:r>
            <a:endParaRPr lang="en-IN" dirty="0"/>
          </a:p>
          <a:p>
            <a:pPr marL="0" indent="0">
              <a:buNone/>
            </a:pPr>
            <a:r>
              <a:rPr lang="en-IN" dirty="0" err="1"/>
              <a:t>Behavioral</a:t>
            </a:r>
            <a:r>
              <a:rPr lang="en-IN" dirty="0"/>
              <a:t> analysis involves monitoring the activities of users and systems to detect unusual </a:t>
            </a:r>
            <a:r>
              <a:rPr lang="en-IN" dirty="0" err="1"/>
              <a:t>behavior</a:t>
            </a:r>
            <a:r>
              <a:rPr lang="en-IN" dirty="0"/>
              <a:t>.</a:t>
            </a:r>
          </a:p>
          <a:p>
            <a:pPr marL="0" indent="0">
              <a:buNone/>
            </a:pPr>
            <a:r>
              <a:rPr lang="en-IN" dirty="0"/>
              <a:t>Future EDR systems will use advanced </a:t>
            </a:r>
            <a:r>
              <a:rPr lang="en-IN" dirty="0" err="1"/>
              <a:t>behavioral</a:t>
            </a:r>
            <a:r>
              <a:rPr lang="en-IN" dirty="0"/>
              <a:t> analytics to identify suspicious actions such as unusual login attempts, abnormal file access, or unexpected network traffic.</a:t>
            </a:r>
          </a:p>
          <a:p>
            <a:pPr marL="0" indent="0">
              <a:buNone/>
            </a:pPr>
            <a:endParaRPr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5ABE4938-C7CB-5AF9-4C3F-FFF72D4D8806}"/>
              </a:ext>
            </a:extLst>
          </p:cNvPr>
          <p:cNvSpPr>
            <a:spLocks noGrp="1"/>
          </p:cNvSpPr>
          <p:nvPr>
            <p:ph idx="1"/>
          </p:nvPr>
        </p:nvSpPr>
        <p:spPr>
          <a:xfrm>
            <a:off x="457200" y="0"/>
            <a:ext cx="8229600" cy="6126163"/>
          </a:xfrm>
        </p:spPr>
        <p:txBody>
          <a:bodyPr/>
          <a:lstStyle/>
          <a:p>
            <a:r>
              <a:rPr lang="en-IN" b="1" dirty="0"/>
              <a:t>6. How will real-time dashboards improve cloud security management?</a:t>
            </a:r>
            <a:endParaRPr lang="en-IN" dirty="0"/>
          </a:p>
          <a:p>
            <a:r>
              <a:rPr lang="en-IN" dirty="0"/>
              <a:t>Future cloud security platforms will include advanced real-time dashboards that provide detailed visual insights into the security status of cloud environments.</a:t>
            </a:r>
          </a:p>
          <a:p>
            <a:r>
              <a:rPr lang="en-IN" dirty="0"/>
              <a:t>These dashboards may include security graphs, risk heatmaps, and attack visualization tools</a:t>
            </a: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2308E86-CD7D-E228-9786-4695A07CB941}"/>
              </a:ext>
            </a:extLst>
          </p:cNvPr>
          <p:cNvSpPr>
            <a:spLocks noGrp="1"/>
          </p:cNvSpPr>
          <p:nvPr>
            <p:ph type="title"/>
          </p:nvPr>
        </p:nvSpPr>
        <p:spPr/>
        <p:txBody>
          <a:bodyPr>
            <a:normAutofit/>
          </a:bodyPr>
          <a:lstStyle/>
          <a:p>
            <a:r>
              <a:rPr lang="en-IN" sz="2800" b="1" dirty="0"/>
              <a:t>Examples of Cloud Security Posture Management (CSPM) with Endpoint Detection &amp; Response (EDR)</a:t>
            </a:r>
            <a:endParaRPr lang="en-IN" sz="2800" dirty="0"/>
          </a:p>
        </p:txBody>
      </p:sp>
      <p:sp>
        <p:nvSpPr>
          <p:cNvPr id="7" name="Content Placeholder 6">
            <a:extLst>
              <a:ext uri="{FF2B5EF4-FFF2-40B4-BE49-F238E27FC236}">
                <a16:creationId xmlns:a16="http://schemas.microsoft.com/office/drawing/2014/main" id="{D345FE50-B1D5-95CC-B727-682F43CD01DD}"/>
              </a:ext>
            </a:extLst>
          </p:cNvPr>
          <p:cNvSpPr>
            <a:spLocks noGrp="1"/>
          </p:cNvSpPr>
          <p:nvPr>
            <p:ph idx="1"/>
          </p:nvPr>
        </p:nvSpPr>
        <p:spPr>
          <a:xfrm>
            <a:off x="457200" y="1600200"/>
            <a:ext cx="8229600" cy="5257800"/>
          </a:xfrm>
        </p:spPr>
        <p:txBody>
          <a:bodyPr>
            <a:noAutofit/>
          </a:bodyPr>
          <a:lstStyle/>
          <a:p>
            <a:pPr marL="0" indent="0">
              <a:buNone/>
            </a:pPr>
            <a:r>
              <a:rPr lang="en-IN" sz="2200" b="1" dirty="0"/>
              <a:t>1. Public Cloud Storage Detection</a:t>
            </a:r>
            <a:endParaRPr lang="en-IN" sz="2200" dirty="0"/>
          </a:p>
          <a:p>
            <a:pPr marL="0" indent="0">
              <a:buNone/>
            </a:pPr>
            <a:r>
              <a:rPr lang="en-IN" sz="2200" dirty="0"/>
              <a:t>CSPM detects a publicly accessible storage bucket in the cloud, while EDR monitors endpoints attempting to download sensitive data from that bucket.</a:t>
            </a:r>
          </a:p>
          <a:p>
            <a:pPr marL="0" indent="0">
              <a:buNone/>
            </a:pPr>
            <a:endParaRPr lang="en-IN" sz="2200" dirty="0"/>
          </a:p>
          <a:p>
            <a:pPr marL="0" indent="0">
              <a:buNone/>
            </a:pPr>
            <a:r>
              <a:rPr lang="en-IN" sz="2200" b="1" dirty="0"/>
              <a:t>2. Misconfigured Firewall Rules</a:t>
            </a:r>
            <a:endParaRPr lang="en-IN" sz="2200" dirty="0"/>
          </a:p>
          <a:p>
            <a:pPr marL="0" indent="0">
              <a:buNone/>
            </a:pPr>
            <a:r>
              <a:rPr lang="en-IN" sz="2200" dirty="0"/>
              <a:t>CSPM identifies an open firewall port in the cloud environment, and EDR detects suspicious endpoint activity trying to exploit the open port.</a:t>
            </a:r>
          </a:p>
          <a:p>
            <a:pPr marL="0" indent="0">
              <a:buNone/>
            </a:pPr>
            <a:endParaRPr lang="en-IN" sz="2200" dirty="0"/>
          </a:p>
          <a:p>
            <a:pPr marL="0" indent="0">
              <a:buNone/>
            </a:pPr>
            <a:r>
              <a:rPr lang="en-IN" sz="2200" b="1" dirty="0"/>
              <a:t>3. Unauthorized Access Attempts</a:t>
            </a:r>
            <a:endParaRPr lang="en-IN" sz="2200" dirty="0"/>
          </a:p>
          <a:p>
            <a:pPr marL="0" indent="0">
              <a:buNone/>
            </a:pPr>
            <a:r>
              <a:rPr lang="en-IN" sz="2200" dirty="0"/>
              <a:t>CSPM monitors identity and access management configurations, while EDR detects repeated failed login attempts from endpoint devices.</a:t>
            </a: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0"/>
            <a:ext cx="8229600" cy="6858000"/>
          </a:xfrm>
        </p:spPr>
        <p:txBody>
          <a:bodyPr>
            <a:normAutofit lnSpcReduction="10000"/>
          </a:bodyPr>
          <a:lstStyle/>
          <a:p>
            <a:pPr marL="0" indent="0">
              <a:buNone/>
            </a:pPr>
            <a:r>
              <a:rPr lang="en-IN" b="1" dirty="0"/>
              <a:t>4. Malware Activity on Cloud Servers</a:t>
            </a:r>
            <a:endParaRPr lang="en-IN" dirty="0"/>
          </a:p>
          <a:p>
            <a:pPr marL="0" indent="0">
              <a:buNone/>
            </a:pPr>
            <a:r>
              <a:rPr lang="en-IN" dirty="0"/>
              <a:t>CSPM ensures the cloud server is configured securely, while EDR detects malware processes running on the server endpoint.</a:t>
            </a:r>
          </a:p>
          <a:p>
            <a:pPr marL="0" indent="0">
              <a:buNone/>
            </a:pPr>
            <a:r>
              <a:rPr lang="en-IN" b="1" dirty="0"/>
              <a:t>5. Suspicious Network Traffic</a:t>
            </a:r>
            <a:endParaRPr lang="en-IN" dirty="0"/>
          </a:p>
          <a:p>
            <a:pPr marL="0" indent="0">
              <a:buNone/>
            </a:pPr>
            <a:r>
              <a:rPr lang="en-IN" dirty="0"/>
              <a:t>CSPM monitors network configuration policies, and EDR detects abnormal network traffic generated by compromised endpoints.</a:t>
            </a:r>
          </a:p>
          <a:p>
            <a:pPr marL="0" indent="0">
              <a:buNone/>
            </a:pPr>
            <a:r>
              <a:rPr lang="en-IN" b="1" dirty="0"/>
              <a:t>6. Data Leakage Prevention</a:t>
            </a:r>
            <a:endParaRPr lang="en-IN" dirty="0"/>
          </a:p>
          <a:p>
            <a:pPr marL="0" indent="0">
              <a:buNone/>
            </a:pPr>
            <a:r>
              <a:rPr lang="en-IN" dirty="0"/>
              <a:t>CSPM detects misconfigured cloud storage permissions, while EDR identifies endpoints attempting to transfer sensitive files outside the network.</a:t>
            </a:r>
            <a:endParaRPr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0"/>
            <a:ext cx="8229600" cy="6858000"/>
          </a:xfrm>
        </p:spPr>
        <p:txBody>
          <a:bodyPr>
            <a:normAutofit fontScale="92500" lnSpcReduction="20000"/>
          </a:bodyPr>
          <a:lstStyle/>
          <a:p>
            <a:pPr marL="0" indent="0">
              <a:buNone/>
            </a:pPr>
            <a:r>
              <a:rPr lang="en-IN" b="1" dirty="0"/>
              <a:t>7. Outdated Cloud Software</a:t>
            </a:r>
          </a:p>
          <a:p>
            <a:pPr marL="0" indent="0">
              <a:buNone/>
            </a:pPr>
            <a:r>
              <a:rPr dirty="0"/>
              <a:t>CSPM detects outdated software versions on cloud resources, and EDR monitors endpoint activities attempting to exploit those vulnerabilities.</a:t>
            </a:r>
            <a:endParaRPr lang="en-IN" dirty="0"/>
          </a:p>
          <a:p>
            <a:pPr marL="0" indent="0">
              <a:buNone/>
            </a:pPr>
            <a:r>
              <a:rPr lang="en-IN" b="1" dirty="0"/>
              <a:t>8. Unauthorized Cloud Resource Creation</a:t>
            </a:r>
            <a:endParaRPr lang="en-IN" dirty="0"/>
          </a:p>
          <a:p>
            <a:pPr marL="0" indent="0">
              <a:buNone/>
            </a:pPr>
            <a:r>
              <a:rPr lang="en-IN" dirty="0"/>
              <a:t>CSPM detects unauthorized creation of virtual machines in the cloud, while EDR tracks the endpoint that initiated the deployment.</a:t>
            </a:r>
          </a:p>
          <a:p>
            <a:pPr marL="0" indent="0">
              <a:buNone/>
            </a:pPr>
            <a:r>
              <a:rPr lang="en-IN" b="1" dirty="0"/>
              <a:t>9. Privilege Escalation Detection</a:t>
            </a:r>
            <a:endParaRPr lang="en-IN" dirty="0"/>
          </a:p>
          <a:p>
            <a:pPr marL="0" indent="0">
              <a:buNone/>
            </a:pPr>
            <a:r>
              <a:rPr lang="en-IN" dirty="0"/>
              <a:t>CSPM detects changes in cloud access permissions, and EDR identifies suspicious endpoint processes attempting privilege escalation.</a:t>
            </a:r>
          </a:p>
          <a:p>
            <a:pPr marL="0" indent="0">
              <a:buNone/>
            </a:pPr>
            <a:r>
              <a:rPr lang="en-IN" b="1" dirty="0"/>
              <a:t>10. API Security Monitoring</a:t>
            </a:r>
            <a:endParaRPr lang="en-IN" dirty="0"/>
          </a:p>
          <a:p>
            <a:pPr marL="0" indent="0">
              <a:buNone/>
            </a:pPr>
            <a:r>
              <a:rPr lang="en-IN" dirty="0"/>
              <a:t>CSPM </a:t>
            </a:r>
            <a:r>
              <a:rPr lang="en-IN" dirty="0" err="1"/>
              <a:t>analyzes</a:t>
            </a:r>
            <a:r>
              <a:rPr lang="en-IN" dirty="0"/>
              <a:t> cloud API configurations, while EDR detects malicious scripts running on endpoints that attempt to misuse the APIs.</a:t>
            </a:r>
          </a:p>
          <a:p>
            <a:pPr marL="0" indent="0">
              <a:buNone/>
            </a:pPr>
            <a:endParaRPr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0"/>
            <a:ext cx="8229600" cy="6858000"/>
          </a:xfrm>
        </p:spPr>
        <p:txBody>
          <a:bodyPr>
            <a:normAutofit fontScale="92500" lnSpcReduction="20000"/>
          </a:bodyPr>
          <a:lstStyle/>
          <a:p>
            <a:pPr marL="0" indent="0">
              <a:buNone/>
            </a:pPr>
            <a:r>
              <a:rPr lang="en-IN" b="1" dirty="0"/>
              <a:t>11. Container Security Monitoring</a:t>
            </a:r>
            <a:endParaRPr lang="en-IN" dirty="0"/>
          </a:p>
          <a:p>
            <a:pPr marL="0" indent="0">
              <a:buNone/>
            </a:pPr>
            <a:r>
              <a:rPr lang="en-IN" dirty="0"/>
              <a:t>CSPM scans container configurations in the cloud, while EDR monitors the container host systems for abnormal </a:t>
            </a:r>
            <a:r>
              <a:rPr lang="en-IN" dirty="0" err="1"/>
              <a:t>behavior</a:t>
            </a:r>
            <a:r>
              <a:rPr lang="en-IN" dirty="0"/>
              <a:t>.</a:t>
            </a:r>
          </a:p>
          <a:p>
            <a:pPr marL="0" indent="0">
              <a:buNone/>
            </a:pPr>
            <a:r>
              <a:rPr lang="en-IN" b="1" dirty="0"/>
              <a:t>12. Ransomware Detection</a:t>
            </a:r>
            <a:endParaRPr lang="en-IN" dirty="0"/>
          </a:p>
          <a:p>
            <a:pPr marL="0" indent="0">
              <a:buNone/>
            </a:pPr>
            <a:r>
              <a:rPr lang="en-IN" dirty="0"/>
              <a:t>CSPM verifies cloud backup configurations, while EDR detects ransomware activity on endpoint devices before data is encrypted.</a:t>
            </a:r>
          </a:p>
          <a:p>
            <a:pPr marL="0" indent="0">
              <a:buNone/>
            </a:pPr>
            <a:r>
              <a:rPr lang="en-IN" b="1" dirty="0"/>
              <a:t>13. Cloud Compliance Monitoring</a:t>
            </a:r>
            <a:endParaRPr lang="en-IN" dirty="0"/>
          </a:p>
          <a:p>
            <a:pPr marL="0" indent="0">
              <a:buNone/>
            </a:pPr>
            <a:r>
              <a:rPr lang="en-IN" dirty="0"/>
              <a:t>CSPM checks cloud environments for compliance violations, while EDR monitors endpoints for actions that may violate security policies.</a:t>
            </a:r>
          </a:p>
          <a:p>
            <a:pPr marL="0" indent="0">
              <a:buNone/>
            </a:pPr>
            <a:r>
              <a:rPr lang="en-IN" b="1" dirty="0"/>
              <a:t>14. Insider Threat Detection</a:t>
            </a:r>
            <a:endParaRPr lang="en-IN" dirty="0"/>
          </a:p>
          <a:p>
            <a:pPr marL="0" indent="0">
              <a:buNone/>
            </a:pPr>
            <a:r>
              <a:rPr lang="en-IN" dirty="0"/>
              <a:t>CSPM monitors user access permissions in cloud systems, while EDR tracks suspicious actions performed by internal users on endpoints.</a:t>
            </a:r>
          </a:p>
          <a:p>
            <a:pPr marL="0" indent="0">
              <a:buNone/>
            </a:pPr>
            <a:endParaRPr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IN" b="1" dirty="0"/>
              <a:t>15. Cloud Configuration Change Monitoring</a:t>
            </a:r>
          </a:p>
          <a:p>
            <a:pPr marL="0" indent="0">
              <a:buNone/>
            </a:pPr>
            <a:r>
              <a:rPr dirty="0"/>
              <a:t>CSPM detects unauthorized changes in cloud configuration settings, and EDR identifies the endpoint responsible for those changes.</a:t>
            </a: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Future Enhancements (AI-based detection, CI/CD integration)</a:t>
            </a:r>
            <a:endParaRPr dirty="0"/>
          </a:p>
        </p:txBody>
      </p:sp>
      <p:sp>
        <p:nvSpPr>
          <p:cNvPr id="3" name="Content Placeholder 2"/>
          <p:cNvSpPr>
            <a:spLocks noGrp="1"/>
          </p:cNvSpPr>
          <p:nvPr>
            <p:ph idx="1"/>
          </p:nvPr>
        </p:nvSpPr>
        <p:spPr>
          <a:xfrm>
            <a:off x="457200" y="1600200"/>
            <a:ext cx="8229600" cy="5257800"/>
          </a:xfrm>
        </p:spPr>
        <p:txBody>
          <a:bodyPr>
            <a:normAutofit fontScale="77500" lnSpcReduction="20000"/>
          </a:bodyPr>
          <a:lstStyle/>
          <a:p>
            <a:pPr marL="0" indent="0">
              <a:buNone/>
            </a:pPr>
            <a:r>
              <a:rPr lang="en-IN" b="1" dirty="0"/>
              <a:t>AI-Based Threat Detection</a:t>
            </a:r>
            <a:endParaRPr lang="en-IN" dirty="0"/>
          </a:p>
          <a:p>
            <a:r>
              <a:rPr dirty="0"/>
              <a:t>Artificial Intelligence (AI) is expected to play a significant role in the future of cloud security systems. AI-based detection systems can analyze large amounts of security data generated from cloud infrastructure and endpoint devices.</a:t>
            </a:r>
          </a:p>
          <a:p>
            <a:r>
              <a:rPr dirty="0"/>
              <a:t>Machine learning algorithms can identify unusual patterns and behaviors that may indicate cyber threats such as malware infections, unauthorized access attempts, or data exfiltration.</a:t>
            </a:r>
          </a:p>
          <a:p>
            <a:r>
              <a:rPr dirty="0"/>
              <a:t>For example, AI-based CSPM systems can automatically detect abnormal changes in cloud configurations or suspicious network activity. Similarly, AI-powered EDR systems can analyze endpoint behavior to detect previously unknown threats that traditional signature-based systems may fail to identify.</a:t>
            </a: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0"/>
            <a:ext cx="8229600" cy="6858000"/>
          </a:xfrm>
        </p:spPr>
        <p:txBody>
          <a:bodyPr>
            <a:normAutofit fontScale="85000" lnSpcReduction="20000"/>
          </a:bodyPr>
          <a:lstStyle/>
          <a:p>
            <a:pPr marL="0" indent="0">
              <a:buNone/>
            </a:pPr>
            <a:r>
              <a:rPr lang="en-IN" b="1" dirty="0"/>
              <a:t>CI/CD Integration (</a:t>
            </a:r>
            <a:r>
              <a:rPr lang="en-IN" b="1" dirty="0" err="1"/>
              <a:t>DevSecOps</a:t>
            </a:r>
            <a:r>
              <a:rPr lang="en-IN" b="1" dirty="0"/>
              <a:t>)</a:t>
            </a:r>
          </a:p>
          <a:p>
            <a:r>
              <a:rPr dirty="0"/>
              <a:t>Another important future enhancement is the integration of CSPM and EDR with Continuous Integration and Continuous Deployment (CI/CD) pipelines. CI/CD pipelines are widely used in modern software development to automate the process of building, testing, and deploying applications.</a:t>
            </a:r>
          </a:p>
          <a:p>
            <a:r>
              <a:rPr dirty="0"/>
              <a:t>By integrating security tools into CI/CD pipelines, organizations can implement </a:t>
            </a:r>
            <a:r>
              <a:rPr dirty="0" err="1"/>
              <a:t>DevSecOps</a:t>
            </a:r>
            <a:r>
              <a:rPr dirty="0"/>
              <a:t>, which means incorporating security practices directly into the development lifecycle.</a:t>
            </a:r>
          </a:p>
          <a:p>
            <a:r>
              <a:rPr dirty="0"/>
              <a:t>In this approach, security scans are performed automatically during each stage of application development. For example:</a:t>
            </a:r>
          </a:p>
          <a:p>
            <a:r>
              <a:rPr dirty="0"/>
              <a:t>When developers commit code, security tools scan the code for vulnerabilities.</a:t>
            </a:r>
          </a:p>
          <a:p>
            <a:r>
              <a:rPr dirty="0"/>
              <a:t>During the build process, CSPM tools check cloud infrastructure configurations.</a:t>
            </a: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0"/>
            <a:ext cx="8229600" cy="6858000"/>
          </a:xfrm>
        </p:spPr>
        <p:txBody>
          <a:bodyPr/>
          <a:lstStyle/>
          <a:p>
            <a:r>
              <a:rPr dirty="0"/>
              <a:t>Before deployment, EDR systems verify endpoint security conditions.</a:t>
            </a:r>
          </a:p>
          <a:p>
            <a:r>
              <a:rPr dirty="0"/>
              <a:t>This ensures that security issues are detected early in the development process, reducing the risk of vulnerabilities being introduced into production environments.</a:t>
            </a: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Real-World Cloud Attack Examples</a:t>
            </a:r>
            <a:endParaRPr dirty="0"/>
          </a:p>
        </p:txBody>
      </p:sp>
      <p:sp>
        <p:nvSpPr>
          <p:cNvPr id="3" name="Content Placeholder 2"/>
          <p:cNvSpPr>
            <a:spLocks noGrp="1"/>
          </p:cNvSpPr>
          <p:nvPr>
            <p:ph idx="1"/>
          </p:nvPr>
        </p:nvSpPr>
        <p:spPr/>
        <p:txBody>
          <a:bodyPr>
            <a:normAutofit fontScale="92500" lnSpcReduction="10000"/>
          </a:bodyPr>
          <a:lstStyle/>
          <a:p>
            <a:pPr marL="0" indent="0">
              <a:buNone/>
            </a:pPr>
            <a:r>
              <a:rPr lang="en-IN" b="1" dirty="0"/>
              <a:t>Capital One Data Breach (2019)</a:t>
            </a:r>
            <a:endParaRPr lang="en-IN" dirty="0"/>
          </a:p>
          <a:p>
            <a:r>
              <a:rPr dirty="0"/>
              <a:t>One of the most famous cloud security incidents occurred in 2019 when Capital One experienced a major data breach affecting over 100 million customers.</a:t>
            </a:r>
          </a:p>
          <a:p>
            <a:r>
              <a:rPr dirty="0"/>
              <a:t>The attack was caused by a misconfigured firewall in the cloud environment hosted on Amazon Web Services. The attacker exploited the vulnerability to access sensitive customer data stored in cloud storage.</a:t>
            </a: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B951A3CC-1CDA-E45C-D4DD-500AC9469F51}"/>
              </a:ext>
            </a:extLst>
          </p:cNvPr>
          <p:cNvSpPr>
            <a:spLocks noGrp="1"/>
          </p:cNvSpPr>
          <p:nvPr>
            <p:ph idx="1"/>
          </p:nvPr>
        </p:nvSpPr>
        <p:spPr>
          <a:xfrm>
            <a:off x="457200" y="0"/>
            <a:ext cx="8229600" cy="6858000"/>
          </a:xfrm>
        </p:spPr>
        <p:txBody>
          <a:bodyPr/>
          <a:lstStyle/>
          <a:p>
            <a:r>
              <a:rPr lang="en-IN" dirty="0"/>
              <a:t>The stolen data included:</a:t>
            </a:r>
          </a:p>
          <a:p>
            <a:pPr lvl="0"/>
            <a:r>
              <a:rPr lang="en-IN" dirty="0"/>
              <a:t>Names</a:t>
            </a:r>
          </a:p>
          <a:p>
            <a:pPr lvl="0"/>
            <a:r>
              <a:rPr lang="en-IN" dirty="0"/>
              <a:t>Addresses</a:t>
            </a:r>
          </a:p>
          <a:p>
            <a:pPr lvl="0"/>
            <a:r>
              <a:rPr lang="en-IN" dirty="0"/>
              <a:t>Credit scores</a:t>
            </a:r>
          </a:p>
          <a:p>
            <a:pPr lvl="0"/>
            <a:r>
              <a:rPr lang="en-IN" dirty="0"/>
              <a:t>Social security numbers (in some cases)</a:t>
            </a:r>
          </a:p>
          <a:p>
            <a:r>
              <a:rPr lang="en-IN" dirty="0"/>
              <a:t>This attack highlighted the importance of monitoring cloud configurations and implementing strong access controls.</a:t>
            </a: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7A0DBE5-FB53-BC5C-E8CE-89905D6DDEB8}"/>
              </a:ext>
            </a:extLst>
          </p:cNvPr>
          <p:cNvSpPr>
            <a:spLocks noGrp="1"/>
          </p:cNvSpPr>
          <p:nvPr>
            <p:ph idx="1"/>
          </p:nvPr>
        </p:nvSpPr>
        <p:spPr>
          <a:xfrm>
            <a:off x="457200" y="0"/>
            <a:ext cx="8229600" cy="6858000"/>
          </a:xfrm>
        </p:spPr>
        <p:txBody>
          <a:bodyPr>
            <a:normAutofit lnSpcReduction="10000"/>
          </a:bodyPr>
          <a:lstStyle/>
          <a:p>
            <a:r>
              <a:rPr lang="en-IN" b="1" dirty="0"/>
              <a:t>Tesla Cloud Data Exposure (2018)</a:t>
            </a:r>
            <a:endParaRPr lang="en-IN" dirty="0"/>
          </a:p>
          <a:p>
            <a:r>
              <a:rPr lang="en-IN" dirty="0"/>
              <a:t>In 2018, Tesla experienced a cloud security issue when attackers gained access to a misconfigured cloud server. The server was running on a cloud platform and contained sensitive internal data.</a:t>
            </a:r>
          </a:p>
          <a:p>
            <a:r>
              <a:rPr lang="en-IN" dirty="0"/>
              <a:t>The attackers also installed cryptocurrency mining software on Tesla’s cloud infrastructure, using company resources for unauthorized activities.</a:t>
            </a:r>
          </a:p>
          <a:p>
            <a:r>
              <a:rPr lang="en-IN" dirty="0"/>
              <a:t>This incident was caused by:</a:t>
            </a:r>
          </a:p>
          <a:p>
            <a:pPr lvl="0"/>
            <a:r>
              <a:rPr lang="en-IN" dirty="0"/>
              <a:t>Weak authentication</a:t>
            </a:r>
          </a:p>
          <a:p>
            <a:pPr lvl="0"/>
            <a:r>
              <a:rPr lang="en-IN" dirty="0"/>
              <a:t>Exposed cloud management interface</a:t>
            </a:r>
          </a:p>
          <a:p>
            <a:r>
              <a:rPr lang="en-IN" dirty="0"/>
              <a:t>Lack of proper monitoring</a:t>
            </a: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0"/>
            <a:ext cx="8229600" cy="6858000"/>
          </a:xfrm>
        </p:spPr>
        <p:txBody>
          <a:bodyPr>
            <a:normAutofit fontScale="92500"/>
          </a:bodyPr>
          <a:lstStyle/>
          <a:p>
            <a:pPr marL="0" indent="0">
              <a:buNone/>
            </a:pPr>
            <a:r>
              <a:rPr lang="en-US" b="1" dirty="0"/>
              <a:t>Uber Cloud Data Breach (2016)</a:t>
            </a:r>
            <a:endParaRPr lang="en-IN" b="1" dirty="0"/>
          </a:p>
          <a:p>
            <a:r>
              <a:rPr dirty="0"/>
              <a:t>Uber suffered a cloud-related data breach in 2016 when attackers accessed private credentials stored in a code repository. These credentials allowed attackers to access Uber’s cloud storage environment.</a:t>
            </a:r>
          </a:p>
          <a:p>
            <a:r>
              <a:rPr dirty="0"/>
              <a:t>The attackers downloaded personal information of approximately 57 million users and drivers.</a:t>
            </a:r>
          </a:p>
          <a:p>
            <a:r>
              <a:rPr dirty="0"/>
              <a:t>The breach occurred because sensitive access keys were stored insecurely.</a:t>
            </a:r>
          </a:p>
          <a:p>
            <a:r>
              <a:rPr dirty="0"/>
              <a:t>Lesson Learned:</a:t>
            </a:r>
            <a:br>
              <a:rPr dirty="0"/>
            </a:br>
            <a:r>
              <a:rPr dirty="0"/>
              <a:t>Proper identity and access management policies and secure credential storage are essential for protecting cloud environments.</a:t>
            </a: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0"/>
            <a:ext cx="8229600" cy="6858000"/>
          </a:xfrm>
        </p:spPr>
        <p:txBody>
          <a:bodyPr>
            <a:normAutofit fontScale="92500" lnSpcReduction="10000"/>
          </a:bodyPr>
          <a:lstStyle/>
          <a:p>
            <a:pPr marL="0" indent="0">
              <a:buNone/>
            </a:pPr>
            <a:r>
              <a:rPr lang="pt-BR" b="1" dirty="0"/>
              <a:t>Microsoft Azure Cosmos DB Exposure (2021)</a:t>
            </a:r>
            <a:endParaRPr lang="en-IN" b="1" dirty="0"/>
          </a:p>
          <a:p>
            <a:r>
              <a:rPr dirty="0"/>
              <a:t>In 2021, a vulnerability in Microsoft Azure’s Cosmos DB database service exposed sensitive customer data belonging to thousands of organizations.</a:t>
            </a:r>
          </a:p>
          <a:p>
            <a:r>
              <a:rPr dirty="0"/>
              <a:t>Researchers discovered that the vulnerability allowed attackers to access database credentials and potentially gain access to stored data.</a:t>
            </a:r>
          </a:p>
          <a:p>
            <a:r>
              <a:rPr dirty="0"/>
              <a:t>Although the vulnerability was quickly patched, it demonstrated how cloud service vulnerabilities can affect multiple organizations.</a:t>
            </a:r>
          </a:p>
          <a:p>
            <a:r>
              <a:rPr dirty="0"/>
              <a:t>Lesson Learned:</a:t>
            </a:r>
            <a:br>
              <a:rPr dirty="0"/>
            </a:br>
            <a:r>
              <a:rPr dirty="0"/>
              <a:t>Continuous vulnerability monitoring and rapid security updates are essential for maintaining cloud security.</a:t>
            </a: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0"/>
            <a:ext cx="8229600" cy="6858000"/>
          </a:xfrm>
        </p:spPr>
        <p:txBody>
          <a:bodyPr>
            <a:normAutofit fontScale="92500" lnSpcReduction="20000"/>
          </a:bodyPr>
          <a:lstStyle/>
          <a:p>
            <a:pPr marL="0" indent="0">
              <a:buNone/>
            </a:pPr>
            <a:r>
              <a:rPr lang="en-IN" b="1" dirty="0"/>
              <a:t>Code Spaces Cloud Attack (2014)</a:t>
            </a:r>
            <a:endParaRPr lang="en-IN" dirty="0"/>
          </a:p>
          <a:p>
            <a:r>
              <a:rPr dirty="0"/>
              <a:t>Code Spaces was a company that relied entirely on cloud infrastructure to host its services. In 2014, attackers gained access to the company's cloud management console.</a:t>
            </a:r>
          </a:p>
          <a:p>
            <a:r>
              <a:rPr dirty="0"/>
              <a:t>The attackers deleted critical data, backups, and server configurations from the cloud environment. As a result, the company lost most of its operational data and was forced to shut down.</a:t>
            </a:r>
          </a:p>
          <a:p>
            <a:r>
              <a:rPr dirty="0"/>
              <a:t>This attack demonstrated the devastating impact of compromised cloud administrator credentials.</a:t>
            </a:r>
          </a:p>
          <a:p>
            <a:r>
              <a:rPr dirty="0"/>
              <a:t>Lesson Learned:</a:t>
            </a:r>
            <a:br>
              <a:rPr dirty="0"/>
            </a:br>
            <a:r>
              <a:rPr dirty="0"/>
              <a:t>Strong authentication, multi-factor authentication (MFA), and access monitoring are critical for protecting cloud management accounts.</a:t>
            </a: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0"/>
            <a:ext cx="8229600" cy="6126163"/>
          </a:xfrm>
        </p:spPr>
        <p:txBody>
          <a:bodyPr>
            <a:normAutofit lnSpcReduction="10000"/>
          </a:bodyPr>
          <a:lstStyle/>
          <a:p>
            <a:pPr marL="0" indent="0">
              <a:buNone/>
            </a:pPr>
            <a:r>
              <a:rPr lang="en-IN" b="1" dirty="0"/>
              <a:t>Snapchat Cloud Data Leak</a:t>
            </a:r>
          </a:p>
          <a:p>
            <a:r>
              <a:rPr dirty="0"/>
              <a:t>Snapchat also experienced a cloud-related security incident when attackers accessed employee information stored in the cloud.</a:t>
            </a:r>
          </a:p>
          <a:p>
            <a:r>
              <a:rPr dirty="0"/>
              <a:t>The attackers used phishing techniques to trick an employee into revealing login credentials. This allowed them to access sensitive payroll information.</a:t>
            </a:r>
          </a:p>
          <a:p>
            <a:r>
              <a:rPr dirty="0"/>
              <a:t>Lesson Learned:</a:t>
            </a:r>
            <a:br>
              <a:rPr dirty="0"/>
            </a:br>
            <a:r>
              <a:rPr dirty="0"/>
              <a:t>Security awareness training and endpoint protection are important for preventing phishing-based attacks.</a:t>
            </a: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D57FC077-9E3D-B67D-414A-AE432BDCE495}"/>
              </a:ext>
            </a:extLst>
          </p:cNvPr>
          <p:cNvSpPr>
            <a:spLocks noGrp="1"/>
          </p:cNvSpPr>
          <p:nvPr>
            <p:ph idx="1"/>
          </p:nvPr>
        </p:nvSpPr>
        <p:spPr>
          <a:xfrm>
            <a:off x="457200" y="0"/>
            <a:ext cx="8229600" cy="6315456"/>
          </a:xfrm>
        </p:spPr>
        <p:txBody>
          <a:bodyPr>
            <a:normAutofit fontScale="85000" lnSpcReduction="20000"/>
          </a:bodyPr>
          <a:lstStyle/>
          <a:p>
            <a:r>
              <a:rPr lang="en-IN" b="1" dirty="0"/>
              <a:t>Importance of CSPM and EDR in Preventing Cloud Attacks</a:t>
            </a:r>
            <a:endParaRPr lang="en-IN" dirty="0"/>
          </a:p>
          <a:p>
            <a:r>
              <a:rPr lang="en-IN" dirty="0"/>
              <a:t>Many of these real-world cloud attacks occurred due to:</a:t>
            </a:r>
          </a:p>
          <a:p>
            <a:pPr lvl="0"/>
            <a:r>
              <a:rPr lang="en-IN" dirty="0"/>
              <a:t>Misconfigured cloud settings</a:t>
            </a:r>
          </a:p>
          <a:p>
            <a:pPr lvl="0"/>
            <a:r>
              <a:rPr lang="en-IN" dirty="0"/>
              <a:t>Weak access controls</a:t>
            </a:r>
          </a:p>
          <a:p>
            <a:pPr lvl="0"/>
            <a:r>
              <a:rPr lang="en-IN" dirty="0"/>
              <a:t>Lack of continuous monitoring</a:t>
            </a:r>
          </a:p>
          <a:p>
            <a:pPr lvl="0"/>
            <a:r>
              <a:rPr lang="en-IN" dirty="0"/>
              <a:t>Compromised endpoint devices</a:t>
            </a:r>
          </a:p>
          <a:p>
            <a:r>
              <a:rPr lang="en-IN" dirty="0"/>
              <a:t>Security solutions such as CSPM and EDR help prevent these attacks by:</a:t>
            </a:r>
          </a:p>
          <a:p>
            <a:pPr lvl="0"/>
            <a:r>
              <a:rPr lang="en-IN" dirty="0"/>
              <a:t>Monitoring cloud configurations for vulnerabilities</a:t>
            </a:r>
          </a:p>
          <a:p>
            <a:pPr lvl="0"/>
            <a:r>
              <a:rPr lang="en-IN" dirty="0"/>
              <a:t>Detecting suspicious endpoint activities</a:t>
            </a:r>
          </a:p>
          <a:p>
            <a:pPr lvl="0"/>
            <a:r>
              <a:rPr lang="en-IN" dirty="0"/>
              <a:t>Alerting administrators about security risks</a:t>
            </a:r>
          </a:p>
          <a:p>
            <a:pPr lvl="0"/>
            <a:r>
              <a:rPr lang="en-IN" dirty="0"/>
              <a:t>Automating threat detection and response</a:t>
            </a:r>
          </a:p>
          <a:p>
            <a:r>
              <a:rPr lang="en-IN" dirty="0"/>
              <a:t>These technologies play a crucial role in protecting modern cloud environments from cyber threats.</a:t>
            </a:r>
          </a:p>
          <a:p>
            <a:pPr marL="0" indent="0">
              <a:buNone/>
            </a:pPr>
            <a:endParaRPr lang="en-IN" dirty="0"/>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42072-C7E6-8C44-1C3A-6476489B8066}"/>
              </a:ext>
            </a:extLst>
          </p:cNvPr>
          <p:cNvSpPr>
            <a:spLocks noGrp="1"/>
          </p:cNvSpPr>
          <p:nvPr>
            <p:ph type="title"/>
          </p:nvPr>
        </p:nvSpPr>
        <p:spPr/>
        <p:txBody>
          <a:bodyPr>
            <a:normAutofit/>
          </a:bodyPr>
          <a:lstStyle/>
          <a:p>
            <a:r>
              <a:rPr lang="en-IN" sz="2800" b="1" dirty="0"/>
              <a:t>Cloud Security Posture Management (CSPM) with Endpoint Detection &amp; Response (EDR) – Quiz</a:t>
            </a:r>
            <a:endParaRPr lang="en-IN" sz="2800" dirty="0"/>
          </a:p>
        </p:txBody>
      </p:sp>
      <p:sp>
        <p:nvSpPr>
          <p:cNvPr id="3" name="Content Placeholder 2">
            <a:extLst>
              <a:ext uri="{FF2B5EF4-FFF2-40B4-BE49-F238E27FC236}">
                <a16:creationId xmlns:a16="http://schemas.microsoft.com/office/drawing/2014/main" id="{C7BC0B40-FC4F-7F4E-3464-B7C0EEA0F590}"/>
              </a:ext>
            </a:extLst>
          </p:cNvPr>
          <p:cNvSpPr>
            <a:spLocks noGrp="1"/>
          </p:cNvSpPr>
          <p:nvPr>
            <p:ph idx="1"/>
          </p:nvPr>
        </p:nvSpPr>
        <p:spPr>
          <a:xfrm>
            <a:off x="457200" y="1328928"/>
            <a:ext cx="8229600" cy="5529072"/>
          </a:xfrm>
        </p:spPr>
        <p:txBody>
          <a:bodyPr>
            <a:noAutofit/>
          </a:bodyPr>
          <a:lstStyle/>
          <a:p>
            <a:pPr marL="0" indent="0">
              <a:buNone/>
            </a:pPr>
            <a:r>
              <a:rPr lang="en-IN" sz="2400" dirty="0"/>
              <a:t>1. </a:t>
            </a:r>
            <a:r>
              <a:rPr lang="en-IN" sz="2400" b="1" dirty="0"/>
              <a:t>What is Cloud Security Posture Management (CSPM)?</a:t>
            </a:r>
            <a:br>
              <a:rPr lang="en-IN" sz="2400" dirty="0"/>
            </a:br>
            <a:r>
              <a:rPr lang="en-IN" sz="2400" b="1" dirty="0"/>
              <a:t>Answer. </a:t>
            </a:r>
            <a:r>
              <a:rPr lang="en-IN" sz="2400" dirty="0"/>
              <a:t>Cloud configuration monitoring</a:t>
            </a:r>
          </a:p>
          <a:p>
            <a:pPr marL="0" indent="0">
              <a:buNone/>
            </a:pPr>
            <a:r>
              <a:rPr lang="en-IN" sz="2400" dirty="0"/>
              <a:t>2. </a:t>
            </a:r>
            <a:r>
              <a:rPr lang="en-IN" sz="2400" b="1" dirty="0"/>
              <a:t>What is Endpoint Detection and Response (EDR)?</a:t>
            </a:r>
            <a:br>
              <a:rPr lang="en-IN" sz="2400" dirty="0"/>
            </a:br>
            <a:r>
              <a:rPr lang="en-IN" sz="2400" b="1" dirty="0"/>
              <a:t>Answer. </a:t>
            </a:r>
            <a:r>
              <a:rPr lang="en-IN" sz="2400" dirty="0"/>
              <a:t>Endpoint threat detection</a:t>
            </a:r>
          </a:p>
          <a:p>
            <a:pPr marL="0" indent="0">
              <a:buNone/>
            </a:pPr>
            <a:r>
              <a:rPr lang="en-IN" sz="2400" dirty="0"/>
              <a:t>3. </a:t>
            </a:r>
            <a:r>
              <a:rPr lang="en-IN" sz="2400" b="1" dirty="0"/>
              <a:t>How does CSPM help improve cloud security?</a:t>
            </a:r>
            <a:br>
              <a:rPr lang="en-IN" sz="2400" dirty="0"/>
            </a:br>
            <a:r>
              <a:rPr lang="en-IN" sz="2400" b="1" dirty="0"/>
              <a:t>Answer. </a:t>
            </a:r>
            <a:r>
              <a:rPr lang="en-IN" sz="2400" dirty="0"/>
              <a:t>CSPM improves cloud security by continuously scanning cloud resources and detecting misconfigurations.</a:t>
            </a:r>
          </a:p>
          <a:p>
            <a:pPr marL="0" indent="0">
              <a:buNone/>
            </a:pPr>
            <a:r>
              <a:rPr lang="en-IN" sz="2400" dirty="0"/>
              <a:t>4. </a:t>
            </a:r>
            <a:r>
              <a:rPr lang="en-IN" sz="2400" b="1" dirty="0"/>
              <a:t>What types of security risks can CSPM detect in cloud environments?</a:t>
            </a:r>
            <a:br>
              <a:rPr lang="en-IN" sz="2400" dirty="0"/>
            </a:br>
            <a:r>
              <a:rPr lang="en-IN" sz="2400" b="1" dirty="0"/>
              <a:t>Answer. </a:t>
            </a:r>
            <a:r>
              <a:rPr lang="en-IN" sz="2400" dirty="0"/>
              <a:t>Cloud misconfigurations detection</a:t>
            </a:r>
          </a:p>
          <a:p>
            <a:pPr marL="0" indent="0">
              <a:buNone/>
            </a:pPr>
            <a:r>
              <a:rPr lang="en-IN" sz="2400" dirty="0"/>
              <a:t>5. </a:t>
            </a:r>
            <a:r>
              <a:rPr lang="en-IN" sz="2400" b="1" dirty="0"/>
              <a:t>How does EDR monitor endpoint devices for threats?</a:t>
            </a:r>
            <a:br>
              <a:rPr lang="en-IN" sz="2400" dirty="0"/>
            </a:br>
            <a:r>
              <a:rPr lang="en-IN" sz="2400" b="1" dirty="0"/>
              <a:t>Answer. </a:t>
            </a:r>
            <a:r>
              <a:rPr lang="en-IN" sz="2400" dirty="0"/>
              <a:t>EDR monitors system </a:t>
            </a:r>
            <a:r>
              <a:rPr lang="en-IN" sz="2400" dirty="0" err="1"/>
              <a:t>behavior</a:t>
            </a:r>
            <a:r>
              <a:rPr lang="en-IN" sz="2400" dirty="0"/>
              <a:t>, processes, and network activity on endpoint devices to detect suspicious actions.</a:t>
            </a:r>
          </a:p>
        </p:txBody>
      </p:sp>
    </p:spTree>
    <p:extLst>
      <p:ext uri="{BB962C8B-B14F-4D97-AF65-F5344CB8AC3E}">
        <p14:creationId xmlns:p14="http://schemas.microsoft.com/office/powerpoint/2010/main" val="1713764975"/>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927498-6275-7009-9F4D-8EE8CCC6EA2D}"/>
              </a:ext>
            </a:extLst>
          </p:cNvPr>
          <p:cNvSpPr>
            <a:spLocks noGrp="1"/>
          </p:cNvSpPr>
          <p:nvPr>
            <p:ph idx="1"/>
          </p:nvPr>
        </p:nvSpPr>
        <p:spPr>
          <a:xfrm>
            <a:off x="457200" y="0"/>
            <a:ext cx="8229600" cy="6858000"/>
          </a:xfrm>
        </p:spPr>
        <p:txBody>
          <a:bodyPr>
            <a:normAutofit lnSpcReduction="10000"/>
          </a:bodyPr>
          <a:lstStyle/>
          <a:p>
            <a:pPr marL="0" indent="0">
              <a:buNone/>
            </a:pPr>
            <a:r>
              <a:rPr lang="en-IN" dirty="0"/>
              <a:t>6. </a:t>
            </a:r>
            <a:r>
              <a:rPr lang="en-IN" b="1" dirty="0"/>
              <a:t>Why is configuration monitoring important in cloud security?</a:t>
            </a:r>
            <a:br>
              <a:rPr lang="en-IN" dirty="0"/>
            </a:br>
            <a:r>
              <a:rPr lang="en-IN" b="1" dirty="0"/>
              <a:t>Answer. </a:t>
            </a:r>
            <a:r>
              <a:rPr lang="en-IN" dirty="0"/>
              <a:t>Prevent security risks</a:t>
            </a:r>
          </a:p>
          <a:p>
            <a:pPr marL="0" indent="0">
              <a:buNone/>
            </a:pPr>
            <a:r>
              <a:rPr lang="en-IN" dirty="0"/>
              <a:t>7. </a:t>
            </a:r>
            <a:r>
              <a:rPr lang="en-IN" b="1" dirty="0"/>
              <a:t>How does CSPM help organizations maintain compliance with security standards?</a:t>
            </a:r>
            <a:br>
              <a:rPr lang="en-IN" dirty="0"/>
            </a:br>
            <a:r>
              <a:rPr lang="en-IN" b="1" dirty="0"/>
              <a:t>Answer. </a:t>
            </a:r>
            <a:r>
              <a:rPr lang="en-IN" dirty="0"/>
              <a:t>Compliance monitoring tools</a:t>
            </a:r>
          </a:p>
          <a:p>
            <a:pPr marL="0" indent="0">
              <a:buNone/>
            </a:pPr>
            <a:r>
              <a:rPr lang="en-IN" dirty="0"/>
              <a:t>8. </a:t>
            </a:r>
            <a:r>
              <a:rPr lang="en-IN" b="1" dirty="0"/>
              <a:t>What types of cyber threats can EDR detect on endpoint devices?</a:t>
            </a:r>
            <a:br>
              <a:rPr lang="en-IN" dirty="0"/>
            </a:br>
            <a:r>
              <a:rPr lang="en-IN" b="1" dirty="0"/>
              <a:t>Answer. </a:t>
            </a:r>
            <a:r>
              <a:rPr lang="en-IN" dirty="0"/>
              <a:t>EDR can detect threats such as malware, ransomware, unauthorized access, and suspicious processes.</a:t>
            </a:r>
          </a:p>
          <a:p>
            <a:pPr marL="0" indent="0">
              <a:buNone/>
            </a:pPr>
            <a:r>
              <a:rPr lang="en-IN" dirty="0"/>
              <a:t>9. </a:t>
            </a:r>
            <a:r>
              <a:rPr lang="en-IN" b="1" dirty="0"/>
              <a:t>How does the integration of CSPM and EDR improve overall cloud security?</a:t>
            </a:r>
            <a:br>
              <a:rPr lang="en-IN" dirty="0"/>
            </a:br>
            <a:r>
              <a:rPr lang="en-IN" b="1" dirty="0"/>
              <a:t>Answer. </a:t>
            </a:r>
            <a:r>
              <a:rPr lang="en-IN" dirty="0"/>
              <a:t>Integrated threat protection</a:t>
            </a:r>
          </a:p>
        </p:txBody>
      </p:sp>
    </p:spTree>
    <p:extLst>
      <p:ext uri="{BB962C8B-B14F-4D97-AF65-F5344CB8AC3E}">
        <p14:creationId xmlns:p14="http://schemas.microsoft.com/office/powerpoint/2010/main" val="2983776921"/>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754F8E7-D69B-C748-9795-4BF459A99F11}"/>
              </a:ext>
            </a:extLst>
          </p:cNvPr>
          <p:cNvSpPr>
            <a:spLocks noGrp="1"/>
          </p:cNvSpPr>
          <p:nvPr>
            <p:ph idx="1"/>
          </p:nvPr>
        </p:nvSpPr>
        <p:spPr>
          <a:xfrm>
            <a:off x="457200" y="0"/>
            <a:ext cx="8229600" cy="6858000"/>
          </a:xfrm>
        </p:spPr>
        <p:txBody>
          <a:bodyPr>
            <a:normAutofit lnSpcReduction="10000"/>
          </a:bodyPr>
          <a:lstStyle/>
          <a:p>
            <a:pPr marL="0" indent="0">
              <a:buNone/>
            </a:pPr>
            <a:r>
              <a:rPr lang="en-IN" dirty="0"/>
              <a:t>10. </a:t>
            </a:r>
            <a:r>
              <a:rPr lang="en-IN" b="1" dirty="0"/>
              <a:t>What is the role of real-time monitoring in CSPM systems?</a:t>
            </a:r>
            <a:br>
              <a:rPr lang="en-IN" dirty="0"/>
            </a:br>
            <a:r>
              <a:rPr lang="en-IN" b="1" dirty="0"/>
              <a:t>Answer. </a:t>
            </a:r>
            <a:r>
              <a:rPr lang="en-IN" dirty="0"/>
              <a:t>Continuous security monitoring</a:t>
            </a:r>
          </a:p>
          <a:p>
            <a:pPr marL="0" indent="0">
              <a:buNone/>
            </a:pPr>
            <a:r>
              <a:rPr lang="en-IN" dirty="0"/>
              <a:t>11. </a:t>
            </a:r>
            <a:r>
              <a:rPr lang="en-IN" b="1" dirty="0"/>
              <a:t>How can misconfigured cloud storage create security vulnerabilities?</a:t>
            </a:r>
            <a:br>
              <a:rPr lang="en-IN" dirty="0"/>
            </a:br>
            <a:r>
              <a:rPr lang="en-IN" b="1" dirty="0"/>
              <a:t>Answer</a:t>
            </a:r>
            <a:r>
              <a:rPr lang="en-IN" dirty="0"/>
              <a:t>. Misconfigured cloud storage can expose sensitive data to unauthorized users or the public.</a:t>
            </a:r>
          </a:p>
          <a:p>
            <a:pPr marL="0" indent="0">
              <a:buNone/>
            </a:pPr>
            <a:r>
              <a:rPr lang="en-IN" dirty="0"/>
              <a:t>12. </a:t>
            </a:r>
            <a:r>
              <a:rPr lang="en-IN" b="1" dirty="0"/>
              <a:t>What is the importance of vulnerability scanning in cloud environments?</a:t>
            </a:r>
            <a:br>
              <a:rPr lang="en-IN" dirty="0"/>
            </a:br>
            <a:r>
              <a:rPr lang="en-IN" b="1" dirty="0"/>
              <a:t>Answer. </a:t>
            </a:r>
            <a:r>
              <a:rPr lang="en-IN" dirty="0"/>
              <a:t>Identify security weaknesses</a:t>
            </a:r>
          </a:p>
          <a:p>
            <a:pPr marL="0" indent="0">
              <a:buNone/>
            </a:pPr>
            <a:r>
              <a:rPr lang="en-IN" dirty="0"/>
              <a:t>13. </a:t>
            </a:r>
            <a:r>
              <a:rPr lang="en-IN" b="1" dirty="0"/>
              <a:t>How does EDR respond when suspicious activity is detected on an endpoint?</a:t>
            </a:r>
            <a:br>
              <a:rPr lang="en-IN" dirty="0"/>
            </a:br>
            <a:r>
              <a:rPr lang="en-IN" b="1" dirty="0"/>
              <a:t>Answer. </a:t>
            </a:r>
            <a:r>
              <a:rPr lang="en-IN" dirty="0"/>
              <a:t>Endpoint threat isolation</a:t>
            </a:r>
          </a:p>
          <a:p>
            <a:pPr marL="0" indent="0">
              <a:buNone/>
            </a:pPr>
            <a:endParaRPr lang="en-IN" dirty="0"/>
          </a:p>
        </p:txBody>
      </p:sp>
    </p:spTree>
    <p:extLst>
      <p:ext uri="{BB962C8B-B14F-4D97-AF65-F5344CB8AC3E}">
        <p14:creationId xmlns:p14="http://schemas.microsoft.com/office/powerpoint/2010/main" val="2055121849"/>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585648-7294-84D2-486A-D8A52AF0EDE7}"/>
              </a:ext>
            </a:extLst>
          </p:cNvPr>
          <p:cNvSpPr>
            <a:spLocks noGrp="1"/>
          </p:cNvSpPr>
          <p:nvPr>
            <p:ph idx="1"/>
          </p:nvPr>
        </p:nvSpPr>
        <p:spPr>
          <a:xfrm>
            <a:off x="457200" y="0"/>
            <a:ext cx="8229600" cy="6858000"/>
          </a:xfrm>
        </p:spPr>
        <p:txBody>
          <a:bodyPr>
            <a:normAutofit fontScale="92500"/>
          </a:bodyPr>
          <a:lstStyle/>
          <a:p>
            <a:pPr marL="0" indent="0">
              <a:buNone/>
            </a:pPr>
            <a:r>
              <a:rPr lang="en-IN" dirty="0"/>
              <a:t>14. </a:t>
            </a:r>
            <a:r>
              <a:rPr lang="en-IN" b="1" dirty="0"/>
              <a:t>Why is endpoint security important in modern cloud infrastructures?</a:t>
            </a:r>
            <a:br>
              <a:rPr lang="en-IN" dirty="0"/>
            </a:br>
            <a:r>
              <a:rPr lang="en-IN" b="1" dirty="0"/>
              <a:t>Answer. </a:t>
            </a:r>
            <a:r>
              <a:rPr lang="en-IN" dirty="0"/>
              <a:t>Endpoint security prevents compromised devices from being used to access cloud systems.</a:t>
            </a:r>
          </a:p>
          <a:p>
            <a:pPr marL="0" indent="0">
              <a:buNone/>
            </a:pPr>
            <a:r>
              <a:rPr lang="en-IN" dirty="0"/>
              <a:t>15. </a:t>
            </a:r>
            <a:r>
              <a:rPr lang="en-IN" b="1" dirty="0"/>
              <a:t>How can CSPM help prevent unauthorized access to cloud resources?</a:t>
            </a:r>
            <a:br>
              <a:rPr lang="en-IN" dirty="0"/>
            </a:br>
            <a:r>
              <a:rPr lang="en-IN" b="1" dirty="0"/>
              <a:t>Answer. </a:t>
            </a:r>
            <a:r>
              <a:rPr lang="en-IN" dirty="0"/>
              <a:t>Access policy monitoring</a:t>
            </a:r>
          </a:p>
          <a:p>
            <a:pPr marL="0" indent="0">
              <a:buNone/>
            </a:pPr>
            <a:r>
              <a:rPr lang="en-IN" dirty="0"/>
              <a:t>16. </a:t>
            </a:r>
            <a:r>
              <a:rPr lang="en-IN" b="1" dirty="0"/>
              <a:t>What role does automation play in cloud security posture management?</a:t>
            </a:r>
            <a:br>
              <a:rPr lang="en-IN" dirty="0"/>
            </a:br>
            <a:r>
              <a:rPr lang="en-IN" b="1" dirty="0"/>
              <a:t>Answer. </a:t>
            </a:r>
            <a:r>
              <a:rPr lang="en-IN" dirty="0"/>
              <a:t>Automated threat detection</a:t>
            </a:r>
          </a:p>
          <a:p>
            <a:pPr marL="0" indent="0">
              <a:buNone/>
            </a:pPr>
            <a:r>
              <a:rPr lang="en-IN" dirty="0"/>
              <a:t>17. </a:t>
            </a:r>
            <a:r>
              <a:rPr lang="en-IN" b="1" dirty="0"/>
              <a:t>How can </a:t>
            </a:r>
            <a:r>
              <a:rPr lang="en-IN" b="1" dirty="0" err="1"/>
              <a:t>behavioral</a:t>
            </a:r>
            <a:r>
              <a:rPr lang="en-IN" b="1" dirty="0"/>
              <a:t> analysis improve threat detection in EDR systems?</a:t>
            </a:r>
            <a:br>
              <a:rPr lang="en-IN" dirty="0"/>
            </a:br>
            <a:r>
              <a:rPr lang="en-IN" b="1" dirty="0"/>
              <a:t>Answer. </a:t>
            </a:r>
            <a:r>
              <a:rPr lang="en-IN" dirty="0" err="1"/>
              <a:t>Behavioral</a:t>
            </a:r>
            <a:r>
              <a:rPr lang="en-IN" dirty="0"/>
              <a:t> analysis identifies unusual activities that may indicate cyber attacks.</a:t>
            </a:r>
          </a:p>
        </p:txBody>
      </p:sp>
    </p:spTree>
    <p:extLst>
      <p:ext uri="{BB962C8B-B14F-4D97-AF65-F5344CB8AC3E}">
        <p14:creationId xmlns:p14="http://schemas.microsoft.com/office/powerpoint/2010/main" val="3291773192"/>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21E56FF-26F1-3197-E4E8-B960104EF956}"/>
              </a:ext>
            </a:extLst>
          </p:cNvPr>
          <p:cNvSpPr>
            <a:spLocks noGrp="1"/>
          </p:cNvSpPr>
          <p:nvPr>
            <p:ph idx="1"/>
          </p:nvPr>
        </p:nvSpPr>
        <p:spPr>
          <a:xfrm>
            <a:off x="457200" y="0"/>
            <a:ext cx="8229600" cy="6858000"/>
          </a:xfrm>
        </p:spPr>
        <p:txBody>
          <a:bodyPr/>
          <a:lstStyle/>
          <a:p>
            <a:r>
              <a:rPr lang="en-IN" dirty="0"/>
              <a:t>18. </a:t>
            </a:r>
            <a:r>
              <a:rPr lang="en-IN" b="1" dirty="0"/>
              <a:t>What types of cloud services can be monitored using CSPM tools?</a:t>
            </a:r>
            <a:br>
              <a:rPr lang="en-IN" dirty="0"/>
            </a:br>
            <a:r>
              <a:rPr lang="en-IN" b="1" dirty="0"/>
              <a:t>Answer. </a:t>
            </a:r>
            <a:r>
              <a:rPr lang="en-IN" dirty="0"/>
              <a:t>Cloud infrastructure services</a:t>
            </a:r>
          </a:p>
          <a:p>
            <a:r>
              <a:rPr lang="en-IN" dirty="0"/>
              <a:t>19. </a:t>
            </a:r>
            <a:r>
              <a:rPr lang="en-IN" b="1" dirty="0"/>
              <a:t>How does CSPM help organizations identify compliance violations?</a:t>
            </a:r>
            <a:br>
              <a:rPr lang="en-IN" dirty="0"/>
            </a:br>
            <a:r>
              <a:rPr lang="en-IN" b="1" dirty="0"/>
              <a:t>Answer. </a:t>
            </a:r>
            <a:r>
              <a:rPr lang="en-IN" dirty="0"/>
              <a:t>Security compliance checks</a:t>
            </a:r>
          </a:p>
          <a:p>
            <a:r>
              <a:rPr lang="en-IN" dirty="0"/>
              <a:t>20. </a:t>
            </a:r>
            <a:r>
              <a:rPr lang="en-IN" b="1" dirty="0"/>
              <a:t>Why is combining CSPM and EDR important for modern cybersecurity strategies?</a:t>
            </a:r>
            <a:br>
              <a:rPr lang="en-IN" dirty="0"/>
            </a:br>
            <a:r>
              <a:rPr lang="en-IN" b="1" dirty="0"/>
              <a:t>Answer. </a:t>
            </a:r>
            <a:r>
              <a:rPr lang="en-IN" dirty="0"/>
              <a:t>Comprehensive security protection</a:t>
            </a:r>
          </a:p>
          <a:p>
            <a:pPr marL="0" indent="0">
              <a:buNone/>
            </a:pPr>
            <a:endParaRPr lang="en-IN" dirty="0"/>
          </a:p>
        </p:txBody>
      </p:sp>
    </p:spTree>
    <p:extLst>
      <p:ext uri="{BB962C8B-B14F-4D97-AF65-F5344CB8AC3E}">
        <p14:creationId xmlns:p14="http://schemas.microsoft.com/office/powerpoint/2010/main" val="4070481278"/>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417638"/>
          </a:xfrm>
        </p:spPr>
        <p:txBody>
          <a:bodyPr/>
          <a:lstStyle/>
          <a:p>
            <a:r>
              <a:rPr dirty="0"/>
              <a:t> Conclusion</a:t>
            </a:r>
          </a:p>
        </p:txBody>
      </p:sp>
      <p:sp>
        <p:nvSpPr>
          <p:cNvPr id="3" name="Content Placeholder 2"/>
          <p:cNvSpPr>
            <a:spLocks noGrp="1"/>
          </p:cNvSpPr>
          <p:nvPr>
            <p:ph idx="1"/>
          </p:nvPr>
        </p:nvSpPr>
        <p:spPr>
          <a:xfrm>
            <a:off x="457200" y="1267968"/>
            <a:ext cx="8229600" cy="5590032"/>
          </a:xfrm>
        </p:spPr>
        <p:txBody>
          <a:bodyPr>
            <a:noAutofit/>
          </a:bodyPr>
          <a:lstStyle/>
          <a:p>
            <a:r>
              <a:rPr sz="2400" dirty="0"/>
              <a:t>Cloud computing has become an essential part of modern information technology infrastructure. Organizations across various industries rely on cloud platforms to store data, run applications, and manage business operations efficiently. While cloud computing offers numerous benefits such as scalability, flexibility, and cost efficiency, it also introduces significant security challenges.</a:t>
            </a:r>
          </a:p>
          <a:p>
            <a:r>
              <a:rPr sz="2400" dirty="0"/>
              <a:t>This project focused on implementing a cloud security solution by integrating Cloud Security Posture Management (CSPM) with Endpoint Detection &amp; Response (EDR) technologies. The main objective of the project was to design and develop a system capable of monitoring cloud infrastructure, detecting configuration vulnerabilities, identifying endpoint threats, and improving the overall security posture of cloud environments</a:t>
            </a:r>
            <a:r>
              <a:rPr lang="en-IN" sz="2400" dirty="0"/>
              <a:t>.</a:t>
            </a:r>
            <a:endParaRPr sz="2400" dirty="0"/>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E00D7563-E339-5482-1B45-286350CBAD00}"/>
              </a:ext>
            </a:extLst>
          </p:cNvPr>
          <p:cNvSpPr>
            <a:spLocks noGrp="1"/>
          </p:cNvSpPr>
          <p:nvPr>
            <p:ph idx="1"/>
          </p:nvPr>
        </p:nvSpPr>
        <p:spPr>
          <a:xfrm>
            <a:off x="457200" y="0"/>
            <a:ext cx="8229600" cy="6858000"/>
          </a:xfrm>
        </p:spPr>
        <p:txBody>
          <a:bodyPr>
            <a:normAutofit fontScale="85000" lnSpcReduction="20000"/>
          </a:bodyPr>
          <a:lstStyle/>
          <a:p>
            <a:pPr lvl="0"/>
            <a:r>
              <a:rPr lang="en-IN" dirty="0"/>
              <a:t>Endpoint Detection &amp; Response, on the other hand, focuses on monitoring endpoint devices such as servers, virtual machines, and user systems connected to cloud infrastructure. EDR systems </a:t>
            </a:r>
            <a:r>
              <a:rPr lang="en-IN" dirty="0" err="1"/>
              <a:t>analyze</a:t>
            </a:r>
            <a:r>
              <a:rPr lang="en-IN" dirty="0"/>
              <a:t> endpoint </a:t>
            </a:r>
            <a:r>
              <a:rPr lang="en-IN" dirty="0" err="1"/>
              <a:t>behavior</a:t>
            </a:r>
            <a:r>
              <a:rPr lang="en-IN" dirty="0"/>
              <a:t> and detect suspicious activities such as malware infections, unauthorized access attempts, and abnormal network traffic.</a:t>
            </a:r>
          </a:p>
          <a:p>
            <a:pPr marL="0" indent="0">
              <a:buNone/>
            </a:pPr>
            <a:r>
              <a:rPr lang="en-IN" dirty="0"/>
              <a:t> </a:t>
            </a:r>
          </a:p>
          <a:p>
            <a:pPr lvl="0"/>
            <a:r>
              <a:rPr lang="en-IN" dirty="0"/>
              <a:t>The integration of CSPM and EDR provides a comprehensive cloud security framework. While CSPM focuses on configuration-level security and compliance monitoring, EDR focuses on runtime threat detection and endpoint protection.</a:t>
            </a:r>
          </a:p>
          <a:p>
            <a:pPr marL="0" indent="0">
              <a:buNone/>
            </a:pPr>
            <a:endParaRPr lang="en-IN" dirty="0"/>
          </a:p>
          <a:p>
            <a:r>
              <a:rPr lang="en-IN" dirty="0"/>
              <a:t>Throughout the development of this project, several important cloud security concepts were explored, including vulnerability scanning, configuration monitoring, threat detection, compliance management, and automated security reporting.</a:t>
            </a:r>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F7969E79-3685-21AC-F96D-A88E3E2756C7}"/>
              </a:ext>
            </a:extLst>
          </p:cNvPr>
          <p:cNvPicPr>
            <a:picLocks noGrp="1" noChangeAspect="1"/>
          </p:cNvPicPr>
          <p:nvPr>
            <p:ph idx="1"/>
          </p:nvPr>
        </p:nvPicPr>
        <p:blipFill>
          <a:blip r:embed="rId2"/>
          <a:stretch>
            <a:fillRect/>
          </a:stretch>
        </p:blipFill>
        <p:spPr>
          <a:xfrm>
            <a:off x="1019918" y="1271016"/>
            <a:ext cx="7104163" cy="452596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440</TotalTime>
  <Words>11299</Words>
  <Application>Microsoft Office PowerPoint</Application>
  <PresentationFormat>On-screen Show (4:3)</PresentationFormat>
  <Paragraphs>836</Paragraphs>
  <Slides>169</Slides>
  <Notes>0</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169</vt:i4>
      </vt:variant>
    </vt:vector>
  </HeadingPairs>
  <TitlesOfParts>
    <vt:vector size="174" baseType="lpstr">
      <vt:lpstr>Arial</vt:lpstr>
      <vt:lpstr>Calibri</vt:lpstr>
      <vt:lpstr>Times New Roman</vt:lpstr>
      <vt:lpstr>Office Theme</vt:lpstr>
      <vt:lpstr>Packager Shell Object</vt:lpstr>
      <vt:lpstr>Cloud Security Posture Management (CSPM) with Endpoint Detection &amp; Response (EDR) </vt:lpstr>
      <vt:lpstr>PowerPoint Presentation</vt:lpstr>
      <vt:lpstr>PROJECT PROFILE</vt:lpstr>
      <vt:lpstr>Introduction</vt:lpstr>
      <vt:lpstr>Cloud Security Posture Management (CSPM)</vt:lpstr>
      <vt:lpstr>Endpoint Detection &amp; Response (EDR)</vt:lpstr>
      <vt:lpstr>Integration of CSPM with EDR</vt:lpstr>
      <vt:lpstr>1. What is Cloud Security?</vt:lpstr>
      <vt:lpstr>2. Why is Cloud Security Important?</vt:lpstr>
      <vt:lpstr>3. What Are the Major Threats in Cloud Environments?</vt:lpstr>
      <vt:lpstr>3. What Are the Major Threats in Cloud Environments?</vt:lpstr>
      <vt:lpstr>4. How Does Cloud Security Protect Data?</vt:lpstr>
      <vt:lpstr>4. How Does Cloud Security Protect Data?</vt:lpstr>
      <vt:lpstr>5. Why Is Identity and Access Management (IAM) Important in Cloud Security? </vt:lpstr>
      <vt:lpstr>PowerPoint Presentation</vt:lpstr>
      <vt:lpstr>PowerPoint Presentation</vt:lpstr>
      <vt:lpstr>PowerPoint Presentation</vt:lpstr>
      <vt:lpstr>6. How Do Misconfigurations Affect Cloud Security?</vt:lpstr>
      <vt:lpstr>PowerPoint Presentation</vt:lpstr>
      <vt:lpstr>Uses of Cloud Security Posture Management (CSPM) with Endpoint Detection &amp; Response (EDR)?</vt:lpstr>
      <vt:lpstr>PowerPoint Presentation</vt:lpstr>
      <vt:lpstr>PowerPoint Presentation</vt:lpstr>
      <vt:lpstr>PowerPoint Presentation</vt:lpstr>
      <vt:lpstr>PowerPoint Presentation</vt:lpstr>
      <vt:lpstr>PowerPoint Presentation</vt:lpstr>
      <vt:lpstr>PowerPoint Presentation</vt:lpstr>
      <vt:lpstr>Types of Web Application Vulnerability Scanner website</vt:lpstr>
      <vt:lpstr>Logical Security Example</vt:lpstr>
      <vt:lpstr>PowerPoint Presentation</vt:lpstr>
      <vt:lpstr>Logical Security Example</vt:lpstr>
      <vt:lpstr>PowerPoint Presentation</vt:lpstr>
      <vt:lpstr>Logical Security Example</vt:lpstr>
      <vt:lpstr>PowerPoint Presentation</vt:lpstr>
      <vt:lpstr>What is a Web Application for Cloud Security Website?</vt:lpstr>
      <vt:lpstr>Definition of Web Application in Cloud Security</vt:lpstr>
      <vt:lpstr>Why Web Applications Are Used for Cloud Security</vt:lpstr>
      <vt:lpstr>How a Cloud Security Web Application Works</vt:lpstr>
      <vt:lpstr>How a Cloud Security Web Application Works</vt:lpstr>
      <vt:lpstr>7. Technical Features</vt:lpstr>
      <vt:lpstr>2.1 Identity and Access Management (IAM)</vt:lpstr>
      <vt:lpstr>2.2 Data Encryption (At Rest and In Transit)</vt:lpstr>
      <vt:lpstr>2.3 Network Security Controls</vt:lpstr>
      <vt:lpstr>2.4 Continuous Monitoring and Logging</vt:lpstr>
      <vt:lpstr>2.5 Cloud Security Posture Management (CSPM)</vt:lpstr>
      <vt:lpstr>Auto-remediation scripts</vt:lpstr>
      <vt:lpstr>2.6 Endpoint Detection and Response (EDR)</vt:lpstr>
      <vt:lpstr>2.7 API Security</vt:lpstr>
      <vt:lpstr>2.8 Security Automation and Orchestration</vt:lpstr>
      <vt:lpstr>8. Advantages of project</vt:lpstr>
      <vt:lpstr>1 Centralized Security Management</vt:lpstr>
      <vt:lpstr>2 Improved Compliance Management</vt:lpstr>
      <vt:lpstr>3 Reduced Downtime</vt:lpstr>
      <vt:lpstr>Financial Advantages</vt:lpstr>
      <vt:lpstr>PowerPoint Presentation</vt:lpstr>
      <vt:lpstr>Strategic Advantages</vt:lpstr>
      <vt:lpstr>PowerPoint Presentation</vt:lpstr>
      <vt:lpstr>PowerPoint Presentation</vt:lpstr>
      <vt:lpstr>7. Educational and Project-Level Advantages</vt:lpstr>
      <vt:lpstr>Limitation of project </vt:lpstr>
      <vt:lpstr>2 Limited Scope</vt:lpstr>
      <vt:lpstr>3 Authentication Challenges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Importance of CSPM in Modern Cloud Environments</vt:lpstr>
      <vt:lpstr>PowerPoint Presentation</vt:lpstr>
      <vt:lpstr>PowerPoint Presentation</vt:lpstr>
      <vt:lpstr>PowerPoint Presentation</vt:lpstr>
      <vt:lpstr>Importance of cloud data Scanning</vt:lpstr>
      <vt:lpstr>PowerPoint Presentation</vt:lpstr>
      <vt:lpstr>PowerPoint Presentation</vt:lpstr>
      <vt:lpstr>PowerPoint Presentation</vt:lpstr>
      <vt:lpstr>PowerPoint Presentation</vt:lpstr>
      <vt:lpstr>12. Data Protection &amp; Privacy Measures</vt:lpstr>
      <vt:lpstr>PowerPoint Presentation</vt:lpstr>
      <vt:lpstr>PowerPoint Presentation</vt:lpstr>
      <vt:lpstr>Objectives of a Web Application in Cloud Security</vt:lpstr>
      <vt:lpstr>PowerPoint Presentation</vt:lpstr>
      <vt:lpstr>PowerPoint Presentation</vt:lpstr>
      <vt:lpstr>PowerPoint Presentation</vt:lpstr>
      <vt:lpstr>Improving Visibility and Reporting</vt:lpstr>
      <vt:lpstr>Scope of web Application in Cloud Security</vt:lpstr>
      <vt:lpstr>Scanning Process</vt:lpstr>
      <vt:lpstr>PowerPoint Presentation</vt:lpstr>
      <vt:lpstr>PowerPoint Presentation</vt:lpstr>
      <vt:lpstr>Proposed solution for Cloud Security Posture Management (CSPM) with Endpoint Detection &amp; Response (EDR)</vt:lpstr>
      <vt:lpstr>PowerPoint Presentation</vt:lpstr>
      <vt:lpstr>PowerPoint Presentation</vt:lpstr>
      <vt:lpstr>Enhancements &amp; Future Scope </vt:lpstr>
      <vt:lpstr>PowerPoint Presentation</vt:lpstr>
      <vt:lpstr>Flowchart</vt:lpstr>
      <vt:lpstr>requirements.txt </vt:lpstr>
      <vt:lpstr>How to run the slide</vt:lpstr>
      <vt:lpstr>PowerPoint Presentation</vt:lpstr>
      <vt:lpstr>Start the Web Server</vt:lpstr>
      <vt:lpstr>Sign in page</vt:lpstr>
      <vt:lpstr>PowerPoint Presentation</vt:lpstr>
      <vt:lpstr>PowerPoint Presentation</vt:lpstr>
      <vt:lpstr>Run Scan Button</vt:lpstr>
      <vt:lpstr>Security Posture Analysis Dashboard</vt:lpstr>
      <vt:lpstr>PowerPoint Presentation</vt:lpstr>
      <vt:lpstr>Detailed Security Findings</vt:lpstr>
      <vt:lpstr>PowerPoint Presentation</vt:lpstr>
      <vt:lpstr>Asset Inventory Dashboard</vt:lpstr>
      <vt:lpstr>PowerPoint Presentation</vt:lpstr>
      <vt:lpstr>Endpoint Fleet Monitoring</vt:lpstr>
      <vt:lpstr>PowerPoint Presentation</vt:lpstr>
      <vt:lpstr>Live Monitoring Dashboard</vt:lpstr>
      <vt:lpstr>PowerPoint Presentation</vt:lpstr>
      <vt:lpstr>Threat Detection Dashboard</vt:lpstr>
      <vt:lpstr>PowerPoint Presentation</vt:lpstr>
      <vt:lpstr>Dark Web Monitoring Dashboard</vt:lpstr>
      <vt:lpstr>PowerPoint Presentation</vt:lpstr>
      <vt:lpstr>Attack Graph Visualization</vt:lpstr>
      <vt:lpstr>PowerPoint Presentation</vt:lpstr>
      <vt:lpstr>Compliance Monitoring Dashboard</vt:lpstr>
      <vt:lpstr>PowerPoint Presentation</vt:lpstr>
      <vt:lpstr>Identity Governance Dashboard</vt:lpstr>
      <vt:lpstr>PowerPoint Presentation</vt:lpstr>
      <vt:lpstr>Kubernetes Security Posture</vt:lpstr>
      <vt:lpstr>PowerPoint Presentation</vt:lpstr>
      <vt:lpstr>Platform Integrations Dashboard</vt:lpstr>
      <vt:lpstr>PowerPoint Presentation</vt:lpstr>
      <vt:lpstr>Security Policies and Frameworks</vt:lpstr>
      <vt:lpstr>PowerPoint Presentation</vt:lpstr>
      <vt:lpstr>Security Automation</vt:lpstr>
      <vt:lpstr>PowerPoint Presentation</vt:lpstr>
      <vt:lpstr>System Health Monitoring</vt:lpstr>
      <vt:lpstr>PowerPoint Presentation</vt:lpstr>
      <vt:lpstr>User Profile and API Access Management</vt:lpstr>
      <vt:lpstr>PowerPoint Presentation</vt:lpstr>
      <vt:lpstr>Security Report and Scan Controls</vt:lpstr>
      <vt:lpstr>Scanner Configuration Settings</vt:lpstr>
      <vt:lpstr>PowerPoint Presentation</vt:lpstr>
      <vt:lpstr>Security Report Generation</vt:lpstr>
      <vt:lpstr>PowerPoint Presentation</vt:lpstr>
      <vt:lpstr> Future Enhancements of Cloud Security Posture Management (CSPM) with Endpoint Detection &amp; Response (EDR) </vt:lpstr>
      <vt:lpstr>PowerPoint Presentation</vt:lpstr>
      <vt:lpstr>PowerPoint Presentation</vt:lpstr>
      <vt:lpstr>Examples of Cloud Security Posture Management (CSPM) with Endpoint Detection &amp; Response (EDR)</vt:lpstr>
      <vt:lpstr>PowerPoint Presentation</vt:lpstr>
      <vt:lpstr>PowerPoint Presentation</vt:lpstr>
      <vt:lpstr>PowerPoint Presentation</vt:lpstr>
      <vt:lpstr>PowerPoint Presentation</vt:lpstr>
      <vt:lpstr>Future Enhancements (AI-based detection, CI/CD integration)</vt:lpstr>
      <vt:lpstr>PowerPoint Presentation</vt:lpstr>
      <vt:lpstr>PowerPoint Presentation</vt:lpstr>
      <vt:lpstr>Real-World Cloud Attack Examples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Cloud Security Posture Management (CSPM) with Endpoint Detection &amp; Response (EDR) – Quiz</vt:lpstr>
      <vt:lpstr>PowerPoint Presentation</vt:lpstr>
      <vt:lpstr>PowerPoint Presentation</vt:lpstr>
      <vt:lpstr>PowerPoint Presentation</vt:lpstr>
      <vt:lpstr>PowerPoint Presentation</vt:lpstr>
      <vt:lpstr> Conclusion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dev panchal</dc:creator>
  <cp:keywords/>
  <dc:description>generated using python-pptx</dc:description>
  <cp:lastModifiedBy>dev panchal</cp:lastModifiedBy>
  <cp:revision>64</cp:revision>
  <dcterms:created xsi:type="dcterms:W3CDTF">2013-01-27T09:14:16Z</dcterms:created>
  <dcterms:modified xsi:type="dcterms:W3CDTF">2026-04-07T10:53:07Z</dcterms:modified>
  <cp:category/>
</cp:coreProperties>
</file>